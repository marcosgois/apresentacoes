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BANRISUL · 2026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infraestrutura mais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resiliente </a:t>
            </a:r>
            <a:pPr indent="0" marL="0">
              <a:lnSpc>
                <a:spcPct val="102000"/>
              </a:lnSpc>
              <a:buNone/>
            </a:pPr>
            <a:r>
              <a:rPr lang="en-US" sz="4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o banco de hoje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extrema, segurança quantum-safe e disponibilidade de oito noves — em uma única plataforma Linux.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Quatro temas, </a:t>
            </a:r>
            <a:pPr indent="0" marL="0">
              <a:buNone/>
            </a:pPr>
            <a:r>
              <a:rPr lang="en-US" sz="3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plataforma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7157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71576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 — a base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447288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57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3557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 Workloads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4288536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439826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Cloud Foundation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23951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523951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Serving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5971032"/>
            <a:ext cx="105156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CONTEXTO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mercado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inverteu.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demanda por memória disparou e a oferta não acompanha. Pela primeira vez em anos, comprar mais hardware ficou caro — e incerto.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REALIDADE DA CRISE DE FORNECIMENTO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custo do x86 está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subindo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+298%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Preço da DRAM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Aumento entre set/25 e dez/25.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DDR5 de servidor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trimestre a trimestre nos DIMMs.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Oferta de DRAM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Crescimento esperado — mínimo histórico.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FONTES: TRENDFORCE · IDC · THE NEXT PLATFORM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VOZ DO MERCADO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i="1" dirty="0">
                <a:solidFill>
                  <a:srgbClr val="161616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“O custo base está subindo em todos os produtos. A demanda está muito à frente da oferta.”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JEFF CLARKE · COO, DELL TECHNOLOGIES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CONSENSO DOS ANALISTAS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restrição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estrutural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plurianual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Novas fábricas levam de 3 a 5 anos para entrar em operação. O alívio não é esperado antes de 2027/2028 — e a escassez se intensifica ao longo de 2026.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Início da escassez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Pico da restrição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Normalização do mercado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RESPOSTA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comprar mais. É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Quanto mais workloads consolidados em uma plataforma de recursos compartilhados, maior a utilização sustentada e menor a margem ociosa exigida para os picos.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QUE É O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máquina especialista em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Linux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5,5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GHz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por thread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cores mais rápidos do mercado, com cache enorme por thread.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Transações web / dia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um único sistema, com escala horizontal e vertical.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Milhares de workloads Linux em paralelo, por sistema.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nativa,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no chip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Tecnologia de 5 nm a 5,5 GHz, com acelerador de IA de segunda geração para inferência de baixíssima latência — sem precisar mover o dado para fora do sistema.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transistores e 24 milhas de fios por chip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unidade de I/O no chip — 90% menos energia em I/O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processamento de IA dedicado por core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VS.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Projetado para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I/O intensivos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2×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L1/L2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Comparado a servidores x86 de scale-out.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5×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cache L3/L4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Bancos de dados rodam mais rápido, perto da CPU.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80×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I/O dedicado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especializados só para processamento de I/O.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 líder de indústria,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 100% criptografados e quantum-safe — em repouso, em trânsito e em uso. Cada VM, dado e container isolado dos demais e da própria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Secure Execution — execução confiável em hardware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Criptografia quantum-safe contra ameaças futuras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HSM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 e firmware à prova de adulteração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DISPONIBILIDADE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Falhas medidas em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décadas,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em meses.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Tolerância real a falhas, sem ponto único de falha. Memória RAIM redundante e core sobressalente que assume sem interromper aplicação nem sistema.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CUSTO DE FICAR FORA DO AR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Oito noves de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99,9999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Disponibilidade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Contra, no melhor caso, 99,9988% do x86.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1,3M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Evitados por ano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R$ 25 mil/min, são 52,56 min/ano de parada evitados.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Cost avoidance acumulado frente ao x86.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só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ambiente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 Red Hat OpenShift Virtualization, máquinas virtuais e containers rodam lado a lado — mesmas ferramentas, mesma interface. Sem manter tecnologias, skills e times separados.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Workloads modernos e legados gerenciados juntos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Orquestração de comunicação entre VMs e containers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Nuvem on-prem com o stack ONEStack + IBM Fusion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CLUSTER HÍBRIDO OPENSHIFT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código, mesmo pipeline,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 único com worker nodes em LinuxONE (s390x) e x86, imagens multi-arch e CI/CD unificado. O time desenvolve uma vez e implanta onde fizer mais sentido.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CLUSTER HÍBRIDO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workload.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Duas arquiteturas.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cluster.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45720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 · Control Plane único + pipeline CI/CD multi-arch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4602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8" name="Text 6"/>
          <p:cNvSpPr/>
          <p:nvPr/>
        </p:nvSpPr>
        <p:spPr>
          <a:xfrm>
            <a:off x="244602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78140" y="278892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78140" y="27889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POD · multi-arch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3380" y="2990088"/>
            <a:ext cx="379476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83380" y="248716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 sem rebuild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 · s390x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6586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16586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462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67462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33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1833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55080" y="3429000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5844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Intel / AMD · x86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9798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9798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0674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820674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15500" y="411480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715500" y="41148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5440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mesma imagem multi-arch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migra de LinuxONE (s390x) para x86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mesmo código, mesmo pipeline, sem rebuild.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DEPLOYMENT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Três formas de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fundação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OpenShift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240280"/>
            <a:ext cx="3200400" cy="3886200"/>
          </a:xfrm>
          <a:prstGeom prst="roundRect">
            <a:avLst>
              <a:gd name="adj" fmla="val 2286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na LPAR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1546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 Virtualization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43000" y="361188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(bare metal)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43000" y="407822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40782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445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5445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3000" y="52578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Pré-requisito do Virtualization — até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nó em LPAR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já habilita VMs + containers.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006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324612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0F62F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246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(VMs)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3712464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712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KVM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17880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41788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LPAR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464515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46451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5349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do OpenShift em VMs Red Hat KVM. Máxima densidade e flexibilidade.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KVM + LPAR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458200" y="284378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HÍBRIDO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458200" y="3200400"/>
            <a:ext cx="2560320" cy="384048"/>
          </a:xfrm>
          <a:prstGeom prst="roundRect">
            <a:avLst>
              <a:gd name="adj" fmla="val 14286"/>
            </a:avLst>
          </a:prstGeom>
          <a:solidFill>
            <a:srgbClr val="0F62FE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cluster OpenShift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458200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67928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67928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bare metal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604504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 em LPAR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604504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habilita o Virtualization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820656" y="3776472"/>
            <a:ext cx="1197864" cy="129844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30384" y="3904488"/>
            <a:ext cx="9784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30384" y="390448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virtualizado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966960" y="425196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Nós em KVM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966960" y="4544568"/>
            <a:ext cx="905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densidade e flexibilidade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58200" y="52395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 nós bare metal (p/ Virtualization) com nós KVM no mesmo cluster.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FOUNDATION · TOPOLOGIAS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 </a:t>
            </a:r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ao cluster completo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Single Node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SNO · 1 nó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nó faz tudo. Edge, PoC e dev.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38728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3048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Node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13048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compacto · 3 nós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130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5" name="Text 13"/>
          <p:cNvSpPr/>
          <p:nvPr/>
        </p:nvSpPr>
        <p:spPr>
          <a:xfrm>
            <a:off x="38130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3251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7" name="Text 15"/>
          <p:cNvSpPr/>
          <p:nvPr/>
        </p:nvSpPr>
        <p:spPr>
          <a:xfrm>
            <a:off x="4325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3717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83717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C+W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13048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 + worker combinados. HA mínima.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22225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68896" y="2185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F62FE"/>
          </a:solidFill>
          <a:ln/>
        </p:spPr>
      </p:sp>
      <p:sp>
        <p:nvSpPr>
          <p:cNvPr id="23" name="Text 21"/>
          <p:cNvSpPr/>
          <p:nvPr/>
        </p:nvSpPr>
        <p:spPr>
          <a:xfrm>
            <a:off x="7168896" y="21854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28816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nós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28816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 HA · 3 + 3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28816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7" name="Text 25"/>
          <p:cNvSpPr/>
          <p:nvPr/>
        </p:nvSpPr>
        <p:spPr>
          <a:xfrm>
            <a:off x="6528816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5294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31" name="Text 29"/>
          <p:cNvSpPr/>
          <p:nvPr/>
        </p:nvSpPr>
        <p:spPr>
          <a:xfrm>
            <a:off x="755294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28816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3" name="Text 31"/>
          <p:cNvSpPr/>
          <p:nvPr/>
        </p:nvSpPr>
        <p:spPr>
          <a:xfrm>
            <a:off x="652881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55294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37" name="Text 35"/>
          <p:cNvSpPr/>
          <p:nvPr/>
        </p:nvSpPr>
        <p:spPr>
          <a:xfrm>
            <a:off x="755294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28816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control + 3 worker dedicados. Padrão de produção.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970264" y="2331720"/>
            <a:ext cx="2377440" cy="32004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44584" y="25328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nós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44584" y="28986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infra · 3 + 3 + 3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44584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9244584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56648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5" name="Text 43"/>
          <p:cNvSpPr/>
          <p:nvPr/>
        </p:nvSpPr>
        <p:spPr>
          <a:xfrm>
            <a:off x="9756648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0268712" y="3291840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F62FE"/>
          </a:solidFill>
          <a:ln/>
        </p:spPr>
      </p:sp>
      <p:sp>
        <p:nvSpPr>
          <p:cNvPr id="47" name="Text 45"/>
          <p:cNvSpPr/>
          <p:nvPr/>
        </p:nvSpPr>
        <p:spPr>
          <a:xfrm>
            <a:off x="102687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244584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49" name="Text 47"/>
          <p:cNvSpPr/>
          <p:nvPr/>
        </p:nvSpPr>
        <p:spPr>
          <a:xfrm>
            <a:off x="924458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975664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1" name="Text 49"/>
          <p:cNvSpPr/>
          <p:nvPr/>
        </p:nvSpPr>
        <p:spPr>
          <a:xfrm>
            <a:off x="9756648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0268712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07D79"/>
          </a:solidFill>
          <a:ln/>
        </p:spPr>
      </p:sp>
      <p:sp>
        <p:nvSpPr>
          <p:cNvPr id="53" name="Text 51"/>
          <p:cNvSpPr/>
          <p:nvPr/>
        </p:nvSpPr>
        <p:spPr>
          <a:xfrm>
            <a:off x="1026871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244584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5" name="Text 53"/>
          <p:cNvSpPr/>
          <p:nvPr/>
        </p:nvSpPr>
        <p:spPr>
          <a:xfrm>
            <a:off x="9244584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56648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7" name="Text 55"/>
          <p:cNvSpPr/>
          <p:nvPr/>
        </p:nvSpPr>
        <p:spPr>
          <a:xfrm>
            <a:off x="9756648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268712" y="431596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8A3F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268712" y="4315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244584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nós de infra (router, monitoring, logging) isolados.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33375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F62FE"/>
          </a:solidFill>
          <a:ln/>
        </p:spPr>
      </p:sp>
      <p:sp>
        <p:nvSpPr>
          <p:cNvPr id="62" name="Text 60"/>
          <p:cNvSpPr/>
          <p:nvPr/>
        </p:nvSpPr>
        <p:spPr>
          <a:xfrm>
            <a:off x="35935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1663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007D79"/>
          </a:solidFill>
          <a:ln/>
        </p:spPr>
      </p:sp>
      <p:sp>
        <p:nvSpPr>
          <p:cNvPr id="64" name="Text 62"/>
          <p:cNvSpPr/>
          <p:nvPr/>
        </p:nvSpPr>
        <p:spPr>
          <a:xfrm>
            <a:off x="54223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Worker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995160" y="5806440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8A3FFC"/>
          </a:solidFill>
          <a:ln/>
        </p:spPr>
      </p:sp>
      <p:sp>
        <p:nvSpPr>
          <p:cNvPr id="66" name="Text 64"/>
          <p:cNvSpPr/>
          <p:nvPr/>
        </p:nvSpPr>
        <p:spPr>
          <a:xfrm>
            <a:off x="7251192" y="5742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OPENSHIFT VIRTUALIZATION · PROVA DE CAPACIDADE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carga, do x86 ao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377440"/>
            <a:ext cx="4754880" cy="3108960"/>
          </a:xfrm>
          <a:prstGeom prst="roundRect">
            <a:avLst>
              <a:gd name="adj" fmla="val 2353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651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PONTO DE PARTIDA · X86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294436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8D8D8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224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1234440" y="4187952"/>
            <a:ext cx="91440" cy="9144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4114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servidores x86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234440" y="4608576"/>
            <a:ext cx="91440" cy="9144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5354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Aplicação EnterpriseDB (EDB) containerizada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34440" y="5029200"/>
            <a:ext cx="91440" cy="9144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13" name="Text 11"/>
          <p:cNvSpPr/>
          <p:nvPr/>
        </p:nvSpPr>
        <p:spPr>
          <a:xfrm>
            <a:off x="1463040" y="49560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Banco de dados em VM (VMware)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2377440"/>
            <a:ext cx="4754880" cy="3108960"/>
          </a:xfrm>
          <a:prstGeom prst="roundRect">
            <a:avLst>
              <a:gd name="adj" fmla="val 2353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2651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DESTINO · IBM LINUXONE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294436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IFLs</a:t>
            </a:r>
            <a:endParaRPr lang="en-US" sz="4600" dirty="0"/>
          </a:p>
        </p:txBody>
      </p:sp>
      <p:sp>
        <p:nvSpPr>
          <p:cNvPr id="17" name="Shape 15"/>
          <p:cNvSpPr/>
          <p:nvPr/>
        </p:nvSpPr>
        <p:spPr>
          <a:xfrm>
            <a:off x="6812280" y="4187952"/>
            <a:ext cx="91440" cy="9144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4114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LPAR no IBM LinuxONE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12280" y="4608576"/>
            <a:ext cx="91440" cy="9144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0" y="45354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em Red Hat OpenShift Virtualization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12280" y="5029200"/>
            <a:ext cx="91440" cy="91440"/>
          </a:xfrm>
          <a:prstGeom prst="ellipse">
            <a:avLst/>
          </a:prstGeom>
          <a:solidFill>
            <a:srgbClr val="0F62FE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49560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VMs e containers no mesmo cluster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0" y="35478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÷28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87568" y="3931920"/>
            <a:ext cx="603504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5577840" y="40416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Aplicação </a:t>
            </a:r>
            <a:pPr algn="ctr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EnterpriseDB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sob carga (</a:t>
            </a:r>
            <a:pPr algn="ctr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k6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) — mesma carga de trabalho nos dois ambientes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CAPACIDADE MEDIDA · X86 VS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throughput, menos latência, </a:t>
            </a:r>
            <a:pPr indent="0" marL="0">
              <a:buNone/>
            </a:pPr>
            <a:r>
              <a:rPr lang="en-US" sz="2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muito menos energia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65047" y="2057400"/>
            <a:ext cx="7431427" cy="4160520"/>
          </a:xfrm>
          <a:prstGeom prst="roundRect">
            <a:avLst>
              <a:gd name="adj" fmla="val 1319"/>
            </a:avLst>
          </a:prstGeom>
          <a:solidFill>
            <a:srgbClr val="0B0B0B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apacity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6487" y="2148840"/>
            <a:ext cx="7248547" cy="3977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24.486 req/s · 17 ms latência · −83,98% energia · 16 g vs 97 g CO₂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 SERVING · ORACLE ON LINUXONE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TCO de banco de dados,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recalculado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88 →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Consolidação otimizada vs. o ambiente x86 atual.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35%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Menor TCO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5 anos, comparado à arquitetura x86.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R$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3,5M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Economia de software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Payback entre o ano 1 e 2; ROI máximo no ano 5.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PROVAS EM PRODUÇÃO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Já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roda </a:t>
            </a:r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grandes instituições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é teoria de laboratório. Bancos, governos e instituições financeiras já consolidaram cargas críticas em LinuxONE — com ganhos medidos de custo, espaço e energia.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CITI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MongoDB-as-a-Service 33:1 · 50% menos espaço, energia e cooling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Oracle de 92 para 16 licenças · 6 appliances consolidados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 em OpenShift + EDB · 40% menos TCO em 5 anos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GRANDE BANCO NA AMÉRICA DO SUL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Pagamentos instantâneos,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containerizados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 por mensagem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Atendendo ao requisito do banco central para pagamentos P2P.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600 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4805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Mensagens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805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Kafka em containers Red Hat OpenShift, com alta flexibilidade.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43200"/>
            <a:ext cx="320040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9260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</a:t>
            </a:r>
            <a:pPr indent="0" marL="0">
              <a:buNone/>
            </a:pPr>
            <a:r>
              <a:rPr lang="en-US" sz="5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66%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13816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Hardware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480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16 IFLs — e menos licenças de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CASO · PIX · CONSOLIDAÇÃO DE KAFKA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52 cores x86 para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IFLs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dirty="0">
                <a:solidFill>
                  <a:srgbClr val="8D8D8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 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x86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83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</a:t>
            </a:r>
            <a:pPr algn="ctr" indent="0" marL="0">
              <a:buNone/>
            </a:pPr>
            <a:r>
              <a:rPr lang="en-US" sz="13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IFLs · LinuxONE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20827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8" name="Shape 6"/>
          <p:cNvSpPr/>
          <p:nvPr/>
        </p:nvSpPr>
        <p:spPr>
          <a:xfrm>
            <a:off x="236372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9" name="Shape 7"/>
          <p:cNvSpPr/>
          <p:nvPr/>
        </p:nvSpPr>
        <p:spPr>
          <a:xfrm>
            <a:off x="251917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0" name="Shape 8"/>
          <p:cNvSpPr/>
          <p:nvPr/>
        </p:nvSpPr>
        <p:spPr>
          <a:xfrm>
            <a:off x="267462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1" name="Shape 9"/>
          <p:cNvSpPr/>
          <p:nvPr/>
        </p:nvSpPr>
        <p:spPr>
          <a:xfrm>
            <a:off x="283006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2" name="Shape 10"/>
          <p:cNvSpPr/>
          <p:nvPr/>
        </p:nvSpPr>
        <p:spPr>
          <a:xfrm>
            <a:off x="298551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3" name="Shape 11"/>
          <p:cNvSpPr/>
          <p:nvPr/>
        </p:nvSpPr>
        <p:spPr>
          <a:xfrm>
            <a:off x="314096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4" name="Shape 12"/>
          <p:cNvSpPr/>
          <p:nvPr/>
        </p:nvSpPr>
        <p:spPr>
          <a:xfrm>
            <a:off x="329641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5" name="Shape 13"/>
          <p:cNvSpPr/>
          <p:nvPr/>
        </p:nvSpPr>
        <p:spPr>
          <a:xfrm>
            <a:off x="345186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0730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75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18204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7365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0" name="Shape 18"/>
          <p:cNvSpPr/>
          <p:nvPr/>
        </p:nvSpPr>
        <p:spPr>
          <a:xfrm>
            <a:off x="220827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1" name="Shape 19"/>
          <p:cNvSpPr/>
          <p:nvPr/>
        </p:nvSpPr>
        <p:spPr>
          <a:xfrm>
            <a:off x="236372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2" name="Shape 20"/>
          <p:cNvSpPr/>
          <p:nvPr/>
        </p:nvSpPr>
        <p:spPr>
          <a:xfrm>
            <a:off x="251917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3" name="Shape 21"/>
          <p:cNvSpPr/>
          <p:nvPr/>
        </p:nvSpPr>
        <p:spPr>
          <a:xfrm>
            <a:off x="267462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4" name="Shape 22"/>
          <p:cNvSpPr/>
          <p:nvPr/>
        </p:nvSpPr>
        <p:spPr>
          <a:xfrm>
            <a:off x="283006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5" name="Shape 23"/>
          <p:cNvSpPr/>
          <p:nvPr/>
        </p:nvSpPr>
        <p:spPr>
          <a:xfrm>
            <a:off x="298551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6" name="Shape 24"/>
          <p:cNvSpPr/>
          <p:nvPr/>
        </p:nvSpPr>
        <p:spPr>
          <a:xfrm>
            <a:off x="314096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7" name="Shape 25"/>
          <p:cNvSpPr/>
          <p:nvPr/>
        </p:nvSpPr>
        <p:spPr>
          <a:xfrm>
            <a:off x="329641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86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0730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0" name="Shape 28"/>
          <p:cNvSpPr/>
          <p:nvPr/>
        </p:nvSpPr>
        <p:spPr>
          <a:xfrm>
            <a:off x="376275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1" name="Shape 29"/>
          <p:cNvSpPr/>
          <p:nvPr/>
        </p:nvSpPr>
        <p:spPr>
          <a:xfrm>
            <a:off x="3918204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2" name="Shape 30"/>
          <p:cNvSpPr/>
          <p:nvPr/>
        </p:nvSpPr>
        <p:spPr>
          <a:xfrm>
            <a:off x="407365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3" name="Shape 31"/>
          <p:cNvSpPr/>
          <p:nvPr/>
        </p:nvSpPr>
        <p:spPr>
          <a:xfrm>
            <a:off x="220827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4" name="Shape 32"/>
          <p:cNvSpPr/>
          <p:nvPr/>
        </p:nvSpPr>
        <p:spPr>
          <a:xfrm>
            <a:off x="236372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5" name="Shape 33"/>
          <p:cNvSpPr/>
          <p:nvPr/>
        </p:nvSpPr>
        <p:spPr>
          <a:xfrm>
            <a:off x="251917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6" name="Shape 34"/>
          <p:cNvSpPr/>
          <p:nvPr/>
        </p:nvSpPr>
        <p:spPr>
          <a:xfrm>
            <a:off x="267462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7" name="Shape 35"/>
          <p:cNvSpPr/>
          <p:nvPr/>
        </p:nvSpPr>
        <p:spPr>
          <a:xfrm>
            <a:off x="283006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8" name="Shape 36"/>
          <p:cNvSpPr/>
          <p:nvPr/>
        </p:nvSpPr>
        <p:spPr>
          <a:xfrm>
            <a:off x="298551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39" name="Shape 37"/>
          <p:cNvSpPr/>
          <p:nvPr/>
        </p:nvSpPr>
        <p:spPr>
          <a:xfrm>
            <a:off x="314096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0" name="Shape 38"/>
          <p:cNvSpPr/>
          <p:nvPr/>
        </p:nvSpPr>
        <p:spPr>
          <a:xfrm>
            <a:off x="329641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1" name="Shape 39"/>
          <p:cNvSpPr/>
          <p:nvPr/>
        </p:nvSpPr>
        <p:spPr>
          <a:xfrm>
            <a:off x="345186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0730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3" name="Shape 41"/>
          <p:cNvSpPr/>
          <p:nvPr/>
        </p:nvSpPr>
        <p:spPr>
          <a:xfrm>
            <a:off x="376275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4" name="Shape 42"/>
          <p:cNvSpPr/>
          <p:nvPr/>
        </p:nvSpPr>
        <p:spPr>
          <a:xfrm>
            <a:off x="3918204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365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6" name="Shape 44"/>
          <p:cNvSpPr/>
          <p:nvPr/>
        </p:nvSpPr>
        <p:spPr>
          <a:xfrm>
            <a:off x="220827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7" name="Shape 45"/>
          <p:cNvSpPr/>
          <p:nvPr/>
        </p:nvSpPr>
        <p:spPr>
          <a:xfrm>
            <a:off x="236372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8" name="Shape 46"/>
          <p:cNvSpPr/>
          <p:nvPr/>
        </p:nvSpPr>
        <p:spPr>
          <a:xfrm>
            <a:off x="251917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49" name="Shape 47"/>
          <p:cNvSpPr/>
          <p:nvPr/>
        </p:nvSpPr>
        <p:spPr>
          <a:xfrm>
            <a:off x="267462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0" name="Shape 48"/>
          <p:cNvSpPr/>
          <p:nvPr/>
        </p:nvSpPr>
        <p:spPr>
          <a:xfrm>
            <a:off x="283006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1" name="Shape 49"/>
          <p:cNvSpPr/>
          <p:nvPr/>
        </p:nvSpPr>
        <p:spPr>
          <a:xfrm>
            <a:off x="298551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2" name="Shape 50"/>
          <p:cNvSpPr/>
          <p:nvPr/>
        </p:nvSpPr>
        <p:spPr>
          <a:xfrm>
            <a:off x="314096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3" name="Shape 51"/>
          <p:cNvSpPr/>
          <p:nvPr/>
        </p:nvSpPr>
        <p:spPr>
          <a:xfrm>
            <a:off x="329641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5186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0730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6" name="Shape 54"/>
          <p:cNvSpPr/>
          <p:nvPr/>
        </p:nvSpPr>
        <p:spPr>
          <a:xfrm>
            <a:off x="376275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7" name="Shape 55"/>
          <p:cNvSpPr/>
          <p:nvPr/>
        </p:nvSpPr>
        <p:spPr>
          <a:xfrm>
            <a:off x="3918204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8" name="Shape 56"/>
          <p:cNvSpPr/>
          <p:nvPr/>
        </p:nvSpPr>
        <p:spPr>
          <a:xfrm>
            <a:off x="407365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C6C6C6"/>
          </a:solidFill>
          <a:ln/>
        </p:spPr>
      </p:sp>
      <p:sp>
        <p:nvSpPr>
          <p:cNvPr id="59" name="Shape 57"/>
          <p:cNvSpPr/>
          <p:nvPr/>
        </p:nvSpPr>
        <p:spPr>
          <a:xfrm>
            <a:off x="8668512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0" name="Shape 58"/>
          <p:cNvSpPr/>
          <p:nvPr/>
        </p:nvSpPr>
        <p:spPr>
          <a:xfrm>
            <a:off x="8823960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1" name="Shape 59"/>
          <p:cNvSpPr/>
          <p:nvPr/>
        </p:nvSpPr>
        <p:spPr>
          <a:xfrm>
            <a:off x="8979408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2" name="Shape 60"/>
          <p:cNvSpPr/>
          <p:nvPr/>
        </p:nvSpPr>
        <p:spPr>
          <a:xfrm>
            <a:off x="9134856" y="2286000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3" name="Shape 61"/>
          <p:cNvSpPr/>
          <p:nvPr/>
        </p:nvSpPr>
        <p:spPr>
          <a:xfrm>
            <a:off x="8668512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4" name="Shape 62"/>
          <p:cNvSpPr/>
          <p:nvPr/>
        </p:nvSpPr>
        <p:spPr>
          <a:xfrm>
            <a:off x="8823960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5" name="Shape 63"/>
          <p:cNvSpPr/>
          <p:nvPr/>
        </p:nvSpPr>
        <p:spPr>
          <a:xfrm>
            <a:off x="8979408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6" name="Shape 64"/>
          <p:cNvSpPr/>
          <p:nvPr/>
        </p:nvSpPr>
        <p:spPr>
          <a:xfrm>
            <a:off x="9134856" y="2441448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7" name="Shape 65"/>
          <p:cNvSpPr/>
          <p:nvPr/>
        </p:nvSpPr>
        <p:spPr>
          <a:xfrm>
            <a:off x="8668512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8" name="Shape 66"/>
          <p:cNvSpPr/>
          <p:nvPr/>
        </p:nvSpPr>
        <p:spPr>
          <a:xfrm>
            <a:off x="8823960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69" name="Shape 67"/>
          <p:cNvSpPr/>
          <p:nvPr/>
        </p:nvSpPr>
        <p:spPr>
          <a:xfrm>
            <a:off x="8979408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0" name="Shape 68"/>
          <p:cNvSpPr/>
          <p:nvPr/>
        </p:nvSpPr>
        <p:spPr>
          <a:xfrm>
            <a:off x="9134856" y="2596896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1" name="Shape 69"/>
          <p:cNvSpPr/>
          <p:nvPr/>
        </p:nvSpPr>
        <p:spPr>
          <a:xfrm>
            <a:off x="8668512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2" name="Shape 70"/>
          <p:cNvSpPr/>
          <p:nvPr/>
        </p:nvSpPr>
        <p:spPr>
          <a:xfrm>
            <a:off x="8823960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3" name="Shape 71"/>
          <p:cNvSpPr/>
          <p:nvPr/>
        </p:nvSpPr>
        <p:spPr>
          <a:xfrm>
            <a:off x="8979408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4" name="Shape 72"/>
          <p:cNvSpPr/>
          <p:nvPr/>
        </p:nvSpPr>
        <p:spPr>
          <a:xfrm>
            <a:off x="9134856" y="2752344"/>
            <a:ext cx="118872" cy="118872"/>
          </a:xfrm>
          <a:prstGeom prst="roundRect">
            <a:avLst>
              <a:gd name="adj" fmla="val 19231"/>
            </a:avLst>
          </a:prstGeom>
          <a:solidFill>
            <a:srgbClr val="FF832B"/>
          </a:solidFill>
          <a:ln/>
        </p:spPr>
      </p:sp>
      <p:sp>
        <p:nvSpPr>
          <p:cNvPr id="75" name="Shape 73"/>
          <p:cNvSpPr/>
          <p:nvPr/>
        </p:nvSpPr>
        <p:spPr>
          <a:xfrm>
            <a:off x="822960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2960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1357376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357376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891792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91792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1" name="Shape 79"/>
          <p:cNvSpPr/>
          <p:nvPr/>
        </p:nvSpPr>
        <p:spPr>
          <a:xfrm>
            <a:off x="2426208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26208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2960624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960624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5" name="Shape 83"/>
          <p:cNvSpPr/>
          <p:nvPr/>
        </p:nvSpPr>
        <p:spPr>
          <a:xfrm>
            <a:off x="3495040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495040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4029456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29456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563872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563872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5098288" y="320040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098288" y="320040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822960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2960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1357376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357376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1891792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891792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2426208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26208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960624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60624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3495040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495040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4029456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029456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4563872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63872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5098288" y="370332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98288" y="370332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RHEL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822960" y="420624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CECEC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22960" y="42062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VMware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822960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22960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1357376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357376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891792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891792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2426208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426208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2960624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960624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3" name="Shape 121"/>
          <p:cNvSpPr/>
          <p:nvPr/>
        </p:nvSpPr>
        <p:spPr>
          <a:xfrm>
            <a:off x="3495040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495040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4029456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29456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4563872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563872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5098288" y="4709160"/>
            <a:ext cx="479552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98288" y="4709160"/>
            <a:ext cx="479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x86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6583680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583680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7184898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184898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5" name="Shape 133"/>
          <p:cNvSpPr/>
          <p:nvPr/>
        </p:nvSpPr>
        <p:spPr>
          <a:xfrm>
            <a:off x="7786116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786116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8387334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387334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8988552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988552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1" name="Shape 139"/>
          <p:cNvSpPr/>
          <p:nvPr/>
        </p:nvSpPr>
        <p:spPr>
          <a:xfrm>
            <a:off x="9589770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589770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3" name="Shape 141"/>
          <p:cNvSpPr/>
          <p:nvPr/>
        </p:nvSpPr>
        <p:spPr>
          <a:xfrm>
            <a:off x="10190988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0190988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KAFKA</a:t>
            </a:r>
            <a:endParaRPr lang="en-US" sz="600" dirty="0"/>
          </a:p>
        </p:txBody>
      </p:sp>
      <p:sp>
        <p:nvSpPr>
          <p:cNvPr id="145" name="Shape 143"/>
          <p:cNvSpPr/>
          <p:nvPr/>
        </p:nvSpPr>
        <p:spPr>
          <a:xfrm>
            <a:off x="10792206" y="3200400"/>
            <a:ext cx="546354" cy="420624"/>
          </a:xfrm>
          <a:prstGeom prst="roundRect">
            <a:avLst>
              <a:gd name="adj" fmla="val 6522"/>
            </a:avLst>
          </a:prstGeom>
          <a:solidFill>
            <a:srgbClr val="FFF3D6"/>
          </a:solidFill>
          <a:ln w="9525">
            <a:solidFill>
              <a:srgbClr val="E0A80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0792206" y="3200400"/>
            <a:ext cx="5463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A6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ZK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6583680" y="370332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E0000"/>
          </a:solidFill>
          <a:ln/>
        </p:spPr>
      </p:sp>
      <p:sp>
        <p:nvSpPr>
          <p:cNvPr id="148" name="Text 146"/>
          <p:cNvSpPr/>
          <p:nvPr/>
        </p:nvSpPr>
        <p:spPr>
          <a:xfrm>
            <a:off x="6583680" y="370332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Hat OpenShift</a:t>
            </a:r>
            <a:endParaRPr lang="en-US" sz="1100" dirty="0"/>
          </a:p>
        </p:txBody>
      </p:sp>
      <p:sp>
        <p:nvSpPr>
          <p:cNvPr id="149" name="Shape 147"/>
          <p:cNvSpPr/>
          <p:nvPr/>
        </p:nvSpPr>
        <p:spPr>
          <a:xfrm>
            <a:off x="6583680" y="4206240"/>
            <a:ext cx="2350008" cy="420624"/>
          </a:xfrm>
          <a:prstGeom prst="roundRect">
            <a:avLst>
              <a:gd name="adj" fmla="val 6522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583680" y="4206240"/>
            <a:ext cx="2350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8988552" y="4206240"/>
            <a:ext cx="2350008" cy="420624"/>
          </a:xfrm>
          <a:prstGeom prst="roundRect">
            <a:avLst>
              <a:gd name="adj" fmla="val 6522"/>
            </a:avLst>
          </a:prstGeom>
          <a:solidFill>
            <a:srgbClr val="EAF1FF"/>
          </a:solidFill>
          <a:ln w="9525">
            <a:solidFill>
              <a:srgbClr val="8AB0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988552" y="4206240"/>
            <a:ext cx="23500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KVM / LPAR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6583680" y="4709160"/>
            <a:ext cx="4754880" cy="420624"/>
          </a:xfrm>
          <a:prstGeom prst="roundRect">
            <a:avLst>
              <a:gd name="adj" fmla="val 6522"/>
            </a:avLst>
          </a:prstGeom>
          <a:solidFill>
            <a:srgbClr val="EDF4FF"/>
          </a:solidFill>
          <a:ln w="9525">
            <a:solidFill>
              <a:srgbClr val="7FA8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583680" y="4709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IBM LinuxONE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5577840" y="3246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−66%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5687568" y="3657600"/>
            <a:ext cx="786384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157" name="Text 155"/>
          <p:cNvSpPr/>
          <p:nvPr/>
        </p:nvSpPr>
        <p:spPr>
          <a:xfrm>
            <a:off x="5577840" y="3749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menos de 1/3</a:t>
            </a:r>
            <a:endParaRPr lang="en-US" sz="900" dirty="0"/>
          </a:p>
        </p:txBody>
      </p:sp>
      <p:sp>
        <p:nvSpPr>
          <p:cNvPr id="158" name="Text 156"/>
          <p:cNvSpPr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Mesma carga de Kafka + Zookeeper (~10 ms · 600 mil mensagens) · menos de 1/3 dos cores e do hardware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CONSOLIDAÇÃO · CUSTOS OCULTOS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Cortar hardware corta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muito mais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−66% de hardware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é só a ponta do iceberg. Cada core a menos derruba uma cascata de custos que costuma ficar fora da conta: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8992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37360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Licenças de software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37360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Cobradas por core — Oracle, middleware, S&amp;S. Menos cores, menos licenças.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m²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67528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Espaço no data center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67528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Racks e U liberados — até 75% menos espaço físico.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278892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306324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18" name="Text 16"/>
          <p:cNvSpPr/>
          <p:nvPr/>
        </p:nvSpPr>
        <p:spPr>
          <a:xfrm>
            <a:off x="833932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97696" y="30449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Energia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997696" y="337413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consumo elétrico — até 50% de redução.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78992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BTU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737360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Dissipação de calor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737360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calor gerado = menos carga de refrigeração (CRAC/cooling).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09160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67528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367528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portas de switch, menos cabos e menos licenças de porta.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83296" y="4480560"/>
            <a:ext cx="3264408" cy="1417320"/>
          </a:xfrm>
          <a:prstGeom prst="roundRect">
            <a:avLst>
              <a:gd name="adj" fmla="val 5161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4754880"/>
            <a:ext cx="512064" cy="512064"/>
          </a:xfrm>
          <a:prstGeom prst="ellipse">
            <a:avLst/>
          </a:prstGeom>
          <a:solidFill>
            <a:srgbClr val="EDF4FF"/>
          </a:solidFill>
          <a:ln/>
        </p:spPr>
      </p:sp>
      <p:sp>
        <p:nvSpPr>
          <p:cNvPr id="33" name="Text 31"/>
          <p:cNvSpPr/>
          <p:nvPr/>
        </p:nvSpPr>
        <p:spPr>
          <a:xfrm>
            <a:off x="8339328" y="4754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997696" y="473659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Operação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997696" y="5065776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 para provisionar, atualizar, fazer patch e monitorar.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QUE AGORA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servidores. Menos energia. </a:t>
            </a:r>
            <a:pPr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confiança.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60% menor TCO, 75% menos espaço de data center, 50% menos energia e até 450 bilhões de inferências de IA por dia com 1 ms de resposta — enquanto o x86 fica mais caro.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SEÇÃO TÉCNICA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 o capô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LinuxONE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engenharia por trás dos números: o processador Telum II, a hierarquia de cache, a arquitetura de I/O e os mecanismos de resiliência que o x86 não tem.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SISTEMA · IBM LINUXONE EMPEROR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único frame,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até 208 cores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mach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dedicados à lógica de negócio, em até 4 drawers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portas/canais de I/O (96 slots PCIe + 12 DPUs)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Capacity on Demand — ative cores e pague só pelo tempo ligado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manutenção e crescimento (up ou out) sem interrupção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PROCESSADOR · IBM TELUM II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nm, 5,5 GHz,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43 bilhões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transistores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7665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di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311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por chip, 40% mais cache por core que a geração z16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78308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no chip — reduz a energia de I/O em mais de 90%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78308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acelerador de IA de 2ª geração — 24 TOPS/chip, 768 TOPS/sistema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24mi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78308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milhas de fios condutores integrados em um único chip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 DO CHIP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Cores, cache e aceleradores no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mesmo silício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4572000" cy="3657600"/>
          </a:xfrm>
          <a:prstGeom prst="roundRect">
            <a:avLst>
              <a:gd name="adj" fmla="val 1500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pic>
        <p:nvPicPr>
          <p:cNvPr id="6" name="Image 0" descr="/tmp/banrisul_pptx/img/chip-stru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87552" y="2679192"/>
            <a:ext cx="4242816" cy="33284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258775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995160" y="258775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× 36 MB de cache L2 (2,7 ns) — um por core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34838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95160" y="348386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360 MB de cache virtual L3 (11,5 ns), formado a partir dos L2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43799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vL4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95160" y="43799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2,88 GB de cache virtual L4 (48,5 ns), entre drawers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52760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DPU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95160" y="52760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cores de I/O + acelerador de IA, ao lado dos cores de negócio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ARQUITETURA · LINUXONE VS INTEL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Não são só cores. São </a:t>
            </a:r>
            <a:pPr indent="0" marL="0">
              <a:buNone/>
            </a:pPr>
            <a:r>
              <a:rPr lang="en-US" sz="30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coprocessadores.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5080" y="1874520"/>
            <a:ext cx="4983480" cy="4343400"/>
          </a:xfrm>
          <a:prstGeom prst="roundRect">
            <a:avLst>
              <a:gd name="adj" fmla="val 1684"/>
            </a:avLst>
          </a:prstGeom>
          <a:solidFill>
            <a:srgbClr val="F4F4F4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IBM LinuxONE · </a:t>
            </a:r>
            <a:pPr indent="0" marL="0">
              <a:buNone/>
            </a:pPr>
            <a:r>
              <a:rPr lang="en-US" sz="18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266 processadores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SISTEMA · CONFIGURAÇÃO MÁXIMA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43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1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28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65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2240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2377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2" name="Shape 20"/>
          <p:cNvSpPr/>
          <p:nvPr/>
        </p:nvSpPr>
        <p:spPr>
          <a:xfrm>
            <a:off x="2926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3" name="Shape 21"/>
          <p:cNvSpPr/>
          <p:nvPr/>
        </p:nvSpPr>
        <p:spPr>
          <a:xfrm>
            <a:off x="3063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5" name="Shape 23"/>
          <p:cNvSpPr/>
          <p:nvPr/>
        </p:nvSpPr>
        <p:spPr>
          <a:xfrm>
            <a:off x="3337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8" name="Shape 26"/>
          <p:cNvSpPr/>
          <p:nvPr/>
        </p:nvSpPr>
        <p:spPr>
          <a:xfrm>
            <a:off x="3749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" name="Shape 27"/>
          <p:cNvSpPr/>
          <p:nvPr/>
        </p:nvSpPr>
        <p:spPr>
          <a:xfrm>
            <a:off x="3886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" name="Shape 28"/>
          <p:cNvSpPr/>
          <p:nvPr/>
        </p:nvSpPr>
        <p:spPr>
          <a:xfrm>
            <a:off x="4023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4160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97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4434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6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7" name="Shape 35"/>
          <p:cNvSpPr/>
          <p:nvPr/>
        </p:nvSpPr>
        <p:spPr>
          <a:xfrm>
            <a:off x="4983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0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0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1417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54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4" name="Shape 42"/>
          <p:cNvSpPr/>
          <p:nvPr/>
        </p:nvSpPr>
        <p:spPr>
          <a:xfrm>
            <a:off x="1691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6" name="Shape 44"/>
          <p:cNvSpPr/>
          <p:nvPr/>
        </p:nvSpPr>
        <p:spPr>
          <a:xfrm>
            <a:off x="19659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7" name="Shape 45"/>
          <p:cNvSpPr/>
          <p:nvPr/>
        </p:nvSpPr>
        <p:spPr>
          <a:xfrm>
            <a:off x="2103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8" name="Shape 46"/>
          <p:cNvSpPr/>
          <p:nvPr/>
        </p:nvSpPr>
        <p:spPr>
          <a:xfrm>
            <a:off x="2240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49" name="Shape 47"/>
          <p:cNvSpPr/>
          <p:nvPr/>
        </p:nvSpPr>
        <p:spPr>
          <a:xfrm>
            <a:off x="2377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0" name="Shape 48"/>
          <p:cNvSpPr/>
          <p:nvPr/>
        </p:nvSpPr>
        <p:spPr>
          <a:xfrm>
            <a:off x="2514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2" name="Shape 50"/>
          <p:cNvSpPr/>
          <p:nvPr/>
        </p:nvSpPr>
        <p:spPr>
          <a:xfrm>
            <a:off x="2788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3" name="Shape 51"/>
          <p:cNvSpPr/>
          <p:nvPr/>
        </p:nvSpPr>
        <p:spPr>
          <a:xfrm>
            <a:off x="2926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4" name="Shape 52"/>
          <p:cNvSpPr/>
          <p:nvPr/>
        </p:nvSpPr>
        <p:spPr>
          <a:xfrm>
            <a:off x="3063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6" name="Shape 54"/>
          <p:cNvSpPr/>
          <p:nvPr/>
        </p:nvSpPr>
        <p:spPr>
          <a:xfrm>
            <a:off x="3337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4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8" name="Shape 56"/>
          <p:cNvSpPr/>
          <p:nvPr/>
        </p:nvSpPr>
        <p:spPr>
          <a:xfrm>
            <a:off x="3611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59" name="Shape 57"/>
          <p:cNvSpPr/>
          <p:nvPr/>
        </p:nvSpPr>
        <p:spPr>
          <a:xfrm>
            <a:off x="3749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0" name="Shape 58"/>
          <p:cNvSpPr/>
          <p:nvPr/>
        </p:nvSpPr>
        <p:spPr>
          <a:xfrm>
            <a:off x="3886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1" name="Shape 59"/>
          <p:cNvSpPr/>
          <p:nvPr/>
        </p:nvSpPr>
        <p:spPr>
          <a:xfrm>
            <a:off x="4023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2" name="Shape 60"/>
          <p:cNvSpPr/>
          <p:nvPr/>
        </p:nvSpPr>
        <p:spPr>
          <a:xfrm>
            <a:off x="4160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3" name="Shape 61"/>
          <p:cNvSpPr/>
          <p:nvPr/>
        </p:nvSpPr>
        <p:spPr>
          <a:xfrm>
            <a:off x="4297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4" name="Shape 62"/>
          <p:cNvSpPr/>
          <p:nvPr/>
        </p:nvSpPr>
        <p:spPr>
          <a:xfrm>
            <a:off x="4434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5" name="Shape 63"/>
          <p:cNvSpPr/>
          <p:nvPr/>
        </p:nvSpPr>
        <p:spPr>
          <a:xfrm>
            <a:off x="4572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6" name="Shape 64"/>
          <p:cNvSpPr/>
          <p:nvPr/>
        </p:nvSpPr>
        <p:spPr>
          <a:xfrm>
            <a:off x="4709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7" name="Shape 65"/>
          <p:cNvSpPr/>
          <p:nvPr/>
        </p:nvSpPr>
        <p:spPr>
          <a:xfrm>
            <a:off x="4846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8" name="Shape 66"/>
          <p:cNvSpPr/>
          <p:nvPr/>
        </p:nvSpPr>
        <p:spPr>
          <a:xfrm>
            <a:off x="49834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06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0" name="Shape 68"/>
          <p:cNvSpPr/>
          <p:nvPr/>
        </p:nvSpPr>
        <p:spPr>
          <a:xfrm>
            <a:off x="52578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1" name="Shape 69"/>
          <p:cNvSpPr/>
          <p:nvPr/>
        </p:nvSpPr>
        <p:spPr>
          <a:xfrm>
            <a:off x="1143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2" name="Shape 70"/>
          <p:cNvSpPr/>
          <p:nvPr/>
        </p:nvSpPr>
        <p:spPr>
          <a:xfrm>
            <a:off x="1280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4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5" name="Shape 73"/>
          <p:cNvSpPr/>
          <p:nvPr/>
        </p:nvSpPr>
        <p:spPr>
          <a:xfrm>
            <a:off x="1691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6" name="Shape 74"/>
          <p:cNvSpPr/>
          <p:nvPr/>
        </p:nvSpPr>
        <p:spPr>
          <a:xfrm>
            <a:off x="1828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7" name="Shape 75"/>
          <p:cNvSpPr/>
          <p:nvPr/>
        </p:nvSpPr>
        <p:spPr>
          <a:xfrm>
            <a:off x="19659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8" name="Shape 76"/>
          <p:cNvSpPr/>
          <p:nvPr/>
        </p:nvSpPr>
        <p:spPr>
          <a:xfrm>
            <a:off x="21031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79" name="Shape 77"/>
          <p:cNvSpPr/>
          <p:nvPr/>
        </p:nvSpPr>
        <p:spPr>
          <a:xfrm>
            <a:off x="22402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774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1" name="Shape 79"/>
          <p:cNvSpPr/>
          <p:nvPr/>
        </p:nvSpPr>
        <p:spPr>
          <a:xfrm>
            <a:off x="25146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17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3" name="Shape 81"/>
          <p:cNvSpPr/>
          <p:nvPr/>
        </p:nvSpPr>
        <p:spPr>
          <a:xfrm>
            <a:off x="27889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4" name="Shape 82"/>
          <p:cNvSpPr/>
          <p:nvPr/>
        </p:nvSpPr>
        <p:spPr>
          <a:xfrm>
            <a:off x="29260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5" name="Shape 83"/>
          <p:cNvSpPr/>
          <p:nvPr/>
        </p:nvSpPr>
        <p:spPr>
          <a:xfrm>
            <a:off x="30632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6" name="Shape 84"/>
          <p:cNvSpPr/>
          <p:nvPr/>
        </p:nvSpPr>
        <p:spPr>
          <a:xfrm>
            <a:off x="32004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7" name="Shape 85"/>
          <p:cNvSpPr/>
          <p:nvPr/>
        </p:nvSpPr>
        <p:spPr>
          <a:xfrm>
            <a:off x="33375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8" name="Shape 86"/>
          <p:cNvSpPr/>
          <p:nvPr/>
        </p:nvSpPr>
        <p:spPr>
          <a:xfrm>
            <a:off x="34747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89" name="Shape 87"/>
          <p:cNvSpPr/>
          <p:nvPr/>
        </p:nvSpPr>
        <p:spPr>
          <a:xfrm>
            <a:off x="36118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0" name="Shape 88"/>
          <p:cNvSpPr/>
          <p:nvPr/>
        </p:nvSpPr>
        <p:spPr>
          <a:xfrm>
            <a:off x="37490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1" name="Shape 89"/>
          <p:cNvSpPr/>
          <p:nvPr/>
        </p:nvSpPr>
        <p:spPr>
          <a:xfrm>
            <a:off x="38862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2" name="Shape 90"/>
          <p:cNvSpPr/>
          <p:nvPr/>
        </p:nvSpPr>
        <p:spPr>
          <a:xfrm>
            <a:off x="40233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3" name="Shape 91"/>
          <p:cNvSpPr/>
          <p:nvPr/>
        </p:nvSpPr>
        <p:spPr>
          <a:xfrm>
            <a:off x="41605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4" name="Shape 92"/>
          <p:cNvSpPr/>
          <p:nvPr/>
        </p:nvSpPr>
        <p:spPr>
          <a:xfrm>
            <a:off x="42976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5" name="Shape 93"/>
          <p:cNvSpPr/>
          <p:nvPr/>
        </p:nvSpPr>
        <p:spPr>
          <a:xfrm>
            <a:off x="44348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6" name="Shape 94"/>
          <p:cNvSpPr/>
          <p:nvPr/>
        </p:nvSpPr>
        <p:spPr>
          <a:xfrm>
            <a:off x="45720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7" name="Shape 95"/>
          <p:cNvSpPr/>
          <p:nvPr/>
        </p:nvSpPr>
        <p:spPr>
          <a:xfrm>
            <a:off x="470916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8" name="Shape 96"/>
          <p:cNvSpPr/>
          <p:nvPr/>
        </p:nvSpPr>
        <p:spPr>
          <a:xfrm>
            <a:off x="484632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99" name="Shape 97"/>
          <p:cNvSpPr/>
          <p:nvPr/>
        </p:nvSpPr>
        <p:spPr>
          <a:xfrm>
            <a:off x="498348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0" name="Shape 98"/>
          <p:cNvSpPr/>
          <p:nvPr/>
        </p:nvSpPr>
        <p:spPr>
          <a:xfrm>
            <a:off x="512064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57800" y="31089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143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280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417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554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691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828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659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1031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2402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3774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5146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517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889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9260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0632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2004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75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4747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118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7490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8862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0233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1605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2976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348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70916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84632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98348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2064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257800" y="32461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143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280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417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554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691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828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9659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031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2402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3774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5146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6517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7889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9260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0632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2004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3375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34747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6118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7490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8862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0233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1605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2976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48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0916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4632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2064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57800" y="338328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43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280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417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554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691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828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9659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21031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22402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23774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5146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26517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7889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29260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0632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32004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3375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34747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6118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7490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38862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0233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605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42976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44348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45720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470916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84632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8348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12064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257800" y="35204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43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280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417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554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691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828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9659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21031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22402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23774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25146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6517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7889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9260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0632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2004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3375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747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6118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7490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8862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40233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41605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8" name="Shape 216"/>
          <p:cNvSpPr/>
          <p:nvPr/>
        </p:nvSpPr>
        <p:spPr>
          <a:xfrm>
            <a:off x="42976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19" name="Shape 217"/>
          <p:cNvSpPr/>
          <p:nvPr/>
        </p:nvSpPr>
        <p:spPr>
          <a:xfrm>
            <a:off x="44348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0" name="Shape 218"/>
          <p:cNvSpPr/>
          <p:nvPr/>
        </p:nvSpPr>
        <p:spPr>
          <a:xfrm>
            <a:off x="45720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70916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84632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98348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12064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5" name="Shape 223"/>
          <p:cNvSpPr/>
          <p:nvPr/>
        </p:nvSpPr>
        <p:spPr>
          <a:xfrm>
            <a:off x="5257800" y="36576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143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280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417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554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691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828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9659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3" name="Shape 231"/>
          <p:cNvSpPr/>
          <p:nvPr/>
        </p:nvSpPr>
        <p:spPr>
          <a:xfrm>
            <a:off x="21031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4" name="Shape 232"/>
          <p:cNvSpPr/>
          <p:nvPr/>
        </p:nvSpPr>
        <p:spPr>
          <a:xfrm>
            <a:off x="22402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5" name="Shape 233"/>
          <p:cNvSpPr/>
          <p:nvPr/>
        </p:nvSpPr>
        <p:spPr>
          <a:xfrm>
            <a:off x="23774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25146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7" name="Shape 235"/>
          <p:cNvSpPr/>
          <p:nvPr/>
        </p:nvSpPr>
        <p:spPr>
          <a:xfrm>
            <a:off x="26517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8" name="Shape 236"/>
          <p:cNvSpPr/>
          <p:nvPr/>
        </p:nvSpPr>
        <p:spPr>
          <a:xfrm>
            <a:off x="27889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29260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632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07D79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04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375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747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6118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7490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8862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40233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41605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42976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44348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45720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470916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484632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498348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12064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257800" y="379476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1430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2801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4173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5544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6916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8288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9659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21031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22402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23774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25146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26517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27889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292608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306324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320040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8A3FF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333756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3474720" y="393192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14300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276" name="Text 274"/>
          <p:cNvSpPr/>
          <p:nvPr/>
        </p:nvSpPr>
        <p:spPr>
          <a:xfrm>
            <a:off x="141732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de negócio</a:t>
            </a:r>
            <a:endParaRPr lang="en-US" sz="1250" dirty="0"/>
          </a:p>
        </p:txBody>
      </p:sp>
      <p:sp>
        <p:nvSpPr>
          <p:cNvPr id="277" name="Text 275"/>
          <p:cNvSpPr/>
          <p:nvPr/>
        </p:nvSpPr>
        <p:spPr>
          <a:xfrm>
            <a:off x="493776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208</a:t>
            </a:r>
            <a:endParaRPr lang="en-US" sz="1250" dirty="0"/>
          </a:p>
        </p:txBody>
      </p:sp>
      <p:sp>
        <p:nvSpPr>
          <p:cNvPr id="278" name="Shape 276"/>
          <p:cNvSpPr/>
          <p:nvPr/>
        </p:nvSpPr>
        <p:spPr>
          <a:xfrm>
            <a:off x="114300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07D79"/>
          </a:solidFill>
          <a:ln/>
        </p:spPr>
      </p:sp>
      <p:sp>
        <p:nvSpPr>
          <p:cNvPr id="279" name="Text 277"/>
          <p:cNvSpPr/>
          <p:nvPr/>
        </p:nvSpPr>
        <p:spPr>
          <a:xfrm>
            <a:off x="141732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Processadores de I/O (SAP)</a:t>
            </a:r>
            <a:endParaRPr lang="en-US" sz="1250" dirty="0"/>
          </a:p>
        </p:txBody>
      </p:sp>
      <p:sp>
        <p:nvSpPr>
          <p:cNvPr id="280" name="Text 278"/>
          <p:cNvSpPr/>
          <p:nvPr/>
        </p:nvSpPr>
        <p:spPr>
          <a:xfrm>
            <a:off x="493776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</a:t>
            </a:r>
            <a:endParaRPr lang="en-US" sz="1250" dirty="0"/>
          </a:p>
        </p:txBody>
      </p:sp>
      <p:sp>
        <p:nvSpPr>
          <p:cNvPr id="281" name="Shape 279"/>
          <p:cNvSpPr/>
          <p:nvPr/>
        </p:nvSpPr>
        <p:spPr>
          <a:xfrm>
            <a:off x="1143000" y="478231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8A3FFC"/>
          </a:solidFill>
          <a:ln/>
        </p:spPr>
      </p:sp>
      <p:sp>
        <p:nvSpPr>
          <p:cNvPr id="282" name="Text 280"/>
          <p:cNvSpPr/>
          <p:nvPr/>
        </p:nvSpPr>
        <p:spPr>
          <a:xfrm>
            <a:off x="1417320" y="47183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DPU — I/O no chip</a:t>
            </a:r>
            <a:endParaRPr lang="en-US" sz="1250" dirty="0"/>
          </a:p>
        </p:txBody>
      </p:sp>
      <p:sp>
        <p:nvSpPr>
          <p:cNvPr id="283" name="Text 281"/>
          <p:cNvSpPr/>
          <p:nvPr/>
        </p:nvSpPr>
        <p:spPr>
          <a:xfrm>
            <a:off x="4937760" y="47183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32</a:t>
            </a:r>
            <a:endParaRPr lang="en-US" sz="1250" dirty="0"/>
          </a:p>
        </p:txBody>
      </p:sp>
      <p:sp>
        <p:nvSpPr>
          <p:cNvPr id="284" name="Shape 282"/>
          <p:cNvSpPr/>
          <p:nvPr/>
        </p:nvSpPr>
        <p:spPr>
          <a:xfrm>
            <a:off x="1143000" y="505663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285" name="Text 283"/>
          <p:cNvSpPr/>
          <p:nvPr/>
        </p:nvSpPr>
        <p:spPr>
          <a:xfrm>
            <a:off x="1417320" y="4992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spare</a:t>
            </a:r>
            <a:endParaRPr lang="en-US" sz="1250" dirty="0"/>
          </a:p>
        </p:txBody>
      </p:sp>
      <p:sp>
        <p:nvSpPr>
          <p:cNvPr id="286" name="Text 284"/>
          <p:cNvSpPr/>
          <p:nvPr/>
        </p:nvSpPr>
        <p:spPr>
          <a:xfrm>
            <a:off x="4937760" y="499262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50" dirty="0"/>
          </a:p>
        </p:txBody>
      </p:sp>
      <p:sp>
        <p:nvSpPr>
          <p:cNvPr id="287" name="Text 285"/>
          <p:cNvSpPr/>
          <p:nvPr/>
        </p:nvSpPr>
        <p:spPr>
          <a:xfrm>
            <a:off x="114300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acelerador de IA, crypto e compressão integrados em cada chip Telum II</a:t>
            </a:r>
            <a:endParaRPr lang="en-US" sz="1200" dirty="0"/>
          </a:p>
        </p:txBody>
      </p:sp>
      <p:sp>
        <p:nvSpPr>
          <p:cNvPr id="288" name="Text 286"/>
          <p:cNvSpPr/>
          <p:nvPr/>
        </p:nvSpPr>
        <p:spPr>
          <a:xfrm>
            <a:off x="6675120" y="20756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 x86 típico · </a:t>
            </a:r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52</a:t>
            </a:r>
            <a:endParaRPr lang="en-US" sz="1800" dirty="0"/>
          </a:p>
        </p:txBody>
      </p:sp>
      <p:sp>
        <p:nvSpPr>
          <p:cNvPr id="289" name="Text 287"/>
          <p:cNvSpPr/>
          <p:nvPr/>
        </p:nvSpPr>
        <p:spPr>
          <a:xfrm>
            <a:off x="6675120" y="24597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CORES GENÉRICOS PARA TUDO</a:t>
            </a:r>
            <a:endParaRPr lang="en-US" sz="1000" dirty="0"/>
          </a:p>
        </p:txBody>
      </p:sp>
      <p:sp>
        <p:nvSpPr>
          <p:cNvPr id="290" name="Shape 288"/>
          <p:cNvSpPr/>
          <p:nvPr/>
        </p:nvSpPr>
        <p:spPr>
          <a:xfrm>
            <a:off x="6675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812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949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086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223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360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4980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6352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7724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9095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80467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81838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3210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4582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5953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7325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8696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0068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1440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92811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94183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95554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96926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8298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9669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101041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1024128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1037844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051560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65276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789920" y="283464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6751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8122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9494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0866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2237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3609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4980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76352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77724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79095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0467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1838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3210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84582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85953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87325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886968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0F62F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00684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14400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928116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9418320" y="2971800"/>
            <a:ext cx="100584" cy="100584"/>
          </a:xfrm>
          <a:prstGeom prst="roundRect">
            <a:avLst>
              <a:gd name="adj" fmla="val 22727"/>
            </a:avLst>
          </a:prstGeom>
          <a:solidFill>
            <a:srgbClr val="A8A8A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675120" y="423367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F62FE"/>
          </a:solidFill>
          <a:ln/>
        </p:spPr>
      </p:sp>
      <p:sp>
        <p:nvSpPr>
          <p:cNvPr id="343" name="Text 341"/>
          <p:cNvSpPr/>
          <p:nvPr/>
        </p:nvSpPr>
        <p:spPr>
          <a:xfrm>
            <a:off x="694944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Cores genéricos (negócio + I/O)</a:t>
            </a:r>
            <a:endParaRPr lang="en-US" sz="1250" dirty="0"/>
          </a:p>
        </p:txBody>
      </p:sp>
      <p:sp>
        <p:nvSpPr>
          <p:cNvPr id="344" name="Text 342"/>
          <p:cNvSpPr/>
          <p:nvPr/>
        </p:nvSpPr>
        <p:spPr>
          <a:xfrm>
            <a:off x="10469880" y="41696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</a:t>
            </a:r>
            <a:endParaRPr lang="en-US" sz="1250" dirty="0"/>
          </a:p>
        </p:txBody>
      </p:sp>
      <p:sp>
        <p:nvSpPr>
          <p:cNvPr id="345" name="Shape 343"/>
          <p:cNvSpPr/>
          <p:nvPr/>
        </p:nvSpPr>
        <p:spPr>
          <a:xfrm>
            <a:off x="6675120" y="4507992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A8A8A8"/>
          </a:solidFill>
          <a:ln/>
        </p:spPr>
      </p:sp>
      <p:sp>
        <p:nvSpPr>
          <p:cNvPr id="346" name="Text 344"/>
          <p:cNvSpPr/>
          <p:nvPr/>
        </p:nvSpPr>
        <p:spPr>
          <a:xfrm>
            <a:off x="6949440" y="4443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I/O channel processors</a:t>
            </a:r>
            <a:endParaRPr lang="en-US" sz="1250" dirty="0"/>
          </a:p>
        </p:txBody>
      </p:sp>
      <p:sp>
        <p:nvSpPr>
          <p:cNvPr id="347" name="Text 345"/>
          <p:cNvSpPr/>
          <p:nvPr/>
        </p:nvSpPr>
        <p:spPr>
          <a:xfrm>
            <a:off x="10469880" y="4443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250" dirty="0"/>
          </a:p>
        </p:txBody>
      </p:sp>
      <p:sp>
        <p:nvSpPr>
          <p:cNvPr id="348" name="Text 346"/>
          <p:cNvSpPr/>
          <p:nvPr/>
        </p:nvSpPr>
        <p:spPr>
          <a:xfrm>
            <a:off x="6675120" y="54406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cores dedicados a I/O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IA ·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crypto/compressão on-chip</a:t>
            </a:r>
            <a:endParaRPr lang="en-US" sz="1200" dirty="0"/>
          </a:p>
        </p:txBody>
      </p:sp>
      <p:sp>
        <p:nvSpPr>
          <p:cNvPr id="349" name="Text 347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UM SISTEMA LINUXONE CONSOLIDA O EQUIVALENTE A ~40 SERVIDORES X86 DE 48 CORES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HIERARQUIA DE CACHE VS X86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Cache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perto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core muda tudo</a:t>
            </a:r>
            <a:endParaRPr lang="en-US" sz="3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10515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566160"/>
                <a:gridCol w="3566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Métrica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62FE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IBM LinuxONE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2525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AMD EPYC 9J25 (Exadata 11M)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Clock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5,5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2,95 GHz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Cores por chip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  (208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96  (192 máx)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L1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128 + 128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 + 32 KB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L2 por core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36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L3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324 MB (no chip)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384 MB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L4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F62F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2,52 GB (entre drawers)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5252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—</a:t>
                      </a:r>
                      <a:endParaRPr lang="en-US" sz="15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2× MAIS CACHE L1/L2 E 5× MAIS CACHE MID-LEVEL QUE O X86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RESILIÊNCIA DO CORE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core falha. Outro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assume. </a:t>
            </a:r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parar.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377440" y="2743200"/>
            <a:ext cx="740664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377440" y="2331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 migra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BE9EA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8308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E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✕ FALHA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45736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27064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08392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08392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05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89720" y="320040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DF4FF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364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89720" y="37673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ATIVO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core spare assume automaticamente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failover transparente, zero interrupção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O spare não precisa estar no mesmo chip ou drawer.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MEMÓRIA · RAIM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canal de memória falha. O dado </a:t>
            </a:r>
            <a:pPr indent="0" marL="0">
              <a:buNone/>
            </a:pPr>
            <a:r>
              <a:rPr lang="en-US" sz="32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sobrevive.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140964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59836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7" name="Shape 5"/>
          <p:cNvSpPr/>
          <p:nvPr/>
        </p:nvSpPr>
        <p:spPr>
          <a:xfrm>
            <a:off x="3259836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8" name="Shape 6"/>
          <p:cNvSpPr/>
          <p:nvPr/>
        </p:nvSpPr>
        <p:spPr>
          <a:xfrm>
            <a:off x="3259836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9" name="Shape 7"/>
          <p:cNvSpPr/>
          <p:nvPr/>
        </p:nvSpPr>
        <p:spPr>
          <a:xfrm>
            <a:off x="3259836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0" name="Shape 8"/>
          <p:cNvSpPr/>
          <p:nvPr/>
        </p:nvSpPr>
        <p:spPr>
          <a:xfrm>
            <a:off x="3259836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1" name="Text 9"/>
          <p:cNvSpPr/>
          <p:nvPr/>
        </p:nvSpPr>
        <p:spPr>
          <a:xfrm>
            <a:off x="3140964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49524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93692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2564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5" name="Shape 13"/>
          <p:cNvSpPr/>
          <p:nvPr/>
        </p:nvSpPr>
        <p:spPr>
          <a:xfrm>
            <a:off x="4512564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12564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512564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8" name="Shape 16"/>
          <p:cNvSpPr/>
          <p:nvPr/>
        </p:nvSpPr>
        <p:spPr>
          <a:xfrm>
            <a:off x="4512564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19" name="Text 17"/>
          <p:cNvSpPr/>
          <p:nvPr/>
        </p:nvSpPr>
        <p:spPr>
          <a:xfrm>
            <a:off x="4393692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302252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46420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DA1E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5292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5292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5292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5765292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5292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F1B0B4"/>
          </a:solidFill>
          <a:ln/>
        </p:spPr>
      </p:sp>
      <p:sp>
        <p:nvSpPr>
          <p:cNvPr id="27" name="Text 25"/>
          <p:cNvSpPr/>
          <p:nvPr/>
        </p:nvSpPr>
        <p:spPr>
          <a:xfrm>
            <a:off x="5646420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A1E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✕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54980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99148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18020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1" name="Shape 29"/>
          <p:cNvSpPr/>
          <p:nvPr/>
        </p:nvSpPr>
        <p:spPr>
          <a:xfrm>
            <a:off x="7018020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18020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3" name="Shape 31"/>
          <p:cNvSpPr/>
          <p:nvPr/>
        </p:nvSpPr>
        <p:spPr>
          <a:xfrm>
            <a:off x="7018020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018020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5" name="Text 33"/>
          <p:cNvSpPr/>
          <p:nvPr/>
        </p:nvSpPr>
        <p:spPr>
          <a:xfrm>
            <a:off x="6899148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6807708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CANAL 4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151876" y="2606040"/>
            <a:ext cx="868680" cy="2194560"/>
          </a:xfrm>
          <a:prstGeom prst="roundRect">
            <a:avLst>
              <a:gd name="adj" fmla="val 5263"/>
            </a:avLst>
          </a:prstGeom>
          <a:solidFill>
            <a:srgbClr val="F4F4F4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70748" y="4425696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39" name="Shape 37"/>
          <p:cNvSpPr/>
          <p:nvPr/>
        </p:nvSpPr>
        <p:spPr>
          <a:xfrm>
            <a:off x="8270748" y="4078224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0" name="Shape 38"/>
          <p:cNvSpPr/>
          <p:nvPr/>
        </p:nvSpPr>
        <p:spPr>
          <a:xfrm>
            <a:off x="8270748" y="3730752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1" name="Shape 39"/>
          <p:cNvSpPr/>
          <p:nvPr/>
        </p:nvSpPr>
        <p:spPr>
          <a:xfrm>
            <a:off x="8270748" y="3383280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2" name="Shape 40"/>
          <p:cNvSpPr/>
          <p:nvPr/>
        </p:nvSpPr>
        <p:spPr>
          <a:xfrm>
            <a:off x="8270748" y="3035808"/>
            <a:ext cx="630936" cy="256032"/>
          </a:xfrm>
          <a:prstGeom prst="roundRect">
            <a:avLst>
              <a:gd name="adj" fmla="val 10714"/>
            </a:avLst>
          </a:prstGeom>
          <a:solidFill>
            <a:srgbClr val="0F62FE"/>
          </a:solidFill>
          <a:ln/>
        </p:spPr>
      </p:sp>
      <p:sp>
        <p:nvSpPr>
          <p:cNvPr id="43" name="Text 41"/>
          <p:cNvSpPr/>
          <p:nvPr/>
        </p:nvSpPr>
        <p:spPr>
          <a:xfrm>
            <a:off x="8151876" y="34290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8060436" y="49103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PARIDADE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Canal perdido é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reconstruído pela redundância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</a:t>
            </a:r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4A14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zero perda de dado</a:t>
            </a:r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sem penalidade de performance.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CONFIDENTIAL COMPUTING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Execution: dado protegido </a:t>
            </a:r>
            <a:pPr indent="0" marL="0">
              <a:buNone/>
            </a:pPr>
            <a:r>
              <a:rPr lang="en-US" sz="3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em uso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 ambiente de execução confiável (TEE) baseado em hardware. O firmware Ultravisor isola cada guest KVM do hypervisor e dos demais — a memória e o workload da VM ficam protegidos até da camada de firmware.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0080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69748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Ultravisor: proteção de memória e estado dos guests seguros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37490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78040" y="374904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 attestation: integridade verificada antes da execução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78040" y="480060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 Boot: só inicializa imagens confiáveis e verificadas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67512"/>
            <a:ext cx="384048" cy="0"/>
          </a:xfrm>
          <a:prstGeom prst="line">
            <a:avLst/>
          </a:prstGeom>
          <a:noFill/>
          <a:ln w="15875">
            <a:solidFill>
              <a:srgbClr val="0F62F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4937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300" kern="0" dirty="0">
                <a:solidFill>
                  <a:srgbClr val="0F62F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PRÓXIMOS PASSOS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16161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Vamos dimensionar o caso do </a:t>
            </a:r>
            <a:pPr indent="0" marL="0">
              <a:lnSpc>
                <a:spcPct val="104000"/>
              </a:lnSpc>
              <a:buNone/>
            </a:pPr>
            <a:r>
              <a:rPr lang="en-US" sz="4400" dirty="0">
                <a:solidFill>
                  <a:srgbClr val="0F62F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Banrisul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Uma avaliação de IT Economics (TCO) sobre as cargas reais do banco — Oracle, Kafka/Pix, containers — comparando o cenário atual com o LinuxONE em 5 anos.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62FE">
              <a:alpha val="16000"/>
            </a:srgbClr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6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 Agendar workshop de TCO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252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HULK — MARCOS GOIS · HULK@IBM.COM · © 2026 IBM CORPORATION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LinuxONE - Banrisul 2026</dc:title>
  <dc:subject>PptxGenJS Presentation</dc:subject>
  <dc:creator>Hulk - Marcos Gois</dc:creator>
  <cp:lastModifiedBy>Hulk - Marcos Gois</cp:lastModifiedBy>
  <cp:revision>1</cp:revision>
  <dcterms:created xsi:type="dcterms:W3CDTF">2026-06-22T02:22:47Z</dcterms:created>
  <dcterms:modified xsi:type="dcterms:W3CDTF">2026-06-22T02:22:47Z</dcterms:modified>
</cp:coreProperties>
</file>