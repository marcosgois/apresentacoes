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bm.com/demos/it-infrastructure/ux/product.html#19/1993;C1165" TargetMode="External"/><Relationship Id="rId3" Type="http://schemas.openxmlformats.org/officeDocument/2006/relationships/hyperlink" Target="https://www.ibm.com/demos/it-infrastructure/ux/product.html#19/1993;C1165" TargetMode="External"/><Relationship Id="rId4" Type="http://schemas.openxmlformats.org/officeDocument/2006/relationships/hyperlink" Target="https://www.ibm.com/demos/it-infrastructure/ux/product.html#19/1993;C1165" TargetMode="External"/><Relationship Id="rId1" Type="http://schemas.openxmlformats.org/officeDocument/2006/relationships/image" Target="../media/image-27-1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 · BANRISUL · 2026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infraestrutura mais </a:t>
            </a:r>
            <a:pPr indent="0" marL="0">
              <a:lnSpc>
                <a:spcPct val="102000"/>
              </a:lnSpc>
              <a:buNone/>
            </a:pPr>
            <a:r>
              <a:rPr lang="en-US" sz="46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resiliente </a:t>
            </a:r>
            <a:pPr indent="0" marL="0">
              <a:lnSpc>
                <a:spcPct val="102000"/>
              </a:lnSpc>
              <a:buNone/>
            </a:pPr>
            <a:r>
              <a:rPr lang="en-US" sz="4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 o banco de hoje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22960" y="41148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Consolidação extrema, segurança quantum-safe e disponibilidade de oito noves — em uma única plataforma Linux.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HULK — MARCOS GOIS · HULK@IBM.COM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AGENDA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Quatro temas, </a:t>
            </a:r>
            <a:pPr indent="0" marL="0">
              <a:buNone/>
            </a:pPr>
            <a:r>
              <a:rPr lang="en-US" sz="38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uma plataforma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7157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54480" y="2715768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LinuxONE — a base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22960" y="3447288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55701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54480" y="3557016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 Workloads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" y="4288536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54480" y="4398264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Cloud Foundation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22960" y="5129784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23951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54480" y="5239512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Serving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22960" y="5971032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CONTEXTO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mercado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inverteu.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demanda por memória disparou e a oferta não acompanha. Pela primeira vez em anos, comprar mais hardware ficou caro — e incerto.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REALIDADE DA CRISE DE FORNECIMENTO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custo do x86 está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subindo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+298%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Preço da DRAM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Aumento entre set/25 e dez/25.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+95%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DDR5 de servidor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Crescimento trimestre a trimestre nos DIMMs.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16%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Oferta de DRAM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Crescimento esperado — mínimo histórico.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FONTES: TRENDFORCE · IDC · THE NEXT PLATFORM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VOZ DO MERCADO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058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i="1" dirty="0">
                <a:solidFill>
                  <a:srgbClr val="161616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“O custo base está subindo em todos os produtos. A demanda está muito à frente da oferta.”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JEFF CLARKE · COO, DELL TECHNOLOGIES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CONSENSO DOS ANALISTAS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Uma restrição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estrutural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 plurianual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Novas fábricas levam de 3 a 5 anos para entrar em operação. O alívio não é esperado antes de 2027/2028 — e a escassez se intensifica ao longo de 2026.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Início da escassez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Pico da restrição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2028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Normalização do mercado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RESPOSTA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é comprar mais. É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consolidar.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Quanto mais workloads consolidados em uma plataforma de recursos compartilhados, maior a utilização sustentada e menor a margem ociosa exigida para os picos.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QUE É O LINUXONE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máquina especialista em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transações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 Linux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5,5 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GHz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Performance por thread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Os cores mais rápidos do mercado, com cache enorme por thread.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Transações web / dia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um único sistema, com escala horizontal e vertical.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Containers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Milhares de workloads Linux em paralelo, por sistema.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PROCESSADOR IBM TELUM II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IA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nativa,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direto no chip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Tecnologia de 5 nm a 5,5 GHz, com acelerador de IA de segunda geração para inferência de baixíssima latência — sem precisar mover o dado para fora do sistema.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43B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transistores e 24 milhas de fios por chip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DPU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unidade de I/O no chip — 90% menos energia em I/O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processamento de IA dedicado por core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ARQUITETURA VS. X86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Projetado para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dados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 I/O intensivos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2×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cache L1/L2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Comparado a servidores x86 de scale-out.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5×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cache L3/L4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Bancos de dados rodam mais rápido, perto da CPU.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80×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I/O dedicado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especializados só para processamento de I/O.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CONFIDENTIAL COMPUTING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Segurança líder de indústria,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design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Dados 100% criptografados e quantum-safe — em repouso, em trânsito e em uso. Cada VM, dado e container isolado dos demais e da própria camada de firmware.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IBM Secure Execution — execução confiável em hardware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Criptografia quantum-safe contra ameaças futuras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HSM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 Boot e firmware à prova de adulteração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DISPONIBILIDADE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Falhas medidas em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décadas,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em meses.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Tolerância real a falhas, sem ponto único de falha. Memória RAIM redundante e core sobressalente que assume sem interromper aplicação nem sistema.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CUSTO DE FICAR FORA DO AR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Oito noves de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disponibilidade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99,9999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99%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Disponibilidade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Contra, no melhor caso, 99,9988% do x86.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R$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1,3M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Evitados por ano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R$ 25 mil/min, são 52,56 min/ano de parada evitados.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R$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6,5M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5 anos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Cost avoidance acumulado frente ao x86.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VMs e containers,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só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ambiente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 Red Hat OpenShift Virtualization, máquinas virtuais e containers rodam lado a lado — mesmas ferramentas, mesma interface. Sem manter tecnologias, skills e times separados.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Workloads modernos e legados gerenciados juntos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Orquestração de comunicação entre VMs e containers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Nuvem on-prem com o stack ONEStack + IBM Fusion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CLUSTER HÍBRIDO OPENSHIFT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Mesmo código, mesmo pipeline, </a:t>
            </a:r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duas arquiteturas.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cluster único com worker nodes em LinuxONE (s390x) e x86, imagens multi-arch e CI/CD unificado. O time desenvolve uma vez e implanta onde fizer mais sentido.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 · CLUSTER HÍBRIDO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workload.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Duas arquiteturas. </a:t>
            </a:r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cluster.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10515600" cy="457200"/>
          </a:xfrm>
          <a:prstGeom prst="roundRect">
            <a:avLst>
              <a:gd name="adj" fmla="val 160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 Hat OpenShift · Control Plane único + pipeline CI/CD multi-arch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46020" y="2788920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0F62FE"/>
          </a:solidFill>
          <a:ln/>
        </p:spPr>
      </p:sp>
      <p:sp>
        <p:nvSpPr>
          <p:cNvPr id="8" name="Text 6"/>
          <p:cNvSpPr/>
          <p:nvPr/>
        </p:nvSpPr>
        <p:spPr>
          <a:xfrm>
            <a:off x="2446020" y="27889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POD · multi-arch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978140" y="2788920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F6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78140" y="27889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POD · multi-arch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3380" y="2990088"/>
            <a:ext cx="3794760" cy="0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183380" y="2487168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migra sem rebuild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22960" y="3429000"/>
            <a:ext cx="4983480" cy="1783080"/>
          </a:xfrm>
          <a:prstGeom prst="roundRect">
            <a:avLst>
              <a:gd name="adj" fmla="val 410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358444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 · s390x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16586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16586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67462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267462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8338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18338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55080" y="3429000"/>
            <a:ext cx="4983480" cy="1783080"/>
          </a:xfrm>
          <a:prstGeom prst="roundRect">
            <a:avLst>
              <a:gd name="adj" fmla="val 410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358444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Intel / AMD · x86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9798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69798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0674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820674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71550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71550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2960" y="5440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mesma imagem multi-arch </a:t>
            </a:r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migra de LinuxONE (s390x) para x86</a:t>
            </a:r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mesmo código, mesmo pipeline, sem rebuild.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 · DEPLOYMENT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Três formas de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fundação </a:t>
            </a:r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OpenShift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240280"/>
            <a:ext cx="3200400" cy="3886200"/>
          </a:xfrm>
          <a:prstGeom prst="roundRect">
            <a:avLst>
              <a:gd name="adj" fmla="val 2286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80560" y="2240280"/>
            <a:ext cx="3200400" cy="3886200"/>
          </a:xfrm>
          <a:prstGeom prst="roundRect">
            <a:avLst>
              <a:gd name="adj" fmla="val 2286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38160" y="2240280"/>
            <a:ext cx="3200400" cy="3886200"/>
          </a:xfrm>
          <a:prstGeom prst="roundRect">
            <a:avLst>
              <a:gd name="adj" fmla="val 2286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Direto na LPAR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43000" y="284378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BARE METAL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143000" y="3154680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31546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habilita Virtualization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143000" y="361188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0F62F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36118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OpenShift (bare metal)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143000" y="4078224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407822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LPAR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143000" y="454456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43000" y="4544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143000" y="52578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Pré-requisito do Virtualization — até 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nó em LPAR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já habilita VMs + containers.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0060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KVM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800600" y="284378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VIRTUALIZADO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800600" y="324612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0F62F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32461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OpenShift (VMs)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800600" y="3712464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37124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 Hat KVM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00600" y="417880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41788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LPAR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00600" y="4645152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464515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800600" y="5349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Nós do OpenShift em VMs Red Hat KVM. Máxima densidade e flexibilidade.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45820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KVM + LPAR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458200" y="284378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HÍBRIDO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458200" y="3200400"/>
            <a:ext cx="2560320" cy="384048"/>
          </a:xfrm>
          <a:prstGeom prst="roundRect">
            <a:avLst>
              <a:gd name="adj" fmla="val 14286"/>
            </a:avLst>
          </a:prstGeom>
          <a:solidFill>
            <a:srgbClr val="0F62FE"/>
          </a:solidFill>
          <a:ln/>
        </p:spPr>
      </p:sp>
      <p:sp>
        <p:nvSpPr>
          <p:cNvPr id="33" name="Text 31"/>
          <p:cNvSpPr/>
          <p:nvPr/>
        </p:nvSpPr>
        <p:spPr>
          <a:xfrm>
            <a:off x="8458200" y="32004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cluster OpenShift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458200" y="3776472"/>
            <a:ext cx="1197864" cy="129844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67928" y="3904488"/>
            <a:ext cx="9784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67928" y="3904488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bare metal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604504" y="4251960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Nó em LPAR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604504" y="4544568"/>
            <a:ext cx="905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habilita o Virtualization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9820656" y="3776472"/>
            <a:ext cx="1197864" cy="129844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930384" y="3904488"/>
            <a:ext cx="9784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930384" y="3904488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virtualizado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9966960" y="4251960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Nós em KVM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966960" y="4544568"/>
            <a:ext cx="905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densidade e flexibilidade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458200" y="5239512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Combina nós bare metal (p/ Virtualization) com nós KVM no mesmo cluster.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 · TOPOLOGIAS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single node </a:t>
            </a:r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ao cluster completo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Single Node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SNO · 1 nó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097280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97280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nó faz tudo. Edge, PoC e dev.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538728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13048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Node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813048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compacto · 3 nós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813048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15" name="Text 13"/>
          <p:cNvSpPr/>
          <p:nvPr/>
        </p:nvSpPr>
        <p:spPr>
          <a:xfrm>
            <a:off x="3813048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325112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17" name="Text 15"/>
          <p:cNvSpPr/>
          <p:nvPr/>
        </p:nvSpPr>
        <p:spPr>
          <a:xfrm>
            <a:off x="4325112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837176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19" name="Text 17"/>
          <p:cNvSpPr/>
          <p:nvPr/>
        </p:nvSpPr>
        <p:spPr>
          <a:xfrm>
            <a:off x="4837176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813048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Control + worker combinados. HA mínima.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54496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22225">
            <a:solidFill>
              <a:srgbClr val="0F62F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68896" y="2185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F62FE"/>
          </a:solidFill>
          <a:ln/>
        </p:spPr>
      </p:sp>
      <p:sp>
        <p:nvSpPr>
          <p:cNvPr id="23" name="Text 21"/>
          <p:cNvSpPr/>
          <p:nvPr/>
        </p:nvSpPr>
        <p:spPr>
          <a:xfrm>
            <a:off x="7168896" y="218541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Recomendado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28816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nós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528816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produção HA · 3 + 3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528816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27" name="Text 25"/>
          <p:cNvSpPr/>
          <p:nvPr/>
        </p:nvSpPr>
        <p:spPr>
          <a:xfrm>
            <a:off x="6528816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040880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29" name="Text 27"/>
          <p:cNvSpPr/>
          <p:nvPr/>
        </p:nvSpPr>
        <p:spPr>
          <a:xfrm>
            <a:off x="7040880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52944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31" name="Text 29"/>
          <p:cNvSpPr/>
          <p:nvPr/>
        </p:nvSpPr>
        <p:spPr>
          <a:xfrm>
            <a:off x="7552944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528816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33" name="Text 31"/>
          <p:cNvSpPr/>
          <p:nvPr/>
        </p:nvSpPr>
        <p:spPr>
          <a:xfrm>
            <a:off x="6528816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040880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35" name="Text 33"/>
          <p:cNvSpPr/>
          <p:nvPr/>
        </p:nvSpPr>
        <p:spPr>
          <a:xfrm>
            <a:off x="7040880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7552944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37" name="Text 35"/>
          <p:cNvSpPr/>
          <p:nvPr/>
        </p:nvSpPr>
        <p:spPr>
          <a:xfrm>
            <a:off x="7552944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528816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control + 3 worker dedicados. Padrão de produção.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970264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244584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 nós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244584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 infra · 3 + 3 + 3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9244584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43" name="Text 41"/>
          <p:cNvSpPr/>
          <p:nvPr/>
        </p:nvSpPr>
        <p:spPr>
          <a:xfrm>
            <a:off x="9244584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9756648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45" name="Text 43"/>
          <p:cNvSpPr/>
          <p:nvPr/>
        </p:nvSpPr>
        <p:spPr>
          <a:xfrm>
            <a:off x="9756648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10268712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47" name="Text 45"/>
          <p:cNvSpPr/>
          <p:nvPr/>
        </p:nvSpPr>
        <p:spPr>
          <a:xfrm>
            <a:off x="10268712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9244584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49" name="Text 47"/>
          <p:cNvSpPr/>
          <p:nvPr/>
        </p:nvSpPr>
        <p:spPr>
          <a:xfrm>
            <a:off x="9244584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9756648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51" name="Text 49"/>
          <p:cNvSpPr/>
          <p:nvPr/>
        </p:nvSpPr>
        <p:spPr>
          <a:xfrm>
            <a:off x="9756648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10268712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53" name="Text 51"/>
          <p:cNvSpPr/>
          <p:nvPr/>
        </p:nvSpPr>
        <p:spPr>
          <a:xfrm>
            <a:off x="10268712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9244584" y="4315968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8A3FFC"/>
          </a:solidFill>
          <a:ln/>
        </p:spPr>
      </p:sp>
      <p:sp>
        <p:nvSpPr>
          <p:cNvPr id="55" name="Text 53"/>
          <p:cNvSpPr/>
          <p:nvPr/>
        </p:nvSpPr>
        <p:spPr>
          <a:xfrm>
            <a:off x="9244584" y="4315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9756648" y="4315968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8A3FFC"/>
          </a:solidFill>
          <a:ln/>
        </p:spPr>
      </p:sp>
      <p:sp>
        <p:nvSpPr>
          <p:cNvPr id="57" name="Text 55"/>
          <p:cNvSpPr/>
          <p:nvPr/>
        </p:nvSpPr>
        <p:spPr>
          <a:xfrm>
            <a:off x="9756648" y="4315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10268712" y="4315968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8A3FFC"/>
          </a:solidFill>
          <a:ln/>
        </p:spPr>
      </p:sp>
      <p:sp>
        <p:nvSpPr>
          <p:cNvPr id="59" name="Text 57"/>
          <p:cNvSpPr/>
          <p:nvPr/>
        </p:nvSpPr>
        <p:spPr>
          <a:xfrm>
            <a:off x="10268712" y="4315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9244584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nós de infra (router, monitoring, logging) isolados.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3337560" y="580644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0F62FE"/>
          </a:solidFill>
          <a:ln/>
        </p:spPr>
      </p:sp>
      <p:sp>
        <p:nvSpPr>
          <p:cNvPr id="62" name="Text 60"/>
          <p:cNvSpPr/>
          <p:nvPr/>
        </p:nvSpPr>
        <p:spPr>
          <a:xfrm>
            <a:off x="3593592" y="5742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Control plane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166360" y="580644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007D79"/>
          </a:solidFill>
          <a:ln/>
        </p:spPr>
      </p:sp>
      <p:sp>
        <p:nvSpPr>
          <p:cNvPr id="64" name="Text 62"/>
          <p:cNvSpPr/>
          <p:nvPr/>
        </p:nvSpPr>
        <p:spPr>
          <a:xfrm>
            <a:off x="5422392" y="5742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6995160" y="580644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8A3FFC"/>
          </a:solidFill>
          <a:ln/>
        </p:spPr>
      </p:sp>
      <p:sp>
        <p:nvSpPr>
          <p:cNvPr id="66" name="Text 64"/>
          <p:cNvSpPr/>
          <p:nvPr/>
        </p:nvSpPr>
        <p:spPr>
          <a:xfrm>
            <a:off x="7251192" y="5742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Infra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DATA SERVING · ORACLE ON LINUXONE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TCO de banco de dados,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recalculado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88 →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ativos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Consolidação otimizada vs. o ambiente x86 atual.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35%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Menor TCO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5 anos, comparado à arquitetura x86.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R$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3,5M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Economia de software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Payback entre o ano 1 e 2; ROI máximo no ano 5.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PROVAS EM PRODUÇÃO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Já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roda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grandes instituições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é teoria de laboratório. Bancos, governos e instituições financeiras já consolidaram cargas críticas em LinuxONE — com ganhos medidos de custo, espaço e energia.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CITI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MongoDB-as-a-Service 33:1 · 50% menos espaço, energia e cooling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Gov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Oracle de 92 para 16 licenças · 6 appliances consolidados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 em OpenShift + EDB · 40% menos TCO em 5 anos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CASO · GRANDE BANCO NA AMÉRICA DO SUL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Pagamentos instantâneos,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containerizados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ms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Latência por mensagem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Atendendo ao requisito do banco central para pagamentos P2P.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600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mil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Mensagens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Kafka em containers Red Hat OpenShift, com alta flexibilidade.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66%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Hardware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52 cores x86 para 16 IFLs — e menos licenças de software.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CASO · PIX · CONSOLIDAÇÃO DE KAFKA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52 cores x86 para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 IFLs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dirty="0">
                <a:solidFill>
                  <a:srgbClr val="8D8D8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52 </a:t>
            </a:r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x86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7830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83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 </a:t>
            </a:r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IFLs · LinuxONE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2208276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8" name="Shape 6"/>
          <p:cNvSpPr/>
          <p:nvPr/>
        </p:nvSpPr>
        <p:spPr>
          <a:xfrm>
            <a:off x="2363724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9" name="Shape 7"/>
          <p:cNvSpPr/>
          <p:nvPr/>
        </p:nvSpPr>
        <p:spPr>
          <a:xfrm>
            <a:off x="2519172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0" name="Shape 8"/>
          <p:cNvSpPr/>
          <p:nvPr/>
        </p:nvSpPr>
        <p:spPr>
          <a:xfrm>
            <a:off x="2674620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1" name="Shape 9"/>
          <p:cNvSpPr/>
          <p:nvPr/>
        </p:nvSpPr>
        <p:spPr>
          <a:xfrm>
            <a:off x="2830068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2" name="Shape 10"/>
          <p:cNvSpPr/>
          <p:nvPr/>
        </p:nvSpPr>
        <p:spPr>
          <a:xfrm>
            <a:off x="2985516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3" name="Shape 11"/>
          <p:cNvSpPr/>
          <p:nvPr/>
        </p:nvSpPr>
        <p:spPr>
          <a:xfrm>
            <a:off x="3140964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4" name="Shape 12"/>
          <p:cNvSpPr/>
          <p:nvPr/>
        </p:nvSpPr>
        <p:spPr>
          <a:xfrm>
            <a:off x="3296412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5" name="Shape 13"/>
          <p:cNvSpPr/>
          <p:nvPr/>
        </p:nvSpPr>
        <p:spPr>
          <a:xfrm>
            <a:off x="3451860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6" name="Shape 14"/>
          <p:cNvSpPr/>
          <p:nvPr/>
        </p:nvSpPr>
        <p:spPr>
          <a:xfrm>
            <a:off x="3607308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756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8" name="Shape 16"/>
          <p:cNvSpPr/>
          <p:nvPr/>
        </p:nvSpPr>
        <p:spPr>
          <a:xfrm>
            <a:off x="3918204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9" name="Shape 17"/>
          <p:cNvSpPr/>
          <p:nvPr/>
        </p:nvSpPr>
        <p:spPr>
          <a:xfrm>
            <a:off x="4073652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0" name="Shape 18"/>
          <p:cNvSpPr/>
          <p:nvPr/>
        </p:nvSpPr>
        <p:spPr>
          <a:xfrm>
            <a:off x="2208276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1" name="Shape 19"/>
          <p:cNvSpPr/>
          <p:nvPr/>
        </p:nvSpPr>
        <p:spPr>
          <a:xfrm>
            <a:off x="2363724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2" name="Shape 20"/>
          <p:cNvSpPr/>
          <p:nvPr/>
        </p:nvSpPr>
        <p:spPr>
          <a:xfrm>
            <a:off x="2519172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3" name="Shape 21"/>
          <p:cNvSpPr/>
          <p:nvPr/>
        </p:nvSpPr>
        <p:spPr>
          <a:xfrm>
            <a:off x="2674620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4" name="Shape 22"/>
          <p:cNvSpPr/>
          <p:nvPr/>
        </p:nvSpPr>
        <p:spPr>
          <a:xfrm>
            <a:off x="2830068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5" name="Shape 23"/>
          <p:cNvSpPr/>
          <p:nvPr/>
        </p:nvSpPr>
        <p:spPr>
          <a:xfrm>
            <a:off x="2985516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6" name="Shape 24"/>
          <p:cNvSpPr/>
          <p:nvPr/>
        </p:nvSpPr>
        <p:spPr>
          <a:xfrm>
            <a:off x="3140964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7" name="Shape 25"/>
          <p:cNvSpPr/>
          <p:nvPr/>
        </p:nvSpPr>
        <p:spPr>
          <a:xfrm>
            <a:off x="3296412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8" name="Shape 26"/>
          <p:cNvSpPr/>
          <p:nvPr/>
        </p:nvSpPr>
        <p:spPr>
          <a:xfrm>
            <a:off x="3451860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07308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0" name="Shape 28"/>
          <p:cNvSpPr/>
          <p:nvPr/>
        </p:nvSpPr>
        <p:spPr>
          <a:xfrm>
            <a:off x="3762756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1" name="Shape 29"/>
          <p:cNvSpPr/>
          <p:nvPr/>
        </p:nvSpPr>
        <p:spPr>
          <a:xfrm>
            <a:off x="3918204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2" name="Shape 30"/>
          <p:cNvSpPr/>
          <p:nvPr/>
        </p:nvSpPr>
        <p:spPr>
          <a:xfrm>
            <a:off x="4073652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3" name="Shape 31"/>
          <p:cNvSpPr/>
          <p:nvPr/>
        </p:nvSpPr>
        <p:spPr>
          <a:xfrm>
            <a:off x="2208276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4" name="Shape 32"/>
          <p:cNvSpPr/>
          <p:nvPr/>
        </p:nvSpPr>
        <p:spPr>
          <a:xfrm>
            <a:off x="2363724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5" name="Shape 33"/>
          <p:cNvSpPr/>
          <p:nvPr/>
        </p:nvSpPr>
        <p:spPr>
          <a:xfrm>
            <a:off x="2519172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6" name="Shape 34"/>
          <p:cNvSpPr/>
          <p:nvPr/>
        </p:nvSpPr>
        <p:spPr>
          <a:xfrm>
            <a:off x="2674620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7" name="Shape 35"/>
          <p:cNvSpPr/>
          <p:nvPr/>
        </p:nvSpPr>
        <p:spPr>
          <a:xfrm>
            <a:off x="2830068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8" name="Shape 36"/>
          <p:cNvSpPr/>
          <p:nvPr/>
        </p:nvSpPr>
        <p:spPr>
          <a:xfrm>
            <a:off x="2985516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9" name="Shape 37"/>
          <p:cNvSpPr/>
          <p:nvPr/>
        </p:nvSpPr>
        <p:spPr>
          <a:xfrm>
            <a:off x="3140964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0" name="Shape 38"/>
          <p:cNvSpPr/>
          <p:nvPr/>
        </p:nvSpPr>
        <p:spPr>
          <a:xfrm>
            <a:off x="3296412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1" name="Shape 39"/>
          <p:cNvSpPr/>
          <p:nvPr/>
        </p:nvSpPr>
        <p:spPr>
          <a:xfrm>
            <a:off x="3451860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07308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3" name="Shape 41"/>
          <p:cNvSpPr/>
          <p:nvPr/>
        </p:nvSpPr>
        <p:spPr>
          <a:xfrm>
            <a:off x="3762756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4" name="Shape 42"/>
          <p:cNvSpPr/>
          <p:nvPr/>
        </p:nvSpPr>
        <p:spPr>
          <a:xfrm>
            <a:off x="3918204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5" name="Shape 43"/>
          <p:cNvSpPr/>
          <p:nvPr/>
        </p:nvSpPr>
        <p:spPr>
          <a:xfrm>
            <a:off x="4073652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6" name="Shape 44"/>
          <p:cNvSpPr/>
          <p:nvPr/>
        </p:nvSpPr>
        <p:spPr>
          <a:xfrm>
            <a:off x="2208276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7" name="Shape 45"/>
          <p:cNvSpPr/>
          <p:nvPr/>
        </p:nvSpPr>
        <p:spPr>
          <a:xfrm>
            <a:off x="2363724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8" name="Shape 46"/>
          <p:cNvSpPr/>
          <p:nvPr/>
        </p:nvSpPr>
        <p:spPr>
          <a:xfrm>
            <a:off x="2519172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9" name="Shape 47"/>
          <p:cNvSpPr/>
          <p:nvPr/>
        </p:nvSpPr>
        <p:spPr>
          <a:xfrm>
            <a:off x="2674620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0" name="Shape 48"/>
          <p:cNvSpPr/>
          <p:nvPr/>
        </p:nvSpPr>
        <p:spPr>
          <a:xfrm>
            <a:off x="2830068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1" name="Shape 49"/>
          <p:cNvSpPr/>
          <p:nvPr/>
        </p:nvSpPr>
        <p:spPr>
          <a:xfrm>
            <a:off x="2985516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2" name="Shape 50"/>
          <p:cNvSpPr/>
          <p:nvPr/>
        </p:nvSpPr>
        <p:spPr>
          <a:xfrm>
            <a:off x="3140964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3" name="Shape 51"/>
          <p:cNvSpPr/>
          <p:nvPr/>
        </p:nvSpPr>
        <p:spPr>
          <a:xfrm>
            <a:off x="3296412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51860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07308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6" name="Shape 54"/>
          <p:cNvSpPr/>
          <p:nvPr/>
        </p:nvSpPr>
        <p:spPr>
          <a:xfrm>
            <a:off x="3762756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7" name="Shape 55"/>
          <p:cNvSpPr/>
          <p:nvPr/>
        </p:nvSpPr>
        <p:spPr>
          <a:xfrm>
            <a:off x="3918204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8" name="Shape 56"/>
          <p:cNvSpPr/>
          <p:nvPr/>
        </p:nvSpPr>
        <p:spPr>
          <a:xfrm>
            <a:off x="4073652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9" name="Shape 57"/>
          <p:cNvSpPr/>
          <p:nvPr/>
        </p:nvSpPr>
        <p:spPr>
          <a:xfrm>
            <a:off x="8668512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0" name="Shape 58"/>
          <p:cNvSpPr/>
          <p:nvPr/>
        </p:nvSpPr>
        <p:spPr>
          <a:xfrm>
            <a:off x="8823960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1" name="Shape 59"/>
          <p:cNvSpPr/>
          <p:nvPr/>
        </p:nvSpPr>
        <p:spPr>
          <a:xfrm>
            <a:off x="8979408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2" name="Shape 60"/>
          <p:cNvSpPr/>
          <p:nvPr/>
        </p:nvSpPr>
        <p:spPr>
          <a:xfrm>
            <a:off x="9134856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3" name="Shape 61"/>
          <p:cNvSpPr/>
          <p:nvPr/>
        </p:nvSpPr>
        <p:spPr>
          <a:xfrm>
            <a:off x="8668512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4" name="Shape 62"/>
          <p:cNvSpPr/>
          <p:nvPr/>
        </p:nvSpPr>
        <p:spPr>
          <a:xfrm>
            <a:off x="8823960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5" name="Shape 63"/>
          <p:cNvSpPr/>
          <p:nvPr/>
        </p:nvSpPr>
        <p:spPr>
          <a:xfrm>
            <a:off x="8979408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6" name="Shape 64"/>
          <p:cNvSpPr/>
          <p:nvPr/>
        </p:nvSpPr>
        <p:spPr>
          <a:xfrm>
            <a:off x="9134856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7" name="Shape 65"/>
          <p:cNvSpPr/>
          <p:nvPr/>
        </p:nvSpPr>
        <p:spPr>
          <a:xfrm>
            <a:off x="8668512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8" name="Shape 66"/>
          <p:cNvSpPr/>
          <p:nvPr/>
        </p:nvSpPr>
        <p:spPr>
          <a:xfrm>
            <a:off x="8823960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9" name="Shape 67"/>
          <p:cNvSpPr/>
          <p:nvPr/>
        </p:nvSpPr>
        <p:spPr>
          <a:xfrm>
            <a:off x="8979408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70" name="Shape 68"/>
          <p:cNvSpPr/>
          <p:nvPr/>
        </p:nvSpPr>
        <p:spPr>
          <a:xfrm>
            <a:off x="9134856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71" name="Shape 69"/>
          <p:cNvSpPr/>
          <p:nvPr/>
        </p:nvSpPr>
        <p:spPr>
          <a:xfrm>
            <a:off x="8668512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72" name="Shape 70"/>
          <p:cNvSpPr/>
          <p:nvPr/>
        </p:nvSpPr>
        <p:spPr>
          <a:xfrm>
            <a:off x="8823960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73" name="Shape 71"/>
          <p:cNvSpPr/>
          <p:nvPr/>
        </p:nvSpPr>
        <p:spPr>
          <a:xfrm>
            <a:off x="8979408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74" name="Shape 72"/>
          <p:cNvSpPr/>
          <p:nvPr/>
        </p:nvSpPr>
        <p:spPr>
          <a:xfrm>
            <a:off x="9134856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75" name="Shape 73"/>
          <p:cNvSpPr/>
          <p:nvPr/>
        </p:nvSpPr>
        <p:spPr>
          <a:xfrm>
            <a:off x="822960" y="320040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22960" y="320040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77" name="Shape 75"/>
          <p:cNvSpPr/>
          <p:nvPr/>
        </p:nvSpPr>
        <p:spPr>
          <a:xfrm>
            <a:off x="1357376" y="320040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357376" y="320040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79" name="Shape 77"/>
          <p:cNvSpPr/>
          <p:nvPr/>
        </p:nvSpPr>
        <p:spPr>
          <a:xfrm>
            <a:off x="1891792" y="320040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891792" y="320040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81" name="Shape 79"/>
          <p:cNvSpPr/>
          <p:nvPr/>
        </p:nvSpPr>
        <p:spPr>
          <a:xfrm>
            <a:off x="2426208" y="320040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426208" y="320040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83" name="Shape 81"/>
          <p:cNvSpPr/>
          <p:nvPr/>
        </p:nvSpPr>
        <p:spPr>
          <a:xfrm>
            <a:off x="2960624" y="320040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2960624" y="320040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85" name="Shape 83"/>
          <p:cNvSpPr/>
          <p:nvPr/>
        </p:nvSpPr>
        <p:spPr>
          <a:xfrm>
            <a:off x="3495040" y="320040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495040" y="320040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87" name="Shape 85"/>
          <p:cNvSpPr/>
          <p:nvPr/>
        </p:nvSpPr>
        <p:spPr>
          <a:xfrm>
            <a:off x="4029456" y="320040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029456" y="320040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4563872" y="320040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563872" y="320040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5098288" y="320040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098288" y="320040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822960" y="370332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2960" y="370332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00" dirty="0"/>
          </a:p>
        </p:txBody>
      </p:sp>
      <p:sp>
        <p:nvSpPr>
          <p:cNvPr id="95" name="Shape 93"/>
          <p:cNvSpPr/>
          <p:nvPr/>
        </p:nvSpPr>
        <p:spPr>
          <a:xfrm>
            <a:off x="1357376" y="370332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357376" y="370332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1891792" y="370332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891792" y="370332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00" dirty="0"/>
          </a:p>
        </p:txBody>
      </p:sp>
      <p:sp>
        <p:nvSpPr>
          <p:cNvPr id="99" name="Shape 97"/>
          <p:cNvSpPr/>
          <p:nvPr/>
        </p:nvSpPr>
        <p:spPr>
          <a:xfrm>
            <a:off x="2426208" y="370332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426208" y="370332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00" dirty="0"/>
          </a:p>
        </p:txBody>
      </p:sp>
      <p:sp>
        <p:nvSpPr>
          <p:cNvPr id="101" name="Shape 99"/>
          <p:cNvSpPr/>
          <p:nvPr/>
        </p:nvSpPr>
        <p:spPr>
          <a:xfrm>
            <a:off x="2960624" y="370332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960624" y="370332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3495040" y="370332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495040" y="370332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00" dirty="0"/>
          </a:p>
        </p:txBody>
      </p:sp>
      <p:sp>
        <p:nvSpPr>
          <p:cNvPr id="105" name="Shape 103"/>
          <p:cNvSpPr/>
          <p:nvPr/>
        </p:nvSpPr>
        <p:spPr>
          <a:xfrm>
            <a:off x="4029456" y="370332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029456" y="370332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00" dirty="0"/>
          </a:p>
        </p:txBody>
      </p:sp>
      <p:sp>
        <p:nvSpPr>
          <p:cNvPr id="107" name="Shape 105"/>
          <p:cNvSpPr/>
          <p:nvPr/>
        </p:nvSpPr>
        <p:spPr>
          <a:xfrm>
            <a:off x="4563872" y="370332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563872" y="370332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00" dirty="0"/>
          </a:p>
        </p:txBody>
      </p:sp>
      <p:sp>
        <p:nvSpPr>
          <p:cNvPr id="109" name="Shape 107"/>
          <p:cNvSpPr/>
          <p:nvPr/>
        </p:nvSpPr>
        <p:spPr>
          <a:xfrm>
            <a:off x="5098288" y="370332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098288" y="370332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00" dirty="0"/>
          </a:p>
        </p:txBody>
      </p:sp>
      <p:sp>
        <p:nvSpPr>
          <p:cNvPr id="111" name="Shape 109"/>
          <p:cNvSpPr/>
          <p:nvPr/>
        </p:nvSpPr>
        <p:spPr>
          <a:xfrm>
            <a:off x="822960" y="4206240"/>
            <a:ext cx="4754880" cy="420624"/>
          </a:xfrm>
          <a:prstGeom prst="roundRect">
            <a:avLst>
              <a:gd name="adj" fmla="val 6522"/>
            </a:avLst>
          </a:prstGeom>
          <a:solidFill>
            <a:srgbClr val="ECECEC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22960" y="420624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VMware</a:t>
            </a:r>
            <a:endParaRPr lang="en-US" sz="1100" dirty="0"/>
          </a:p>
        </p:txBody>
      </p:sp>
      <p:sp>
        <p:nvSpPr>
          <p:cNvPr id="113" name="Shape 111"/>
          <p:cNvSpPr/>
          <p:nvPr/>
        </p:nvSpPr>
        <p:spPr>
          <a:xfrm>
            <a:off x="822960" y="470916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22960" y="470916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00" dirty="0"/>
          </a:p>
        </p:txBody>
      </p:sp>
      <p:sp>
        <p:nvSpPr>
          <p:cNvPr id="115" name="Shape 113"/>
          <p:cNvSpPr/>
          <p:nvPr/>
        </p:nvSpPr>
        <p:spPr>
          <a:xfrm>
            <a:off x="1357376" y="470916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357376" y="470916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00" dirty="0"/>
          </a:p>
        </p:txBody>
      </p:sp>
      <p:sp>
        <p:nvSpPr>
          <p:cNvPr id="117" name="Shape 115"/>
          <p:cNvSpPr/>
          <p:nvPr/>
        </p:nvSpPr>
        <p:spPr>
          <a:xfrm>
            <a:off x="1891792" y="470916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891792" y="470916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00" dirty="0"/>
          </a:p>
        </p:txBody>
      </p:sp>
      <p:sp>
        <p:nvSpPr>
          <p:cNvPr id="119" name="Shape 117"/>
          <p:cNvSpPr/>
          <p:nvPr/>
        </p:nvSpPr>
        <p:spPr>
          <a:xfrm>
            <a:off x="2426208" y="470916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426208" y="470916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00" dirty="0"/>
          </a:p>
        </p:txBody>
      </p:sp>
      <p:sp>
        <p:nvSpPr>
          <p:cNvPr id="121" name="Shape 119"/>
          <p:cNvSpPr/>
          <p:nvPr/>
        </p:nvSpPr>
        <p:spPr>
          <a:xfrm>
            <a:off x="2960624" y="470916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2960624" y="470916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00" dirty="0"/>
          </a:p>
        </p:txBody>
      </p:sp>
      <p:sp>
        <p:nvSpPr>
          <p:cNvPr id="123" name="Shape 121"/>
          <p:cNvSpPr/>
          <p:nvPr/>
        </p:nvSpPr>
        <p:spPr>
          <a:xfrm>
            <a:off x="3495040" y="470916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3495040" y="470916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00" dirty="0"/>
          </a:p>
        </p:txBody>
      </p:sp>
      <p:sp>
        <p:nvSpPr>
          <p:cNvPr id="125" name="Shape 123"/>
          <p:cNvSpPr/>
          <p:nvPr/>
        </p:nvSpPr>
        <p:spPr>
          <a:xfrm>
            <a:off x="4029456" y="470916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029456" y="470916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00" dirty="0"/>
          </a:p>
        </p:txBody>
      </p:sp>
      <p:sp>
        <p:nvSpPr>
          <p:cNvPr id="127" name="Shape 125"/>
          <p:cNvSpPr/>
          <p:nvPr/>
        </p:nvSpPr>
        <p:spPr>
          <a:xfrm>
            <a:off x="4563872" y="470916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563872" y="470916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00" dirty="0"/>
          </a:p>
        </p:txBody>
      </p:sp>
      <p:sp>
        <p:nvSpPr>
          <p:cNvPr id="129" name="Shape 127"/>
          <p:cNvSpPr/>
          <p:nvPr/>
        </p:nvSpPr>
        <p:spPr>
          <a:xfrm>
            <a:off x="5098288" y="470916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098288" y="470916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00" dirty="0"/>
          </a:p>
        </p:txBody>
      </p:sp>
      <p:sp>
        <p:nvSpPr>
          <p:cNvPr id="131" name="Shape 129"/>
          <p:cNvSpPr/>
          <p:nvPr/>
        </p:nvSpPr>
        <p:spPr>
          <a:xfrm>
            <a:off x="6583680" y="3200400"/>
            <a:ext cx="546354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6583680" y="3200400"/>
            <a:ext cx="5463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133" name="Shape 131"/>
          <p:cNvSpPr/>
          <p:nvPr/>
        </p:nvSpPr>
        <p:spPr>
          <a:xfrm>
            <a:off x="7184898" y="3200400"/>
            <a:ext cx="546354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7184898" y="3200400"/>
            <a:ext cx="5463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135" name="Shape 133"/>
          <p:cNvSpPr/>
          <p:nvPr/>
        </p:nvSpPr>
        <p:spPr>
          <a:xfrm>
            <a:off x="7786116" y="3200400"/>
            <a:ext cx="546354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7786116" y="3200400"/>
            <a:ext cx="5463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137" name="Shape 135"/>
          <p:cNvSpPr/>
          <p:nvPr/>
        </p:nvSpPr>
        <p:spPr>
          <a:xfrm>
            <a:off x="8387334" y="3200400"/>
            <a:ext cx="546354" cy="420624"/>
          </a:xfrm>
          <a:prstGeom prst="roundRect">
            <a:avLst>
              <a:gd name="adj" fmla="val 6522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8387334" y="3200400"/>
            <a:ext cx="5463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00" dirty="0"/>
          </a:p>
        </p:txBody>
      </p:sp>
      <p:sp>
        <p:nvSpPr>
          <p:cNvPr id="139" name="Shape 137"/>
          <p:cNvSpPr/>
          <p:nvPr/>
        </p:nvSpPr>
        <p:spPr>
          <a:xfrm>
            <a:off x="8988552" y="3200400"/>
            <a:ext cx="546354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988552" y="3200400"/>
            <a:ext cx="5463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141" name="Shape 139"/>
          <p:cNvSpPr/>
          <p:nvPr/>
        </p:nvSpPr>
        <p:spPr>
          <a:xfrm>
            <a:off x="9589770" y="3200400"/>
            <a:ext cx="546354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589770" y="3200400"/>
            <a:ext cx="5463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143" name="Shape 141"/>
          <p:cNvSpPr/>
          <p:nvPr/>
        </p:nvSpPr>
        <p:spPr>
          <a:xfrm>
            <a:off x="10190988" y="3200400"/>
            <a:ext cx="546354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10190988" y="3200400"/>
            <a:ext cx="5463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145" name="Shape 143"/>
          <p:cNvSpPr/>
          <p:nvPr/>
        </p:nvSpPr>
        <p:spPr>
          <a:xfrm>
            <a:off x="10792206" y="3200400"/>
            <a:ext cx="546354" cy="420624"/>
          </a:xfrm>
          <a:prstGeom prst="roundRect">
            <a:avLst>
              <a:gd name="adj" fmla="val 6522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10792206" y="3200400"/>
            <a:ext cx="5463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00" dirty="0"/>
          </a:p>
        </p:txBody>
      </p:sp>
      <p:sp>
        <p:nvSpPr>
          <p:cNvPr id="147" name="Shape 145"/>
          <p:cNvSpPr/>
          <p:nvPr/>
        </p:nvSpPr>
        <p:spPr>
          <a:xfrm>
            <a:off x="6583680" y="3703320"/>
            <a:ext cx="4754880" cy="420624"/>
          </a:xfrm>
          <a:prstGeom prst="roundRect">
            <a:avLst>
              <a:gd name="adj" fmla="val 6522"/>
            </a:avLst>
          </a:prstGeom>
          <a:solidFill>
            <a:srgbClr val="EE0000"/>
          </a:solidFill>
          <a:ln/>
        </p:spPr>
      </p:sp>
      <p:sp>
        <p:nvSpPr>
          <p:cNvPr id="148" name="Text 146"/>
          <p:cNvSpPr/>
          <p:nvPr/>
        </p:nvSpPr>
        <p:spPr>
          <a:xfrm>
            <a:off x="6583680" y="370332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 Hat OpenShift</a:t>
            </a:r>
            <a:endParaRPr lang="en-US" sz="1100" dirty="0"/>
          </a:p>
        </p:txBody>
      </p:sp>
      <p:sp>
        <p:nvSpPr>
          <p:cNvPr id="149" name="Shape 147"/>
          <p:cNvSpPr/>
          <p:nvPr/>
        </p:nvSpPr>
        <p:spPr>
          <a:xfrm>
            <a:off x="6583680" y="4206240"/>
            <a:ext cx="2350008" cy="420624"/>
          </a:xfrm>
          <a:prstGeom prst="roundRect">
            <a:avLst>
              <a:gd name="adj" fmla="val 6522"/>
            </a:avLst>
          </a:prstGeom>
          <a:solidFill>
            <a:srgbClr val="EAF1FF"/>
          </a:solidFill>
          <a:ln w="9525">
            <a:solidFill>
              <a:srgbClr val="8AB0F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6583680" y="4206240"/>
            <a:ext cx="2350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KVM / LPAR</a:t>
            </a:r>
            <a:endParaRPr lang="en-US" sz="900" dirty="0"/>
          </a:p>
        </p:txBody>
      </p:sp>
      <p:sp>
        <p:nvSpPr>
          <p:cNvPr id="151" name="Shape 149"/>
          <p:cNvSpPr/>
          <p:nvPr/>
        </p:nvSpPr>
        <p:spPr>
          <a:xfrm>
            <a:off x="8988552" y="4206240"/>
            <a:ext cx="2350008" cy="420624"/>
          </a:xfrm>
          <a:prstGeom prst="roundRect">
            <a:avLst>
              <a:gd name="adj" fmla="val 6522"/>
            </a:avLst>
          </a:prstGeom>
          <a:solidFill>
            <a:srgbClr val="EAF1FF"/>
          </a:solidFill>
          <a:ln w="9525">
            <a:solidFill>
              <a:srgbClr val="8AB0FF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8988552" y="4206240"/>
            <a:ext cx="2350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KVM / LPAR</a:t>
            </a:r>
            <a:endParaRPr lang="en-US" sz="900" dirty="0"/>
          </a:p>
        </p:txBody>
      </p:sp>
      <p:sp>
        <p:nvSpPr>
          <p:cNvPr id="153" name="Shape 151"/>
          <p:cNvSpPr/>
          <p:nvPr/>
        </p:nvSpPr>
        <p:spPr>
          <a:xfrm>
            <a:off x="6583680" y="4709160"/>
            <a:ext cx="4754880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7FA8FF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6583680" y="470916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</a:t>
            </a:r>
            <a:endParaRPr lang="en-US" sz="1100" dirty="0"/>
          </a:p>
        </p:txBody>
      </p:sp>
      <p:sp>
        <p:nvSpPr>
          <p:cNvPr id="155" name="Text 153"/>
          <p:cNvSpPr/>
          <p:nvPr/>
        </p:nvSpPr>
        <p:spPr>
          <a:xfrm>
            <a:off x="5577840" y="32461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−66%</a:t>
            </a:r>
            <a:endParaRPr lang="en-US" sz="1300" dirty="0"/>
          </a:p>
        </p:txBody>
      </p:sp>
      <p:sp>
        <p:nvSpPr>
          <p:cNvPr id="156" name="Shape 154"/>
          <p:cNvSpPr/>
          <p:nvPr/>
        </p:nvSpPr>
        <p:spPr>
          <a:xfrm>
            <a:off x="5687568" y="3657600"/>
            <a:ext cx="786384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  <a:tailEnd type="triangle"/>
          </a:ln>
        </p:spPr>
      </p:sp>
      <p:sp>
        <p:nvSpPr>
          <p:cNvPr id="157" name="Text 155"/>
          <p:cNvSpPr/>
          <p:nvPr/>
        </p:nvSpPr>
        <p:spPr>
          <a:xfrm>
            <a:off x="5577840" y="37490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menos de 1/3</a:t>
            </a:r>
            <a:endParaRPr lang="en-US" sz="900" dirty="0"/>
          </a:p>
        </p:txBody>
      </p:sp>
      <p:sp>
        <p:nvSpPr>
          <p:cNvPr id="158" name="Text 156"/>
          <p:cNvSpPr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Mesma carga de Kafka + Zookeeper (~10 ms · 600 mil mensagens) · menos de 1/3 dos cores e do hardware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CONSOLIDAÇÃO · CUSTOS OCULTOS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Cortar hardware corta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muito mais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192024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−66% de hardware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é só a ponta do iceberg. Cada core a menos derruba uma cascata de custos que costuma ficar fora da conta: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788920"/>
            <a:ext cx="3264408" cy="1417320"/>
          </a:xfrm>
          <a:prstGeom prst="roundRect">
            <a:avLst>
              <a:gd name="adj" fmla="val 5161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8992" y="3063240"/>
            <a:ext cx="512064" cy="512064"/>
          </a:xfrm>
          <a:prstGeom prst="ellipse">
            <a:avLst/>
          </a:prstGeom>
          <a:solidFill>
            <a:srgbClr val="EDF4FF"/>
          </a:solidFill>
          <a:ln/>
        </p:spPr>
      </p:sp>
      <p:sp>
        <p:nvSpPr>
          <p:cNvPr id="8" name="Text 6"/>
          <p:cNvSpPr/>
          <p:nvPr/>
        </p:nvSpPr>
        <p:spPr>
          <a:xfrm>
            <a:off x="1078992" y="30632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LIC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737360" y="304495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Licenças de software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737360" y="3374136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Cobradas por core — Oracle, middleware, S&amp;S. Menos cores, menos licenças.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53128" y="2788920"/>
            <a:ext cx="3264408" cy="1417320"/>
          </a:xfrm>
          <a:prstGeom prst="roundRect">
            <a:avLst>
              <a:gd name="adj" fmla="val 5161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3063240"/>
            <a:ext cx="512064" cy="512064"/>
          </a:xfrm>
          <a:prstGeom prst="ellipse">
            <a:avLst/>
          </a:prstGeom>
          <a:solidFill>
            <a:srgbClr val="EDF4FF"/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30632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m²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67528" y="304495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Espaço no data center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367528" y="3374136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Racks e U liberados — até 75% menos espaço físico.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83296" y="2788920"/>
            <a:ext cx="3264408" cy="1417320"/>
          </a:xfrm>
          <a:prstGeom prst="roundRect">
            <a:avLst>
              <a:gd name="adj" fmla="val 5161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39328" y="3063240"/>
            <a:ext cx="512064" cy="512064"/>
          </a:xfrm>
          <a:prstGeom prst="ellipse">
            <a:avLst/>
          </a:prstGeom>
          <a:solidFill>
            <a:srgbClr val="EDF4FF"/>
          </a:solidFill>
          <a:ln/>
        </p:spPr>
      </p:sp>
      <p:sp>
        <p:nvSpPr>
          <p:cNvPr id="18" name="Text 16"/>
          <p:cNvSpPr/>
          <p:nvPr/>
        </p:nvSpPr>
        <p:spPr>
          <a:xfrm>
            <a:off x="8339328" y="30632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kW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997696" y="304495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Energia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997696" y="3374136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 consumo elétrico — até 50% de redução.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22960" y="4480560"/>
            <a:ext cx="3264408" cy="1417320"/>
          </a:xfrm>
          <a:prstGeom prst="roundRect">
            <a:avLst>
              <a:gd name="adj" fmla="val 5161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78992" y="4754880"/>
            <a:ext cx="512064" cy="512064"/>
          </a:xfrm>
          <a:prstGeom prst="ellipse">
            <a:avLst/>
          </a:prstGeom>
          <a:solidFill>
            <a:srgbClr val="EDF4FF"/>
          </a:solidFill>
          <a:ln/>
        </p:spPr>
      </p:sp>
      <p:sp>
        <p:nvSpPr>
          <p:cNvPr id="23" name="Text 21"/>
          <p:cNvSpPr/>
          <p:nvPr/>
        </p:nvSpPr>
        <p:spPr>
          <a:xfrm>
            <a:off x="1078992" y="47548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BTU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737360" y="473659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Dissipação de calor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737360" y="5065776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 calor gerado = menos carga de refrigeração (CRAC/cooling).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53128" y="4480560"/>
            <a:ext cx="3264408" cy="1417320"/>
          </a:xfrm>
          <a:prstGeom prst="roundRect">
            <a:avLst>
              <a:gd name="adj" fmla="val 5161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09160" y="4754880"/>
            <a:ext cx="512064" cy="512064"/>
          </a:xfrm>
          <a:prstGeom prst="ellipse">
            <a:avLst/>
          </a:prstGeom>
          <a:solidFill>
            <a:srgbClr val="EDF4FF"/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47548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SW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367528" y="473659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Rede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367528" y="5065776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 portas de switch, menos cabos e menos licenças de porta.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83296" y="4480560"/>
            <a:ext cx="3264408" cy="1417320"/>
          </a:xfrm>
          <a:prstGeom prst="roundRect">
            <a:avLst>
              <a:gd name="adj" fmla="val 5161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39328" y="4754880"/>
            <a:ext cx="512064" cy="512064"/>
          </a:xfrm>
          <a:prstGeom prst="ellipse">
            <a:avLst/>
          </a:prstGeom>
          <a:solidFill>
            <a:srgbClr val="EDF4FF"/>
          </a:solidFill>
          <a:ln/>
        </p:spPr>
      </p:sp>
      <p:sp>
        <p:nvSpPr>
          <p:cNvPr id="33" name="Text 31"/>
          <p:cNvSpPr/>
          <p:nvPr/>
        </p:nvSpPr>
        <p:spPr>
          <a:xfrm>
            <a:off x="8339328" y="47548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997696" y="473659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Operação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8997696" y="5065776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 servidores para provisionar, atualizar, fazer patch e monitorar.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QUE AGORA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 servidores. Menos energia. </a:t>
            </a:r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confiança.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Até 60% menor TCO, 75% menos espaço de data center, 50% menos energia e até 450 bilhões de inferências de IA por dia com 1 ms de resposta — enquanto o x86 fica mais caro.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SEÇÃO TÉCNICA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 o capô do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LinuxONE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engenharia por trás dos números: o processador Telum II, a hierarquia de cache, a arquitetura de I/O e os mecanismos de resiliência que o x86 não tem.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SISTEMA · IBM LINUXONE EMPEROR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único frame,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até 208 cores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4572000" cy="3657600"/>
          </a:xfrm>
          <a:prstGeom prst="roundRect">
            <a:avLst>
              <a:gd name="adj" fmla="val 15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machin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87552" y="2679192"/>
            <a:ext cx="4242816" cy="33284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35040" y="258775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208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995160" y="258775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dedicados à lógica de negócio, em até 4 drawers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035040" y="348386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384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995160" y="3483864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portas/canais de I/O (96 slots PCIe + 12 DPUs)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035040" y="43799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CoD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995160" y="437997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Capacity on Demand — ative cores e pague só pelo tempo ligado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035040" y="52760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995160" y="527608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manutenção e crescimento (up ou out) sem interrupção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 · EXPLORE EM 3D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Gire, aproxime e explore a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máquina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703320" y="2240280"/>
            <a:ext cx="4754880" cy="3200400"/>
          </a:xfrm>
          <a:prstGeom prst="roundRect">
            <a:avLst>
              <a:gd name="adj" fmla="val 2286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machine.jpg">
            <a:hlinkClick r:id="rId2" tooltip=""/>
      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886200" y="2423160"/>
            <a:ext cx="4389120" cy="2834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931920" y="246888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0F62FE"/>
          </a:solidFill>
          <a:ln/>
        </p:spPr>
      </p:sp>
      <p:sp>
        <p:nvSpPr>
          <p:cNvPr id="8" name="Text 5"/>
          <p:cNvSpPr/>
          <p:nvPr/>
        </p:nvSpPr>
        <p:spPr>
          <a:xfrm>
            <a:off x="3931920" y="24688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● INTERATIVO 3D</a:t>
            </a:r>
            <a:endParaRPr lang="en-US" sz="900" dirty="0"/>
          </a:p>
        </p:txBody>
      </p:sp>
      <p:sp>
        <p:nvSpPr>
          <p:cNvPr id="9" name="Shape 6">
            <a:hlinkClick r:id="rId3" tooltip=""/>
          </p:cNvPr>
          <p:cNvSpPr/>
          <p:nvPr/>
        </p:nvSpPr>
        <p:spPr>
          <a:xfrm>
            <a:off x="3611880" y="5715000"/>
            <a:ext cx="4937760" cy="502920"/>
          </a:xfrm>
          <a:prstGeom prst="roundRect">
            <a:avLst>
              <a:gd name="adj" fmla="val 49091"/>
            </a:avLst>
          </a:prstGeom>
          <a:solidFill>
            <a:srgbClr val="0F62FE"/>
          </a:solidFill>
          <a:ln/>
        </p:spPr>
      </p:sp>
      <p:sp>
        <p:nvSpPr>
          <p:cNvPr id="10" name="Text 7">
            <a:hlinkClick r:id="rId4" tooltip=""/>
          </p:cNvPr>
          <p:cNvSpPr/>
          <p:nvPr/>
        </p:nvSpPr>
        <p:spPr>
          <a:xfrm>
            <a:off x="3611880" y="57150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u="sng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Abrir visualizador 3D interativo da IBM  ↗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VISUALIZADOR IBM (KAON) · REQUER INTERNET · TAMBÉM DISPONÍVEL ANIMADO NO DECK HTML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PROCESSADOR · IBM TELUM II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nm, 5,5 GHz,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43 bilhões </a:t>
            </a:r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transistores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766560" y="2514600"/>
            <a:ext cx="4572000" cy="3657600"/>
          </a:xfrm>
          <a:prstGeom prst="roundRect">
            <a:avLst>
              <a:gd name="adj" fmla="val 15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di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31152" y="2679192"/>
            <a:ext cx="4242816" cy="33284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58775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783080" y="258775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por chip, 40% mais cache por core que a geração z16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348386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DPU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783080" y="3483864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I/O no chip — reduz a energia de I/O em mais de 90%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22960" y="43799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783080" y="437997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acelerador de IA de 2ª geração — 24 TOPS/chip, 768 TOPS/sistema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52760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24mi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783080" y="527608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milhas de fios condutores integrados em um único chip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ESTRUTURA DO CHIP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Cores, cache e aceleradores no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mesmo silício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4572000" cy="3657600"/>
          </a:xfrm>
          <a:prstGeom prst="roundRect">
            <a:avLst>
              <a:gd name="adj" fmla="val 15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chip-structur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87552" y="2679192"/>
            <a:ext cx="4242816" cy="33284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35040" y="258775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L2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995160" y="258775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 × 36 MB de cache L2 (2,7 ns) — um por core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035040" y="348386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vL3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995160" y="3483864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360 MB de cache virtual L3 (11,5 ns), formado a partir dos L2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035040" y="43799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vL4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995160" y="437997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2,88 GB de cache virtual L4 (48,5 ns), entre drawers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035040" y="52760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DPU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995160" y="527608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32 cores de I/O + acelerador de IA, ao lado dos cores de negócio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ARQUITETURA · LINUXONE VS INTEL X86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são só cores. São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coprocessadores.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4983480" cy="4343400"/>
          </a:xfrm>
          <a:prstGeom prst="roundRect">
            <a:avLst>
              <a:gd name="adj" fmla="val 1684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5080" y="1874520"/>
            <a:ext cx="4983480" cy="4343400"/>
          </a:xfrm>
          <a:prstGeom prst="roundRect">
            <a:avLst>
              <a:gd name="adj" fmla="val 1684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207568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IBM LinuxONE · </a:t>
            </a:r>
            <a:pPr indent="0" marL="0">
              <a:buNone/>
            </a:pPr>
            <a:r>
              <a:rPr lang="en-US" sz="18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266 processadores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2459736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SISTEMA · CONFIGURAÇÃO MÁXIMA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1430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" name="Shape 8"/>
          <p:cNvSpPr/>
          <p:nvPr/>
        </p:nvSpPr>
        <p:spPr>
          <a:xfrm>
            <a:off x="12801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" name="Shape 9"/>
          <p:cNvSpPr/>
          <p:nvPr/>
        </p:nvSpPr>
        <p:spPr>
          <a:xfrm>
            <a:off x="14173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" name="Shape 10"/>
          <p:cNvSpPr/>
          <p:nvPr/>
        </p:nvSpPr>
        <p:spPr>
          <a:xfrm>
            <a:off x="15544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16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" name="Shape 12"/>
          <p:cNvSpPr/>
          <p:nvPr/>
        </p:nvSpPr>
        <p:spPr>
          <a:xfrm>
            <a:off x="18288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" name="Shape 13"/>
          <p:cNvSpPr/>
          <p:nvPr/>
        </p:nvSpPr>
        <p:spPr>
          <a:xfrm>
            <a:off x="19659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" name="Shape 14"/>
          <p:cNvSpPr/>
          <p:nvPr/>
        </p:nvSpPr>
        <p:spPr>
          <a:xfrm>
            <a:off x="21031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" name="Shape 15"/>
          <p:cNvSpPr/>
          <p:nvPr/>
        </p:nvSpPr>
        <p:spPr>
          <a:xfrm>
            <a:off x="22402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" name="Shape 16"/>
          <p:cNvSpPr/>
          <p:nvPr/>
        </p:nvSpPr>
        <p:spPr>
          <a:xfrm>
            <a:off x="23774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" name="Shape 17"/>
          <p:cNvSpPr/>
          <p:nvPr/>
        </p:nvSpPr>
        <p:spPr>
          <a:xfrm>
            <a:off x="25146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" name="Shape 18"/>
          <p:cNvSpPr/>
          <p:nvPr/>
        </p:nvSpPr>
        <p:spPr>
          <a:xfrm>
            <a:off x="26517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" name="Shape 19"/>
          <p:cNvSpPr/>
          <p:nvPr/>
        </p:nvSpPr>
        <p:spPr>
          <a:xfrm>
            <a:off x="27889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2" name="Shape 20"/>
          <p:cNvSpPr/>
          <p:nvPr/>
        </p:nvSpPr>
        <p:spPr>
          <a:xfrm>
            <a:off x="29260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3" name="Shape 21"/>
          <p:cNvSpPr/>
          <p:nvPr/>
        </p:nvSpPr>
        <p:spPr>
          <a:xfrm>
            <a:off x="30632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5" name="Shape 23"/>
          <p:cNvSpPr/>
          <p:nvPr/>
        </p:nvSpPr>
        <p:spPr>
          <a:xfrm>
            <a:off x="33375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6" name="Shape 24"/>
          <p:cNvSpPr/>
          <p:nvPr/>
        </p:nvSpPr>
        <p:spPr>
          <a:xfrm>
            <a:off x="34747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7" name="Shape 25"/>
          <p:cNvSpPr/>
          <p:nvPr/>
        </p:nvSpPr>
        <p:spPr>
          <a:xfrm>
            <a:off x="36118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8" name="Shape 26"/>
          <p:cNvSpPr/>
          <p:nvPr/>
        </p:nvSpPr>
        <p:spPr>
          <a:xfrm>
            <a:off x="37490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" name="Shape 27"/>
          <p:cNvSpPr/>
          <p:nvPr/>
        </p:nvSpPr>
        <p:spPr>
          <a:xfrm>
            <a:off x="38862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" name="Shape 28"/>
          <p:cNvSpPr/>
          <p:nvPr/>
        </p:nvSpPr>
        <p:spPr>
          <a:xfrm>
            <a:off x="40233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" name="Shape 29"/>
          <p:cNvSpPr/>
          <p:nvPr/>
        </p:nvSpPr>
        <p:spPr>
          <a:xfrm>
            <a:off x="41605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" name="Shape 30"/>
          <p:cNvSpPr/>
          <p:nvPr/>
        </p:nvSpPr>
        <p:spPr>
          <a:xfrm>
            <a:off x="42976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" name="Shape 31"/>
          <p:cNvSpPr/>
          <p:nvPr/>
        </p:nvSpPr>
        <p:spPr>
          <a:xfrm>
            <a:off x="44348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20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5" name="Shape 33"/>
          <p:cNvSpPr/>
          <p:nvPr/>
        </p:nvSpPr>
        <p:spPr>
          <a:xfrm>
            <a:off x="47091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63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7" name="Shape 35"/>
          <p:cNvSpPr/>
          <p:nvPr/>
        </p:nvSpPr>
        <p:spPr>
          <a:xfrm>
            <a:off x="49834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8" name="Shape 36"/>
          <p:cNvSpPr/>
          <p:nvPr/>
        </p:nvSpPr>
        <p:spPr>
          <a:xfrm>
            <a:off x="51206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9" name="Shape 37"/>
          <p:cNvSpPr/>
          <p:nvPr/>
        </p:nvSpPr>
        <p:spPr>
          <a:xfrm>
            <a:off x="52578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0" name="Shape 38"/>
          <p:cNvSpPr/>
          <p:nvPr/>
        </p:nvSpPr>
        <p:spPr>
          <a:xfrm>
            <a:off x="11430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1" name="Shape 39"/>
          <p:cNvSpPr/>
          <p:nvPr/>
        </p:nvSpPr>
        <p:spPr>
          <a:xfrm>
            <a:off x="12801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2" name="Shape 40"/>
          <p:cNvSpPr/>
          <p:nvPr/>
        </p:nvSpPr>
        <p:spPr>
          <a:xfrm>
            <a:off x="14173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3" name="Shape 41"/>
          <p:cNvSpPr/>
          <p:nvPr/>
        </p:nvSpPr>
        <p:spPr>
          <a:xfrm>
            <a:off x="15544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4" name="Shape 42"/>
          <p:cNvSpPr/>
          <p:nvPr/>
        </p:nvSpPr>
        <p:spPr>
          <a:xfrm>
            <a:off x="16916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5" name="Shape 43"/>
          <p:cNvSpPr/>
          <p:nvPr/>
        </p:nvSpPr>
        <p:spPr>
          <a:xfrm>
            <a:off x="18288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6" name="Shape 44"/>
          <p:cNvSpPr/>
          <p:nvPr/>
        </p:nvSpPr>
        <p:spPr>
          <a:xfrm>
            <a:off x="19659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7" name="Shape 45"/>
          <p:cNvSpPr/>
          <p:nvPr/>
        </p:nvSpPr>
        <p:spPr>
          <a:xfrm>
            <a:off x="21031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8" name="Shape 46"/>
          <p:cNvSpPr/>
          <p:nvPr/>
        </p:nvSpPr>
        <p:spPr>
          <a:xfrm>
            <a:off x="22402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9" name="Shape 47"/>
          <p:cNvSpPr/>
          <p:nvPr/>
        </p:nvSpPr>
        <p:spPr>
          <a:xfrm>
            <a:off x="23774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0" name="Shape 48"/>
          <p:cNvSpPr/>
          <p:nvPr/>
        </p:nvSpPr>
        <p:spPr>
          <a:xfrm>
            <a:off x="25146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1" name="Shape 49"/>
          <p:cNvSpPr/>
          <p:nvPr/>
        </p:nvSpPr>
        <p:spPr>
          <a:xfrm>
            <a:off x="26517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2" name="Shape 50"/>
          <p:cNvSpPr/>
          <p:nvPr/>
        </p:nvSpPr>
        <p:spPr>
          <a:xfrm>
            <a:off x="27889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3" name="Shape 51"/>
          <p:cNvSpPr/>
          <p:nvPr/>
        </p:nvSpPr>
        <p:spPr>
          <a:xfrm>
            <a:off x="29260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4" name="Shape 52"/>
          <p:cNvSpPr/>
          <p:nvPr/>
        </p:nvSpPr>
        <p:spPr>
          <a:xfrm>
            <a:off x="30632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5" name="Shape 53"/>
          <p:cNvSpPr/>
          <p:nvPr/>
        </p:nvSpPr>
        <p:spPr>
          <a:xfrm>
            <a:off x="32004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6" name="Shape 54"/>
          <p:cNvSpPr/>
          <p:nvPr/>
        </p:nvSpPr>
        <p:spPr>
          <a:xfrm>
            <a:off x="33375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7" name="Shape 55"/>
          <p:cNvSpPr/>
          <p:nvPr/>
        </p:nvSpPr>
        <p:spPr>
          <a:xfrm>
            <a:off x="34747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8" name="Shape 56"/>
          <p:cNvSpPr/>
          <p:nvPr/>
        </p:nvSpPr>
        <p:spPr>
          <a:xfrm>
            <a:off x="36118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9" name="Shape 57"/>
          <p:cNvSpPr/>
          <p:nvPr/>
        </p:nvSpPr>
        <p:spPr>
          <a:xfrm>
            <a:off x="37490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0" name="Shape 58"/>
          <p:cNvSpPr/>
          <p:nvPr/>
        </p:nvSpPr>
        <p:spPr>
          <a:xfrm>
            <a:off x="38862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1" name="Shape 59"/>
          <p:cNvSpPr/>
          <p:nvPr/>
        </p:nvSpPr>
        <p:spPr>
          <a:xfrm>
            <a:off x="40233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2" name="Shape 60"/>
          <p:cNvSpPr/>
          <p:nvPr/>
        </p:nvSpPr>
        <p:spPr>
          <a:xfrm>
            <a:off x="41605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3" name="Shape 61"/>
          <p:cNvSpPr/>
          <p:nvPr/>
        </p:nvSpPr>
        <p:spPr>
          <a:xfrm>
            <a:off x="42976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4" name="Shape 62"/>
          <p:cNvSpPr/>
          <p:nvPr/>
        </p:nvSpPr>
        <p:spPr>
          <a:xfrm>
            <a:off x="44348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5" name="Shape 63"/>
          <p:cNvSpPr/>
          <p:nvPr/>
        </p:nvSpPr>
        <p:spPr>
          <a:xfrm>
            <a:off x="45720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6" name="Shape 64"/>
          <p:cNvSpPr/>
          <p:nvPr/>
        </p:nvSpPr>
        <p:spPr>
          <a:xfrm>
            <a:off x="47091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7" name="Shape 65"/>
          <p:cNvSpPr/>
          <p:nvPr/>
        </p:nvSpPr>
        <p:spPr>
          <a:xfrm>
            <a:off x="48463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8" name="Shape 66"/>
          <p:cNvSpPr/>
          <p:nvPr/>
        </p:nvSpPr>
        <p:spPr>
          <a:xfrm>
            <a:off x="49834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9" name="Shape 67"/>
          <p:cNvSpPr/>
          <p:nvPr/>
        </p:nvSpPr>
        <p:spPr>
          <a:xfrm>
            <a:off x="51206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0" name="Shape 68"/>
          <p:cNvSpPr/>
          <p:nvPr/>
        </p:nvSpPr>
        <p:spPr>
          <a:xfrm>
            <a:off x="52578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1" name="Shape 69"/>
          <p:cNvSpPr/>
          <p:nvPr/>
        </p:nvSpPr>
        <p:spPr>
          <a:xfrm>
            <a:off x="11430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2" name="Shape 70"/>
          <p:cNvSpPr/>
          <p:nvPr/>
        </p:nvSpPr>
        <p:spPr>
          <a:xfrm>
            <a:off x="12801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3" name="Shape 71"/>
          <p:cNvSpPr/>
          <p:nvPr/>
        </p:nvSpPr>
        <p:spPr>
          <a:xfrm>
            <a:off x="14173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4" name="Shape 72"/>
          <p:cNvSpPr/>
          <p:nvPr/>
        </p:nvSpPr>
        <p:spPr>
          <a:xfrm>
            <a:off x="15544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5" name="Shape 73"/>
          <p:cNvSpPr/>
          <p:nvPr/>
        </p:nvSpPr>
        <p:spPr>
          <a:xfrm>
            <a:off x="16916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6" name="Shape 74"/>
          <p:cNvSpPr/>
          <p:nvPr/>
        </p:nvSpPr>
        <p:spPr>
          <a:xfrm>
            <a:off x="18288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7" name="Shape 75"/>
          <p:cNvSpPr/>
          <p:nvPr/>
        </p:nvSpPr>
        <p:spPr>
          <a:xfrm>
            <a:off x="19659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8" name="Shape 76"/>
          <p:cNvSpPr/>
          <p:nvPr/>
        </p:nvSpPr>
        <p:spPr>
          <a:xfrm>
            <a:off x="21031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9" name="Shape 77"/>
          <p:cNvSpPr/>
          <p:nvPr/>
        </p:nvSpPr>
        <p:spPr>
          <a:xfrm>
            <a:off x="22402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0" name="Shape 78"/>
          <p:cNvSpPr/>
          <p:nvPr/>
        </p:nvSpPr>
        <p:spPr>
          <a:xfrm>
            <a:off x="23774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1" name="Shape 79"/>
          <p:cNvSpPr/>
          <p:nvPr/>
        </p:nvSpPr>
        <p:spPr>
          <a:xfrm>
            <a:off x="25146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2" name="Shape 80"/>
          <p:cNvSpPr/>
          <p:nvPr/>
        </p:nvSpPr>
        <p:spPr>
          <a:xfrm>
            <a:off x="26517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3" name="Shape 81"/>
          <p:cNvSpPr/>
          <p:nvPr/>
        </p:nvSpPr>
        <p:spPr>
          <a:xfrm>
            <a:off x="27889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4" name="Shape 82"/>
          <p:cNvSpPr/>
          <p:nvPr/>
        </p:nvSpPr>
        <p:spPr>
          <a:xfrm>
            <a:off x="29260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5" name="Shape 83"/>
          <p:cNvSpPr/>
          <p:nvPr/>
        </p:nvSpPr>
        <p:spPr>
          <a:xfrm>
            <a:off x="30632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6" name="Shape 84"/>
          <p:cNvSpPr/>
          <p:nvPr/>
        </p:nvSpPr>
        <p:spPr>
          <a:xfrm>
            <a:off x="32004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7" name="Shape 85"/>
          <p:cNvSpPr/>
          <p:nvPr/>
        </p:nvSpPr>
        <p:spPr>
          <a:xfrm>
            <a:off x="33375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8" name="Shape 86"/>
          <p:cNvSpPr/>
          <p:nvPr/>
        </p:nvSpPr>
        <p:spPr>
          <a:xfrm>
            <a:off x="34747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9" name="Shape 87"/>
          <p:cNvSpPr/>
          <p:nvPr/>
        </p:nvSpPr>
        <p:spPr>
          <a:xfrm>
            <a:off x="36118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0" name="Shape 88"/>
          <p:cNvSpPr/>
          <p:nvPr/>
        </p:nvSpPr>
        <p:spPr>
          <a:xfrm>
            <a:off x="37490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1" name="Shape 89"/>
          <p:cNvSpPr/>
          <p:nvPr/>
        </p:nvSpPr>
        <p:spPr>
          <a:xfrm>
            <a:off x="38862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2" name="Shape 90"/>
          <p:cNvSpPr/>
          <p:nvPr/>
        </p:nvSpPr>
        <p:spPr>
          <a:xfrm>
            <a:off x="40233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3" name="Shape 91"/>
          <p:cNvSpPr/>
          <p:nvPr/>
        </p:nvSpPr>
        <p:spPr>
          <a:xfrm>
            <a:off x="41605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4" name="Shape 92"/>
          <p:cNvSpPr/>
          <p:nvPr/>
        </p:nvSpPr>
        <p:spPr>
          <a:xfrm>
            <a:off x="42976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5" name="Shape 93"/>
          <p:cNvSpPr/>
          <p:nvPr/>
        </p:nvSpPr>
        <p:spPr>
          <a:xfrm>
            <a:off x="44348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6" name="Shape 94"/>
          <p:cNvSpPr/>
          <p:nvPr/>
        </p:nvSpPr>
        <p:spPr>
          <a:xfrm>
            <a:off x="45720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7" name="Shape 95"/>
          <p:cNvSpPr/>
          <p:nvPr/>
        </p:nvSpPr>
        <p:spPr>
          <a:xfrm>
            <a:off x="47091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8" name="Shape 96"/>
          <p:cNvSpPr/>
          <p:nvPr/>
        </p:nvSpPr>
        <p:spPr>
          <a:xfrm>
            <a:off x="48463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9" name="Shape 97"/>
          <p:cNvSpPr/>
          <p:nvPr/>
        </p:nvSpPr>
        <p:spPr>
          <a:xfrm>
            <a:off x="49834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0" name="Shape 98"/>
          <p:cNvSpPr/>
          <p:nvPr/>
        </p:nvSpPr>
        <p:spPr>
          <a:xfrm>
            <a:off x="51206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1" name="Shape 99"/>
          <p:cNvSpPr/>
          <p:nvPr/>
        </p:nvSpPr>
        <p:spPr>
          <a:xfrm>
            <a:off x="52578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11430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2801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4173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15544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6916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8288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9659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1031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2402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3774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5146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26517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7889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9260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0632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2004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3375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4747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6118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7490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8862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0233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1605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2976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348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5720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7091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8463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9834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1206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2578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11430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4" name="Shape 132"/>
          <p:cNvSpPr/>
          <p:nvPr/>
        </p:nvSpPr>
        <p:spPr>
          <a:xfrm>
            <a:off x="12801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14173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15544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16916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18288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9659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1031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2402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2" name="Shape 140"/>
          <p:cNvSpPr/>
          <p:nvPr/>
        </p:nvSpPr>
        <p:spPr>
          <a:xfrm>
            <a:off x="23774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3" name="Shape 141"/>
          <p:cNvSpPr/>
          <p:nvPr/>
        </p:nvSpPr>
        <p:spPr>
          <a:xfrm>
            <a:off x="25146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4" name="Shape 142"/>
          <p:cNvSpPr/>
          <p:nvPr/>
        </p:nvSpPr>
        <p:spPr>
          <a:xfrm>
            <a:off x="26517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27889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29260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30632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32004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33375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34747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1" name="Shape 149"/>
          <p:cNvSpPr/>
          <p:nvPr/>
        </p:nvSpPr>
        <p:spPr>
          <a:xfrm>
            <a:off x="36118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2" name="Shape 150"/>
          <p:cNvSpPr/>
          <p:nvPr/>
        </p:nvSpPr>
        <p:spPr>
          <a:xfrm>
            <a:off x="37490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3" name="Shape 151"/>
          <p:cNvSpPr/>
          <p:nvPr/>
        </p:nvSpPr>
        <p:spPr>
          <a:xfrm>
            <a:off x="38862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0233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41605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42976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4348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5720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7091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8463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9834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1206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2578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1430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2801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4173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15544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6916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18288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0" name="Shape 168"/>
          <p:cNvSpPr/>
          <p:nvPr/>
        </p:nvSpPr>
        <p:spPr>
          <a:xfrm>
            <a:off x="19659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1" name="Shape 169"/>
          <p:cNvSpPr/>
          <p:nvPr/>
        </p:nvSpPr>
        <p:spPr>
          <a:xfrm>
            <a:off x="21031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2" name="Shape 170"/>
          <p:cNvSpPr/>
          <p:nvPr/>
        </p:nvSpPr>
        <p:spPr>
          <a:xfrm>
            <a:off x="22402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23774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25146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26517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27889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29260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30632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9" name="Shape 177"/>
          <p:cNvSpPr/>
          <p:nvPr/>
        </p:nvSpPr>
        <p:spPr>
          <a:xfrm>
            <a:off x="32004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0" name="Shape 178"/>
          <p:cNvSpPr/>
          <p:nvPr/>
        </p:nvSpPr>
        <p:spPr>
          <a:xfrm>
            <a:off x="33375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1" name="Shape 179"/>
          <p:cNvSpPr/>
          <p:nvPr/>
        </p:nvSpPr>
        <p:spPr>
          <a:xfrm>
            <a:off x="34747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2" name="Shape 180"/>
          <p:cNvSpPr/>
          <p:nvPr/>
        </p:nvSpPr>
        <p:spPr>
          <a:xfrm>
            <a:off x="36118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37490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38862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40233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41605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42976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44348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9" name="Shape 187"/>
          <p:cNvSpPr/>
          <p:nvPr/>
        </p:nvSpPr>
        <p:spPr>
          <a:xfrm>
            <a:off x="45720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0" name="Shape 188"/>
          <p:cNvSpPr/>
          <p:nvPr/>
        </p:nvSpPr>
        <p:spPr>
          <a:xfrm>
            <a:off x="47091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1" name="Shape 189"/>
          <p:cNvSpPr/>
          <p:nvPr/>
        </p:nvSpPr>
        <p:spPr>
          <a:xfrm>
            <a:off x="48463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49834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1206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2578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11430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2801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14173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8" name="Shape 196"/>
          <p:cNvSpPr/>
          <p:nvPr/>
        </p:nvSpPr>
        <p:spPr>
          <a:xfrm>
            <a:off x="15544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9" name="Shape 197"/>
          <p:cNvSpPr/>
          <p:nvPr/>
        </p:nvSpPr>
        <p:spPr>
          <a:xfrm>
            <a:off x="16916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0" name="Shape 198"/>
          <p:cNvSpPr/>
          <p:nvPr/>
        </p:nvSpPr>
        <p:spPr>
          <a:xfrm>
            <a:off x="18288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1" name="Shape 199"/>
          <p:cNvSpPr/>
          <p:nvPr/>
        </p:nvSpPr>
        <p:spPr>
          <a:xfrm>
            <a:off x="19659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21031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22402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23774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25146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26517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27889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8" name="Shape 206"/>
          <p:cNvSpPr/>
          <p:nvPr/>
        </p:nvSpPr>
        <p:spPr>
          <a:xfrm>
            <a:off x="29260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9" name="Shape 207"/>
          <p:cNvSpPr/>
          <p:nvPr/>
        </p:nvSpPr>
        <p:spPr>
          <a:xfrm>
            <a:off x="30632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0" name="Shape 208"/>
          <p:cNvSpPr/>
          <p:nvPr/>
        </p:nvSpPr>
        <p:spPr>
          <a:xfrm>
            <a:off x="32004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33375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34747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36118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37490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38862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40233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7" name="Shape 215"/>
          <p:cNvSpPr/>
          <p:nvPr/>
        </p:nvSpPr>
        <p:spPr>
          <a:xfrm>
            <a:off x="41605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18" name="Shape 216"/>
          <p:cNvSpPr/>
          <p:nvPr/>
        </p:nvSpPr>
        <p:spPr>
          <a:xfrm>
            <a:off x="42976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19" name="Shape 217"/>
          <p:cNvSpPr/>
          <p:nvPr/>
        </p:nvSpPr>
        <p:spPr>
          <a:xfrm>
            <a:off x="44348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0" name="Shape 218"/>
          <p:cNvSpPr/>
          <p:nvPr/>
        </p:nvSpPr>
        <p:spPr>
          <a:xfrm>
            <a:off x="45720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1" name="Shape 219"/>
          <p:cNvSpPr/>
          <p:nvPr/>
        </p:nvSpPr>
        <p:spPr>
          <a:xfrm>
            <a:off x="47091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2" name="Shape 220"/>
          <p:cNvSpPr/>
          <p:nvPr/>
        </p:nvSpPr>
        <p:spPr>
          <a:xfrm>
            <a:off x="48463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3" name="Shape 221"/>
          <p:cNvSpPr/>
          <p:nvPr/>
        </p:nvSpPr>
        <p:spPr>
          <a:xfrm>
            <a:off x="49834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4" name="Shape 222"/>
          <p:cNvSpPr/>
          <p:nvPr/>
        </p:nvSpPr>
        <p:spPr>
          <a:xfrm>
            <a:off x="51206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5" name="Shape 223"/>
          <p:cNvSpPr/>
          <p:nvPr/>
        </p:nvSpPr>
        <p:spPr>
          <a:xfrm>
            <a:off x="52578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6" name="Shape 224"/>
          <p:cNvSpPr/>
          <p:nvPr/>
        </p:nvSpPr>
        <p:spPr>
          <a:xfrm>
            <a:off x="11430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7" name="Shape 225"/>
          <p:cNvSpPr/>
          <p:nvPr/>
        </p:nvSpPr>
        <p:spPr>
          <a:xfrm>
            <a:off x="12801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8" name="Shape 226"/>
          <p:cNvSpPr/>
          <p:nvPr/>
        </p:nvSpPr>
        <p:spPr>
          <a:xfrm>
            <a:off x="14173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9" name="Shape 227"/>
          <p:cNvSpPr/>
          <p:nvPr/>
        </p:nvSpPr>
        <p:spPr>
          <a:xfrm>
            <a:off x="15544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0" name="Shape 228"/>
          <p:cNvSpPr/>
          <p:nvPr/>
        </p:nvSpPr>
        <p:spPr>
          <a:xfrm>
            <a:off x="16916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1" name="Shape 229"/>
          <p:cNvSpPr/>
          <p:nvPr/>
        </p:nvSpPr>
        <p:spPr>
          <a:xfrm>
            <a:off x="18288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2" name="Shape 230"/>
          <p:cNvSpPr/>
          <p:nvPr/>
        </p:nvSpPr>
        <p:spPr>
          <a:xfrm>
            <a:off x="19659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3" name="Shape 231"/>
          <p:cNvSpPr/>
          <p:nvPr/>
        </p:nvSpPr>
        <p:spPr>
          <a:xfrm>
            <a:off x="21031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4" name="Shape 232"/>
          <p:cNvSpPr/>
          <p:nvPr/>
        </p:nvSpPr>
        <p:spPr>
          <a:xfrm>
            <a:off x="22402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5" name="Shape 233"/>
          <p:cNvSpPr/>
          <p:nvPr/>
        </p:nvSpPr>
        <p:spPr>
          <a:xfrm>
            <a:off x="23774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6" name="Shape 234"/>
          <p:cNvSpPr/>
          <p:nvPr/>
        </p:nvSpPr>
        <p:spPr>
          <a:xfrm>
            <a:off x="25146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7" name="Shape 235"/>
          <p:cNvSpPr/>
          <p:nvPr/>
        </p:nvSpPr>
        <p:spPr>
          <a:xfrm>
            <a:off x="26517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8" name="Shape 236"/>
          <p:cNvSpPr/>
          <p:nvPr/>
        </p:nvSpPr>
        <p:spPr>
          <a:xfrm>
            <a:off x="27889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9" name="Shape 237"/>
          <p:cNvSpPr/>
          <p:nvPr/>
        </p:nvSpPr>
        <p:spPr>
          <a:xfrm>
            <a:off x="29260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40" name="Shape 238"/>
          <p:cNvSpPr/>
          <p:nvPr/>
        </p:nvSpPr>
        <p:spPr>
          <a:xfrm>
            <a:off x="30632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41" name="Shape 239"/>
          <p:cNvSpPr/>
          <p:nvPr/>
        </p:nvSpPr>
        <p:spPr>
          <a:xfrm>
            <a:off x="32004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2" name="Shape 240"/>
          <p:cNvSpPr/>
          <p:nvPr/>
        </p:nvSpPr>
        <p:spPr>
          <a:xfrm>
            <a:off x="33375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3" name="Shape 241"/>
          <p:cNvSpPr/>
          <p:nvPr/>
        </p:nvSpPr>
        <p:spPr>
          <a:xfrm>
            <a:off x="34747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4" name="Shape 242"/>
          <p:cNvSpPr/>
          <p:nvPr/>
        </p:nvSpPr>
        <p:spPr>
          <a:xfrm>
            <a:off x="36118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7490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6" name="Shape 244"/>
          <p:cNvSpPr/>
          <p:nvPr/>
        </p:nvSpPr>
        <p:spPr>
          <a:xfrm>
            <a:off x="38862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7" name="Shape 245"/>
          <p:cNvSpPr/>
          <p:nvPr/>
        </p:nvSpPr>
        <p:spPr>
          <a:xfrm>
            <a:off x="40233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8" name="Shape 246"/>
          <p:cNvSpPr/>
          <p:nvPr/>
        </p:nvSpPr>
        <p:spPr>
          <a:xfrm>
            <a:off x="41605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9" name="Shape 247"/>
          <p:cNvSpPr/>
          <p:nvPr/>
        </p:nvSpPr>
        <p:spPr>
          <a:xfrm>
            <a:off x="42976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0" name="Shape 248"/>
          <p:cNvSpPr/>
          <p:nvPr/>
        </p:nvSpPr>
        <p:spPr>
          <a:xfrm>
            <a:off x="44348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1" name="Shape 249"/>
          <p:cNvSpPr/>
          <p:nvPr/>
        </p:nvSpPr>
        <p:spPr>
          <a:xfrm>
            <a:off x="45720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2" name="Shape 250"/>
          <p:cNvSpPr/>
          <p:nvPr/>
        </p:nvSpPr>
        <p:spPr>
          <a:xfrm>
            <a:off x="47091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3" name="Shape 251"/>
          <p:cNvSpPr/>
          <p:nvPr/>
        </p:nvSpPr>
        <p:spPr>
          <a:xfrm>
            <a:off x="48463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4" name="Shape 252"/>
          <p:cNvSpPr/>
          <p:nvPr/>
        </p:nvSpPr>
        <p:spPr>
          <a:xfrm>
            <a:off x="49834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1206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2578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7" name="Shape 255"/>
          <p:cNvSpPr/>
          <p:nvPr/>
        </p:nvSpPr>
        <p:spPr>
          <a:xfrm>
            <a:off x="11430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8" name="Shape 256"/>
          <p:cNvSpPr/>
          <p:nvPr/>
        </p:nvSpPr>
        <p:spPr>
          <a:xfrm>
            <a:off x="12801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9" name="Shape 257"/>
          <p:cNvSpPr/>
          <p:nvPr/>
        </p:nvSpPr>
        <p:spPr>
          <a:xfrm>
            <a:off x="14173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0" name="Shape 258"/>
          <p:cNvSpPr/>
          <p:nvPr/>
        </p:nvSpPr>
        <p:spPr>
          <a:xfrm>
            <a:off x="155448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1" name="Shape 259"/>
          <p:cNvSpPr/>
          <p:nvPr/>
        </p:nvSpPr>
        <p:spPr>
          <a:xfrm>
            <a:off x="169164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2" name="Shape 260"/>
          <p:cNvSpPr/>
          <p:nvPr/>
        </p:nvSpPr>
        <p:spPr>
          <a:xfrm>
            <a:off x="18288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9659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4" name="Shape 262"/>
          <p:cNvSpPr/>
          <p:nvPr/>
        </p:nvSpPr>
        <p:spPr>
          <a:xfrm>
            <a:off x="21031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5" name="Shape 263"/>
          <p:cNvSpPr/>
          <p:nvPr/>
        </p:nvSpPr>
        <p:spPr>
          <a:xfrm>
            <a:off x="224028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6" name="Shape 264"/>
          <p:cNvSpPr/>
          <p:nvPr/>
        </p:nvSpPr>
        <p:spPr>
          <a:xfrm>
            <a:off x="237744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7" name="Shape 265"/>
          <p:cNvSpPr/>
          <p:nvPr/>
        </p:nvSpPr>
        <p:spPr>
          <a:xfrm>
            <a:off x="25146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8" name="Shape 266"/>
          <p:cNvSpPr/>
          <p:nvPr/>
        </p:nvSpPr>
        <p:spPr>
          <a:xfrm>
            <a:off x="26517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9" name="Shape 267"/>
          <p:cNvSpPr/>
          <p:nvPr/>
        </p:nvSpPr>
        <p:spPr>
          <a:xfrm>
            <a:off x="27889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0" name="Shape 268"/>
          <p:cNvSpPr/>
          <p:nvPr/>
        </p:nvSpPr>
        <p:spPr>
          <a:xfrm>
            <a:off x="292608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1" name="Shape 269"/>
          <p:cNvSpPr/>
          <p:nvPr/>
        </p:nvSpPr>
        <p:spPr>
          <a:xfrm>
            <a:off x="306324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2" name="Shape 270"/>
          <p:cNvSpPr/>
          <p:nvPr/>
        </p:nvSpPr>
        <p:spPr>
          <a:xfrm>
            <a:off x="32004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3" name="Shape 271"/>
          <p:cNvSpPr/>
          <p:nvPr/>
        </p:nvSpPr>
        <p:spPr>
          <a:xfrm>
            <a:off x="33375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274" name="Shape 272"/>
          <p:cNvSpPr/>
          <p:nvPr/>
        </p:nvSpPr>
        <p:spPr>
          <a:xfrm>
            <a:off x="34747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275" name="Shape 273"/>
          <p:cNvSpPr/>
          <p:nvPr/>
        </p:nvSpPr>
        <p:spPr>
          <a:xfrm>
            <a:off x="1143000" y="423367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F62FE"/>
          </a:solidFill>
          <a:ln/>
        </p:spPr>
      </p:sp>
      <p:sp>
        <p:nvSpPr>
          <p:cNvPr id="276" name="Text 274"/>
          <p:cNvSpPr/>
          <p:nvPr/>
        </p:nvSpPr>
        <p:spPr>
          <a:xfrm>
            <a:off x="1417320" y="41696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de negócio</a:t>
            </a:r>
            <a:endParaRPr lang="en-US" sz="1250" dirty="0"/>
          </a:p>
        </p:txBody>
      </p:sp>
      <p:sp>
        <p:nvSpPr>
          <p:cNvPr id="277" name="Text 275"/>
          <p:cNvSpPr/>
          <p:nvPr/>
        </p:nvSpPr>
        <p:spPr>
          <a:xfrm>
            <a:off x="4937760" y="41696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208</a:t>
            </a:r>
            <a:endParaRPr lang="en-US" sz="1250" dirty="0"/>
          </a:p>
        </p:txBody>
      </p:sp>
      <p:sp>
        <p:nvSpPr>
          <p:cNvPr id="278" name="Shape 276"/>
          <p:cNvSpPr/>
          <p:nvPr/>
        </p:nvSpPr>
        <p:spPr>
          <a:xfrm>
            <a:off x="1143000" y="450799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07D79"/>
          </a:solidFill>
          <a:ln/>
        </p:spPr>
      </p:sp>
      <p:sp>
        <p:nvSpPr>
          <p:cNvPr id="279" name="Text 277"/>
          <p:cNvSpPr/>
          <p:nvPr/>
        </p:nvSpPr>
        <p:spPr>
          <a:xfrm>
            <a:off x="1417320" y="44439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Processadores de I/O (SAP)</a:t>
            </a:r>
            <a:endParaRPr lang="en-US" sz="1250" dirty="0"/>
          </a:p>
        </p:txBody>
      </p:sp>
      <p:sp>
        <p:nvSpPr>
          <p:cNvPr id="280" name="Text 278"/>
          <p:cNvSpPr/>
          <p:nvPr/>
        </p:nvSpPr>
        <p:spPr>
          <a:xfrm>
            <a:off x="4937760" y="444398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</a:t>
            </a:r>
            <a:endParaRPr lang="en-US" sz="1250" dirty="0"/>
          </a:p>
        </p:txBody>
      </p:sp>
      <p:sp>
        <p:nvSpPr>
          <p:cNvPr id="281" name="Shape 279"/>
          <p:cNvSpPr/>
          <p:nvPr/>
        </p:nvSpPr>
        <p:spPr>
          <a:xfrm>
            <a:off x="1143000" y="478231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8A3FFC"/>
          </a:solidFill>
          <a:ln/>
        </p:spPr>
      </p:sp>
      <p:sp>
        <p:nvSpPr>
          <p:cNvPr id="282" name="Text 280"/>
          <p:cNvSpPr/>
          <p:nvPr/>
        </p:nvSpPr>
        <p:spPr>
          <a:xfrm>
            <a:off x="1417320" y="47183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DPU — I/O no chip</a:t>
            </a:r>
            <a:endParaRPr lang="en-US" sz="1250" dirty="0"/>
          </a:p>
        </p:txBody>
      </p:sp>
      <p:sp>
        <p:nvSpPr>
          <p:cNvPr id="283" name="Text 281"/>
          <p:cNvSpPr/>
          <p:nvPr/>
        </p:nvSpPr>
        <p:spPr>
          <a:xfrm>
            <a:off x="4937760" y="47183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32</a:t>
            </a:r>
            <a:endParaRPr lang="en-US" sz="1250" dirty="0"/>
          </a:p>
        </p:txBody>
      </p:sp>
      <p:sp>
        <p:nvSpPr>
          <p:cNvPr id="284" name="Shape 282"/>
          <p:cNvSpPr/>
          <p:nvPr/>
        </p:nvSpPr>
        <p:spPr>
          <a:xfrm>
            <a:off x="1143000" y="505663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A8A8A8"/>
          </a:solidFill>
          <a:ln/>
        </p:spPr>
      </p:sp>
      <p:sp>
        <p:nvSpPr>
          <p:cNvPr id="285" name="Text 283"/>
          <p:cNvSpPr/>
          <p:nvPr/>
        </p:nvSpPr>
        <p:spPr>
          <a:xfrm>
            <a:off x="1417320" y="49926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spare</a:t>
            </a:r>
            <a:endParaRPr lang="en-US" sz="1250" dirty="0"/>
          </a:p>
        </p:txBody>
      </p:sp>
      <p:sp>
        <p:nvSpPr>
          <p:cNvPr id="286" name="Text 284"/>
          <p:cNvSpPr/>
          <p:nvPr/>
        </p:nvSpPr>
        <p:spPr>
          <a:xfrm>
            <a:off x="4937760" y="499262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250" dirty="0"/>
          </a:p>
        </p:txBody>
      </p:sp>
      <p:sp>
        <p:nvSpPr>
          <p:cNvPr id="287" name="Text 285"/>
          <p:cNvSpPr/>
          <p:nvPr/>
        </p:nvSpPr>
        <p:spPr>
          <a:xfrm>
            <a:off x="1143000" y="544068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acelerador de IA, crypto e compressão integrados em cada chip Telum II</a:t>
            </a:r>
            <a:endParaRPr lang="en-US" sz="1200" dirty="0"/>
          </a:p>
        </p:txBody>
      </p:sp>
      <p:sp>
        <p:nvSpPr>
          <p:cNvPr id="288" name="Text 286"/>
          <p:cNvSpPr/>
          <p:nvPr/>
        </p:nvSpPr>
        <p:spPr>
          <a:xfrm>
            <a:off x="6675120" y="207568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Servidor x86 típico · </a:t>
            </a:r>
            <a:pPr indent="0" marL="0">
              <a:buNone/>
            </a:pPr>
            <a:r>
              <a:rPr lang="en-US" sz="18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52</a:t>
            </a:r>
            <a:endParaRPr lang="en-US" sz="1800" dirty="0"/>
          </a:p>
        </p:txBody>
      </p:sp>
      <p:sp>
        <p:nvSpPr>
          <p:cNvPr id="289" name="Text 287"/>
          <p:cNvSpPr/>
          <p:nvPr/>
        </p:nvSpPr>
        <p:spPr>
          <a:xfrm>
            <a:off x="6675120" y="2459736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CORES GENÉRICOS PARA TUDO</a:t>
            </a:r>
            <a:endParaRPr lang="en-US" sz="1000" dirty="0"/>
          </a:p>
        </p:txBody>
      </p:sp>
      <p:sp>
        <p:nvSpPr>
          <p:cNvPr id="290" name="Shape 288"/>
          <p:cNvSpPr/>
          <p:nvPr/>
        </p:nvSpPr>
        <p:spPr>
          <a:xfrm>
            <a:off x="66751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1" name="Shape 289"/>
          <p:cNvSpPr/>
          <p:nvPr/>
        </p:nvSpPr>
        <p:spPr>
          <a:xfrm>
            <a:off x="68122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2" name="Shape 290"/>
          <p:cNvSpPr/>
          <p:nvPr/>
        </p:nvSpPr>
        <p:spPr>
          <a:xfrm>
            <a:off x="69494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3" name="Shape 291"/>
          <p:cNvSpPr/>
          <p:nvPr/>
        </p:nvSpPr>
        <p:spPr>
          <a:xfrm>
            <a:off x="70866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4" name="Shape 292"/>
          <p:cNvSpPr/>
          <p:nvPr/>
        </p:nvSpPr>
        <p:spPr>
          <a:xfrm>
            <a:off x="72237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5" name="Shape 293"/>
          <p:cNvSpPr/>
          <p:nvPr/>
        </p:nvSpPr>
        <p:spPr>
          <a:xfrm>
            <a:off x="73609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6" name="Shape 294"/>
          <p:cNvSpPr/>
          <p:nvPr/>
        </p:nvSpPr>
        <p:spPr>
          <a:xfrm>
            <a:off x="74980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7" name="Shape 295"/>
          <p:cNvSpPr/>
          <p:nvPr/>
        </p:nvSpPr>
        <p:spPr>
          <a:xfrm>
            <a:off x="76352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8" name="Shape 296"/>
          <p:cNvSpPr/>
          <p:nvPr/>
        </p:nvSpPr>
        <p:spPr>
          <a:xfrm>
            <a:off x="77724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9" name="Shape 297"/>
          <p:cNvSpPr/>
          <p:nvPr/>
        </p:nvSpPr>
        <p:spPr>
          <a:xfrm>
            <a:off x="79095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0" name="Shape 298"/>
          <p:cNvSpPr/>
          <p:nvPr/>
        </p:nvSpPr>
        <p:spPr>
          <a:xfrm>
            <a:off x="80467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1" name="Shape 299"/>
          <p:cNvSpPr/>
          <p:nvPr/>
        </p:nvSpPr>
        <p:spPr>
          <a:xfrm>
            <a:off x="81838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2" name="Shape 300"/>
          <p:cNvSpPr/>
          <p:nvPr/>
        </p:nvSpPr>
        <p:spPr>
          <a:xfrm>
            <a:off x="83210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3" name="Shape 301"/>
          <p:cNvSpPr/>
          <p:nvPr/>
        </p:nvSpPr>
        <p:spPr>
          <a:xfrm>
            <a:off x="84582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4" name="Shape 302"/>
          <p:cNvSpPr/>
          <p:nvPr/>
        </p:nvSpPr>
        <p:spPr>
          <a:xfrm>
            <a:off x="85953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5" name="Shape 303"/>
          <p:cNvSpPr/>
          <p:nvPr/>
        </p:nvSpPr>
        <p:spPr>
          <a:xfrm>
            <a:off x="87325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6" name="Shape 304"/>
          <p:cNvSpPr/>
          <p:nvPr/>
        </p:nvSpPr>
        <p:spPr>
          <a:xfrm>
            <a:off x="88696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7" name="Shape 305"/>
          <p:cNvSpPr/>
          <p:nvPr/>
        </p:nvSpPr>
        <p:spPr>
          <a:xfrm>
            <a:off x="90068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8" name="Shape 306"/>
          <p:cNvSpPr/>
          <p:nvPr/>
        </p:nvSpPr>
        <p:spPr>
          <a:xfrm>
            <a:off x="91440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9" name="Shape 307"/>
          <p:cNvSpPr/>
          <p:nvPr/>
        </p:nvSpPr>
        <p:spPr>
          <a:xfrm>
            <a:off x="92811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0" name="Shape 308"/>
          <p:cNvSpPr/>
          <p:nvPr/>
        </p:nvSpPr>
        <p:spPr>
          <a:xfrm>
            <a:off x="94183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1" name="Shape 309"/>
          <p:cNvSpPr/>
          <p:nvPr/>
        </p:nvSpPr>
        <p:spPr>
          <a:xfrm>
            <a:off x="95554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2" name="Shape 310"/>
          <p:cNvSpPr/>
          <p:nvPr/>
        </p:nvSpPr>
        <p:spPr>
          <a:xfrm>
            <a:off x="96926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3" name="Shape 311"/>
          <p:cNvSpPr/>
          <p:nvPr/>
        </p:nvSpPr>
        <p:spPr>
          <a:xfrm>
            <a:off x="98298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4" name="Shape 312"/>
          <p:cNvSpPr/>
          <p:nvPr/>
        </p:nvSpPr>
        <p:spPr>
          <a:xfrm>
            <a:off x="99669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5" name="Shape 313"/>
          <p:cNvSpPr/>
          <p:nvPr/>
        </p:nvSpPr>
        <p:spPr>
          <a:xfrm>
            <a:off x="101041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6" name="Shape 314"/>
          <p:cNvSpPr/>
          <p:nvPr/>
        </p:nvSpPr>
        <p:spPr>
          <a:xfrm>
            <a:off x="102412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7" name="Shape 315"/>
          <p:cNvSpPr/>
          <p:nvPr/>
        </p:nvSpPr>
        <p:spPr>
          <a:xfrm>
            <a:off x="103784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8" name="Shape 316"/>
          <p:cNvSpPr/>
          <p:nvPr/>
        </p:nvSpPr>
        <p:spPr>
          <a:xfrm>
            <a:off x="105156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9" name="Shape 317"/>
          <p:cNvSpPr/>
          <p:nvPr/>
        </p:nvSpPr>
        <p:spPr>
          <a:xfrm>
            <a:off x="106527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0" name="Shape 318"/>
          <p:cNvSpPr/>
          <p:nvPr/>
        </p:nvSpPr>
        <p:spPr>
          <a:xfrm>
            <a:off x="107899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6751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8122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9494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4" name="Shape 322"/>
          <p:cNvSpPr/>
          <p:nvPr/>
        </p:nvSpPr>
        <p:spPr>
          <a:xfrm>
            <a:off x="70866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5" name="Shape 323"/>
          <p:cNvSpPr/>
          <p:nvPr/>
        </p:nvSpPr>
        <p:spPr>
          <a:xfrm>
            <a:off x="72237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6" name="Shape 324"/>
          <p:cNvSpPr/>
          <p:nvPr/>
        </p:nvSpPr>
        <p:spPr>
          <a:xfrm>
            <a:off x="73609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7" name="Shape 325"/>
          <p:cNvSpPr/>
          <p:nvPr/>
        </p:nvSpPr>
        <p:spPr>
          <a:xfrm>
            <a:off x="74980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8" name="Shape 326"/>
          <p:cNvSpPr/>
          <p:nvPr/>
        </p:nvSpPr>
        <p:spPr>
          <a:xfrm>
            <a:off x="76352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9" name="Shape 327"/>
          <p:cNvSpPr/>
          <p:nvPr/>
        </p:nvSpPr>
        <p:spPr>
          <a:xfrm>
            <a:off x="77724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0" name="Shape 328"/>
          <p:cNvSpPr/>
          <p:nvPr/>
        </p:nvSpPr>
        <p:spPr>
          <a:xfrm>
            <a:off x="79095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1" name="Shape 329"/>
          <p:cNvSpPr/>
          <p:nvPr/>
        </p:nvSpPr>
        <p:spPr>
          <a:xfrm>
            <a:off x="80467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2" name="Shape 330"/>
          <p:cNvSpPr/>
          <p:nvPr/>
        </p:nvSpPr>
        <p:spPr>
          <a:xfrm>
            <a:off x="81838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3" name="Shape 331"/>
          <p:cNvSpPr/>
          <p:nvPr/>
        </p:nvSpPr>
        <p:spPr>
          <a:xfrm>
            <a:off x="83210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4" name="Shape 332"/>
          <p:cNvSpPr/>
          <p:nvPr/>
        </p:nvSpPr>
        <p:spPr>
          <a:xfrm>
            <a:off x="84582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5" name="Shape 333"/>
          <p:cNvSpPr/>
          <p:nvPr/>
        </p:nvSpPr>
        <p:spPr>
          <a:xfrm>
            <a:off x="85953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6" name="Shape 334"/>
          <p:cNvSpPr/>
          <p:nvPr/>
        </p:nvSpPr>
        <p:spPr>
          <a:xfrm>
            <a:off x="87325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7" name="Shape 335"/>
          <p:cNvSpPr/>
          <p:nvPr/>
        </p:nvSpPr>
        <p:spPr>
          <a:xfrm>
            <a:off x="88696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8" name="Shape 336"/>
          <p:cNvSpPr/>
          <p:nvPr/>
        </p:nvSpPr>
        <p:spPr>
          <a:xfrm>
            <a:off x="90068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39" name="Shape 337"/>
          <p:cNvSpPr/>
          <p:nvPr/>
        </p:nvSpPr>
        <p:spPr>
          <a:xfrm>
            <a:off x="91440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40" name="Shape 338"/>
          <p:cNvSpPr/>
          <p:nvPr/>
        </p:nvSpPr>
        <p:spPr>
          <a:xfrm>
            <a:off x="92811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41" name="Shape 339"/>
          <p:cNvSpPr/>
          <p:nvPr/>
        </p:nvSpPr>
        <p:spPr>
          <a:xfrm>
            <a:off x="94183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42" name="Shape 340"/>
          <p:cNvSpPr/>
          <p:nvPr/>
        </p:nvSpPr>
        <p:spPr>
          <a:xfrm>
            <a:off x="6675120" y="423367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F62FE"/>
          </a:solidFill>
          <a:ln/>
        </p:spPr>
      </p:sp>
      <p:sp>
        <p:nvSpPr>
          <p:cNvPr id="343" name="Text 341"/>
          <p:cNvSpPr/>
          <p:nvPr/>
        </p:nvSpPr>
        <p:spPr>
          <a:xfrm>
            <a:off x="6949440" y="41696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genéricos (negócio + I/O)</a:t>
            </a:r>
            <a:endParaRPr lang="en-US" sz="1250" dirty="0"/>
          </a:p>
        </p:txBody>
      </p:sp>
      <p:sp>
        <p:nvSpPr>
          <p:cNvPr id="344" name="Text 342"/>
          <p:cNvSpPr/>
          <p:nvPr/>
        </p:nvSpPr>
        <p:spPr>
          <a:xfrm>
            <a:off x="10469880" y="41696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48</a:t>
            </a:r>
            <a:endParaRPr lang="en-US" sz="1250" dirty="0"/>
          </a:p>
        </p:txBody>
      </p:sp>
      <p:sp>
        <p:nvSpPr>
          <p:cNvPr id="345" name="Shape 343"/>
          <p:cNvSpPr/>
          <p:nvPr/>
        </p:nvSpPr>
        <p:spPr>
          <a:xfrm>
            <a:off x="6675120" y="450799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A8A8A8"/>
          </a:solidFill>
          <a:ln/>
        </p:spPr>
      </p:sp>
      <p:sp>
        <p:nvSpPr>
          <p:cNvPr id="346" name="Text 344"/>
          <p:cNvSpPr/>
          <p:nvPr/>
        </p:nvSpPr>
        <p:spPr>
          <a:xfrm>
            <a:off x="6949440" y="44439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I/O channel processors</a:t>
            </a:r>
            <a:endParaRPr lang="en-US" sz="1250" dirty="0"/>
          </a:p>
        </p:txBody>
      </p:sp>
      <p:sp>
        <p:nvSpPr>
          <p:cNvPr id="347" name="Text 345"/>
          <p:cNvSpPr/>
          <p:nvPr/>
        </p:nvSpPr>
        <p:spPr>
          <a:xfrm>
            <a:off x="10469880" y="444398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250" dirty="0"/>
          </a:p>
        </p:txBody>
      </p:sp>
      <p:sp>
        <p:nvSpPr>
          <p:cNvPr id="348" name="Text 346"/>
          <p:cNvSpPr/>
          <p:nvPr/>
        </p:nvSpPr>
        <p:spPr>
          <a:xfrm>
            <a:off x="6675120" y="544068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cores dedicados a I/O ·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IA ·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crypto/compressão on-chip</a:t>
            </a:r>
            <a:endParaRPr lang="en-US" sz="1200" dirty="0"/>
          </a:p>
        </p:txBody>
      </p:sp>
      <p:sp>
        <p:nvSpPr>
          <p:cNvPr id="349" name="Text 347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UM SISTEMA LINUXONE CONSOLIDA O EQUIVALENTE A ~40 SERVIDORES X86 DE 48 CORES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HIERARQUIA DE CACHE VS X86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Cache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perto </a:t>
            </a:r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core muda tudo</a:t>
            </a:r>
            <a:endParaRPr lang="en-US" sz="3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31720"/>
          <a:ext cx="1051560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3566160"/>
                <a:gridCol w="35661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2525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Métrica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62FE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IBM LinuxONE 5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2525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AMD EPYC 9J25 (Exadata 11M)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Clock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5,5 GHz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2,95 GHz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Cores por chip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8  (208 máx)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96  (192 máx)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L1 por core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128 + 128 KB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32 + 32 KB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L2 por core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36 MB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 MB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L3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324 MB (no chip)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384 MB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L4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2,52 GB (entre drawers)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—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2× MAIS CACHE L1/L2 E 5× MAIS CACHE MID-LEVEL QUE O X86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RESILIÊNCIA DO CORE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core falha. Outro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assume. </a:t>
            </a:r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Sem parar.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377440" y="2743200"/>
            <a:ext cx="7406640" cy="0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2377440" y="233172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workload migra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783080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BE9EA"/>
          </a:solidFill>
          <a:ln w="25400">
            <a:solidFill>
              <a:srgbClr val="DA1E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83080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783080" y="37673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A1E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✕ FALHA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64408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45736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5736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03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27064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27064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04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08392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08392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05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89720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DF4FF"/>
          </a:solidFill>
          <a:ln w="25400">
            <a:solidFill>
              <a:srgbClr val="0F62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9720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SPARE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89720" y="37673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● ATIVO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5120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core spare assume automaticamente — </a:t>
            </a:r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failover transparente, zero interrupção</a:t>
            </a:r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 O spare não precisa estar no mesmo chip ou drawer.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MEMÓRIA · RAIM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canal de memória falha. O dado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sobrevive.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140964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59836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7" name="Shape 5"/>
          <p:cNvSpPr/>
          <p:nvPr/>
        </p:nvSpPr>
        <p:spPr>
          <a:xfrm>
            <a:off x="3259836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8" name="Shape 6"/>
          <p:cNvSpPr/>
          <p:nvPr/>
        </p:nvSpPr>
        <p:spPr>
          <a:xfrm>
            <a:off x="3259836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9" name="Shape 7"/>
          <p:cNvSpPr/>
          <p:nvPr/>
        </p:nvSpPr>
        <p:spPr>
          <a:xfrm>
            <a:off x="3259836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0" name="Shape 8"/>
          <p:cNvSpPr/>
          <p:nvPr/>
        </p:nvSpPr>
        <p:spPr>
          <a:xfrm>
            <a:off x="3259836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1" name="Text 9"/>
          <p:cNvSpPr/>
          <p:nvPr/>
        </p:nvSpPr>
        <p:spPr>
          <a:xfrm>
            <a:off x="3140964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049524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1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93692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12564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5" name="Shape 13"/>
          <p:cNvSpPr/>
          <p:nvPr/>
        </p:nvSpPr>
        <p:spPr>
          <a:xfrm>
            <a:off x="4512564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12564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7" name="Shape 15"/>
          <p:cNvSpPr/>
          <p:nvPr/>
        </p:nvSpPr>
        <p:spPr>
          <a:xfrm>
            <a:off x="4512564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8" name="Shape 16"/>
          <p:cNvSpPr/>
          <p:nvPr/>
        </p:nvSpPr>
        <p:spPr>
          <a:xfrm>
            <a:off x="4512564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9" name="Text 17"/>
          <p:cNvSpPr/>
          <p:nvPr/>
        </p:nvSpPr>
        <p:spPr>
          <a:xfrm>
            <a:off x="4393692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4302252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2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46420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25400">
            <a:solidFill>
              <a:srgbClr val="DA1E2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65292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3" name="Shape 21"/>
          <p:cNvSpPr/>
          <p:nvPr/>
        </p:nvSpPr>
        <p:spPr>
          <a:xfrm>
            <a:off x="5765292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5292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5" name="Shape 23"/>
          <p:cNvSpPr/>
          <p:nvPr/>
        </p:nvSpPr>
        <p:spPr>
          <a:xfrm>
            <a:off x="5765292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6" name="Shape 24"/>
          <p:cNvSpPr/>
          <p:nvPr/>
        </p:nvSpPr>
        <p:spPr>
          <a:xfrm>
            <a:off x="5765292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7" name="Text 25"/>
          <p:cNvSpPr/>
          <p:nvPr/>
        </p:nvSpPr>
        <p:spPr>
          <a:xfrm>
            <a:off x="5646420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✕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5554980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3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99148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18020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1" name="Shape 29"/>
          <p:cNvSpPr/>
          <p:nvPr/>
        </p:nvSpPr>
        <p:spPr>
          <a:xfrm>
            <a:off x="7018020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2" name="Shape 30"/>
          <p:cNvSpPr/>
          <p:nvPr/>
        </p:nvSpPr>
        <p:spPr>
          <a:xfrm>
            <a:off x="7018020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3" name="Shape 31"/>
          <p:cNvSpPr/>
          <p:nvPr/>
        </p:nvSpPr>
        <p:spPr>
          <a:xfrm>
            <a:off x="7018020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4" name="Shape 32"/>
          <p:cNvSpPr/>
          <p:nvPr/>
        </p:nvSpPr>
        <p:spPr>
          <a:xfrm>
            <a:off x="7018020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5" name="Text 33"/>
          <p:cNvSpPr/>
          <p:nvPr/>
        </p:nvSpPr>
        <p:spPr>
          <a:xfrm>
            <a:off x="6899148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36" name="Text 34"/>
          <p:cNvSpPr/>
          <p:nvPr/>
        </p:nvSpPr>
        <p:spPr>
          <a:xfrm>
            <a:off x="6807708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4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151876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25400">
            <a:solidFill>
              <a:srgbClr val="0F62F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70748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9" name="Shape 37"/>
          <p:cNvSpPr/>
          <p:nvPr/>
        </p:nvSpPr>
        <p:spPr>
          <a:xfrm>
            <a:off x="8270748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0" name="Shape 38"/>
          <p:cNvSpPr/>
          <p:nvPr/>
        </p:nvSpPr>
        <p:spPr>
          <a:xfrm>
            <a:off x="8270748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1" name="Shape 39"/>
          <p:cNvSpPr/>
          <p:nvPr/>
        </p:nvSpPr>
        <p:spPr>
          <a:xfrm>
            <a:off x="8270748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2" name="Shape 40"/>
          <p:cNvSpPr/>
          <p:nvPr/>
        </p:nvSpPr>
        <p:spPr>
          <a:xfrm>
            <a:off x="8270748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3" name="Text 41"/>
          <p:cNvSpPr/>
          <p:nvPr/>
        </p:nvSpPr>
        <p:spPr>
          <a:xfrm>
            <a:off x="8151876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44" name="Text 42"/>
          <p:cNvSpPr/>
          <p:nvPr/>
        </p:nvSpPr>
        <p:spPr>
          <a:xfrm>
            <a:off x="8060436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PARIDADE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22960" y="5669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Canal perdido é </a:t>
            </a:r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reconstruído pela redundância</a:t>
            </a:r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</a:t>
            </a:r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24A14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zero perda de dado</a:t>
            </a:r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sem penalidade de performance.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CONFIDENTIAL COMPUTING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 Execution: dado protegido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uso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ambiente de execução confiável (TEE) baseado em hardware. O firmware Ultravisor isola cada guest KVM do hypervisor e dos demais — a memória e o workload da VM ficam protegidos até da camada de firmware.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Ultravisor: proteção de memória e estado dos guests seguros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Image attestation: integridade verificada antes da execução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 Boot: só inicializa imagens confiáveis e verificadas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PRÓXIMOS PASSOS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Vamos dimensionar o caso do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Banrisul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Uma avaliação de IT Economics (TCO) sobre as cargas reais do banco — Oracle, Kafka/Pix, containers — comparando o cenário atual com o LinuxONE em 5 anos.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4800600"/>
            <a:ext cx="3291840" cy="566928"/>
          </a:xfrm>
          <a:prstGeom prst="roundRect">
            <a:avLst>
              <a:gd name="adj" fmla="val 50000"/>
            </a:avLst>
          </a:prstGeom>
          <a:solidFill>
            <a:srgbClr val="0F62FE">
              <a:alpha val="16000"/>
            </a:srgbClr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80060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● Agendar workshop de TCO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HULK — MARCOS GOIS · HULK@IBM.COM · © 2026 IBM CORPORATION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IBM LinuxONE - Banrisul 2026</dc:title>
  <dc:subject>PptxGenJS Presentation</dc:subject>
  <dc:creator>Hulk - Marcos Gois</dc:creator>
  <cp:lastModifiedBy>Hulk - Marcos Gois</cp:lastModifiedBy>
  <cp:revision>1</cp:revision>
  <dcterms:created xsi:type="dcterms:W3CDTF">2026-06-21T23:36:39Z</dcterms:created>
  <dcterms:modified xsi:type="dcterms:W3CDTF">2026-06-21T23:36:39Z</dcterms:modified>
</cp:coreProperties>
</file>