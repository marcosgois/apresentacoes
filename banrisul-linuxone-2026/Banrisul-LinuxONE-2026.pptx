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bm.com/demos/it-infrastructure/ux/product.html#19/1993;C1165" TargetMode="External"/><Relationship Id="rId3" Type="http://schemas.openxmlformats.org/officeDocument/2006/relationships/hyperlink" Target="https://www.ibm.com/demos/it-infrastructure/ux/product.html#19/1993;C1165" TargetMode="External"/><Relationship Id="rId4" Type="http://schemas.openxmlformats.org/officeDocument/2006/relationships/hyperlink" Target="https://www.ibm.com/demos/it-infrastructure/ux/product.html#19/1993;C1165" TargetMode="External"/><Relationship Id="rId1" Type="http://schemas.openxmlformats.org/officeDocument/2006/relationships/image" Target="../media/image-28-1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BANRISUL · 2026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infraestrutura mais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resiliente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o banco de hoje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extrema, segurança quantum-safe e disponibilidade de oito noves — em uma única plataforma Linux.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Quatro temas, </a:t>
            </a:r>
            <a:pPr indent="0" marL="0">
              <a:buNone/>
            </a:pPr>
            <a:r>
              <a:rPr lang="en-US" sz="3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plataforma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157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71576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 — a base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3447288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57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3557016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 Workloads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" y="4288536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4398264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Foundation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5129784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23951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523951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Serving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5971032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CONTEXTO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mercado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inverteu.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demanda por memória disparou e a oferta não acompanha. Pela primeira vez em anos, comprar mais hardware ficou caro — e incerto.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REALIDADE DA CRISE DE FORNECIMENTO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custo do x86 está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subindo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+298%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Preço da DRAM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Aumento entre set/25 e dez/25.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+95%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DDR5 de servidor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trimestre a trimestre nos DIMMs.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Oferta de DRAM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esperado — mínimo histórico.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FONTES: TRENDFORCE · IDC · THE NEXT PLATFORM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VOZ DO MERCADO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058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i="1" dirty="0">
                <a:solidFill>
                  <a:srgbClr val="161616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“O custo base está subindo em todos os produtos. A demanda está muito à frente da oferta.”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JEFF CLARKE · COO, DELL TECHNOLOGIES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CONSENSO DOS ANALISTAS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restrição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estrutural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plurianual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Novas fábricas levam de 3 a 5 anos para entrar em operação. O alívio não é esperado antes de 2027/2028 — e a escassez se intensifica ao longo de 2026.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Início da escassez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Pico da restrição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Normalização do mercado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RESPOSTA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comprar mais. É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Quanto mais workloads consolidados em uma plataforma de recursos compartilhados, maior a utilização sustentada e menor a margem ociosa exigida para os picos.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QUE É O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máquina especialista em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Linux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5,5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GHz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por thread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 cores mais rápidos do mercado, com cache enorme por thread.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web / dia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um único sistema, com escala horizontal e vertical.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Milhares de workloads Linux em paralelo, por sistema.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nativa,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no chip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Tecnologia de 5 nm a 5,5 GHz, com acelerador de IA de segunda geração para inferência de baixíssima latência — sem precisar mover o dado para fora do sistema.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43B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transistores e 24 milhas de fios por chip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unidade de I/O no chip — 90% menos energia em I/O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processamento de IA dedicado por core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VS.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Projetado para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I/O intensivos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2×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L1/L2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Comparado a servidores x86 de scale-out.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5×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L3/L4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Bancos de dados rodam mais rápido, perto da CPU.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80×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I/O dedicado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especializados só para processamento de I/O.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Segurança líder de indústria,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design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100% criptografados e quantum-safe — em repouso, em trânsito e em uso. Cada VM, dado e container isolado dos demais e da própria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Secure Execution — execução confiável em hardware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Criptografia quantum-safe contra ameaças futuras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HSM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 e firmware à prova de adulteração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DISPONIBILIDADE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Falhas medidas em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décadas,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em meses.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Tolerância real a falhas, sem ponto único de falha. Memória RAIM redundante e core sobressalente que assume sem interromper aplicação nem sistema.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CUSTO DE FICAR FORA DO AR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Oito noves de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99,9999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Contra, no melhor caso, 99,9988% do x86.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1,3M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Evitados por ano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R$ 25 mil/min, são 52,56 min/ano de parada evitados.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 avoidance acumulado frente ao x86.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VMs e containers,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só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ambiente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 Red Hat OpenShift Virtualization, máquinas virtuais e containers rodam lado a lado — mesmas ferramentas, mesma interface. Sem manter tecnologias, skills e times separados.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Workloads modernos e legados gerenciados juntos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Orquestração de comunicação entre VMs e containers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Nuvem on-prem com o stack ONEStack + IBM Fusion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CLUSTER HÍBRIDO OPENSHIFT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código, mesmo pipeline,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 único com worker nodes em LinuxONE (s390x) e x86, imagens multi-arch e CI/CD unificado. O time desenvolve uma vez e implanta onde fizer mais sentido.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CLUSTER HÍBRIDO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workload.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0515600" cy="457200"/>
          </a:xfrm>
          <a:prstGeom prst="roundRect">
            <a:avLst>
              <a:gd name="adj" fmla="val 160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 · Control Plane único + pipeline CI/CD multi-arch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4602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6"/>
          <p:cNvSpPr/>
          <p:nvPr/>
        </p:nvSpPr>
        <p:spPr>
          <a:xfrm>
            <a:off x="244602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7814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7814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3380" y="2990088"/>
            <a:ext cx="379476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183380" y="248716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migra sem rebuild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s390x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6586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16586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7462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267462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833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1833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5508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 / AMD · x86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979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6979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0674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20674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71550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71550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mesma imagem multi-arch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migra de LinuxONE (s390x) para x86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mesmo código, mesmo pipeline, sem rebuild.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DEPLOYMENT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Três formas de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fundação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OpenShift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na LPAR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43000" y="31546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1546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 Virtualization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43000" y="361188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(bare metal)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43000" y="407822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407822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43000" y="45445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544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3000" y="52578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Pré-requisito do Virtualization — até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nó em LPAR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já habilita VMs + containers.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006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324612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246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(VMs)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00600" y="371246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712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KVM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417880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41788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0" y="464515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46451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00600" y="5349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do OpenShift em VMs Red Hat KVM. Máxima densidade e flexibilidade.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4582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 + LPAR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4582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HÍBRIDO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458200" y="3200400"/>
            <a:ext cx="2560320" cy="384048"/>
          </a:xfrm>
          <a:prstGeom prst="roundRect">
            <a:avLst>
              <a:gd name="adj" fmla="val 14286"/>
            </a:avLst>
          </a:prstGeom>
          <a:solidFill>
            <a:srgbClr val="0F62FE"/>
          </a:solidFill>
          <a:ln/>
        </p:spPr>
      </p:sp>
      <p:sp>
        <p:nvSpPr>
          <p:cNvPr id="33" name="Text 31"/>
          <p:cNvSpPr/>
          <p:nvPr/>
        </p:nvSpPr>
        <p:spPr>
          <a:xfrm>
            <a:off x="845820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cluster OpenShift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458200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67928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67928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604504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 em LPAR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604504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habilita o Virtualization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820656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30384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30384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9966960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em KVM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966960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densidade e flexibilidade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58200" y="52395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Combina nós bare metal (p/ Virtualization) com nós KVM no mesmo cluster.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TOPOLOGIAS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ao cluster completo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SNO · 1 nó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972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97280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nó faz tudo. Edge, PoC e dev.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38728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13048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Node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13048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compacto · 3 nós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8130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3251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7" name="Text 15"/>
          <p:cNvSpPr/>
          <p:nvPr/>
        </p:nvSpPr>
        <p:spPr>
          <a:xfrm>
            <a:off x="43251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3717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83717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13048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 + worker combinados. HA mínima.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54496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22225">
            <a:solidFill>
              <a:srgbClr val="0F62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68896" y="2185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23" name="Text 21"/>
          <p:cNvSpPr/>
          <p:nvPr/>
        </p:nvSpPr>
        <p:spPr>
          <a:xfrm>
            <a:off x="7168896" y="21854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Recomendado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28816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nós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28816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produção HA · 3 + 3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2881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7" name="Text 25"/>
          <p:cNvSpPr/>
          <p:nvPr/>
        </p:nvSpPr>
        <p:spPr>
          <a:xfrm>
            <a:off x="652881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0408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5294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31" name="Text 29"/>
          <p:cNvSpPr/>
          <p:nvPr/>
        </p:nvSpPr>
        <p:spPr>
          <a:xfrm>
            <a:off x="755294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28816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3" name="Text 31"/>
          <p:cNvSpPr/>
          <p:nvPr/>
        </p:nvSpPr>
        <p:spPr>
          <a:xfrm>
            <a:off x="652881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040880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5" name="Text 33"/>
          <p:cNvSpPr/>
          <p:nvPr/>
        </p:nvSpPr>
        <p:spPr>
          <a:xfrm>
            <a:off x="704088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55294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7" name="Text 35"/>
          <p:cNvSpPr/>
          <p:nvPr/>
        </p:nvSpPr>
        <p:spPr>
          <a:xfrm>
            <a:off x="755294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28816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control + 3 worker dedicados. Padrão de produção.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970264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244584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nós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244584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infra · 3 + 3 + 3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24458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924458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7566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5" name="Text 43"/>
          <p:cNvSpPr/>
          <p:nvPr/>
        </p:nvSpPr>
        <p:spPr>
          <a:xfrm>
            <a:off x="97566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02687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7" name="Text 45"/>
          <p:cNvSpPr/>
          <p:nvPr/>
        </p:nvSpPr>
        <p:spPr>
          <a:xfrm>
            <a:off x="102687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24458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49" name="Text 47"/>
          <p:cNvSpPr/>
          <p:nvPr/>
        </p:nvSpPr>
        <p:spPr>
          <a:xfrm>
            <a:off x="924458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9756648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1" name="Text 49"/>
          <p:cNvSpPr/>
          <p:nvPr/>
        </p:nvSpPr>
        <p:spPr>
          <a:xfrm>
            <a:off x="9756648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0268712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3" name="Text 51"/>
          <p:cNvSpPr/>
          <p:nvPr/>
        </p:nvSpPr>
        <p:spPr>
          <a:xfrm>
            <a:off x="1026871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244584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5" name="Text 53"/>
          <p:cNvSpPr/>
          <p:nvPr/>
        </p:nvSpPr>
        <p:spPr>
          <a:xfrm>
            <a:off x="9244584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9756648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7" name="Text 55"/>
          <p:cNvSpPr/>
          <p:nvPr/>
        </p:nvSpPr>
        <p:spPr>
          <a:xfrm>
            <a:off x="9756648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0268712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9" name="Text 57"/>
          <p:cNvSpPr/>
          <p:nvPr/>
        </p:nvSpPr>
        <p:spPr>
          <a:xfrm>
            <a:off x="10268712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244584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nós de infra (router, monitoring, logging) isolados.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33375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F62FE"/>
          </a:solidFill>
          <a:ln/>
        </p:spPr>
      </p:sp>
      <p:sp>
        <p:nvSpPr>
          <p:cNvPr id="62" name="Text 60"/>
          <p:cNvSpPr/>
          <p:nvPr/>
        </p:nvSpPr>
        <p:spPr>
          <a:xfrm>
            <a:off x="35935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1663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07D79"/>
          </a:solidFill>
          <a:ln/>
        </p:spPr>
      </p:sp>
      <p:sp>
        <p:nvSpPr>
          <p:cNvPr id="64" name="Text 62"/>
          <p:cNvSpPr/>
          <p:nvPr/>
        </p:nvSpPr>
        <p:spPr>
          <a:xfrm>
            <a:off x="54223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9951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8A3FFC"/>
          </a:solidFill>
          <a:ln/>
        </p:spPr>
      </p:sp>
      <p:sp>
        <p:nvSpPr>
          <p:cNvPr id="66" name="Text 64"/>
          <p:cNvSpPr/>
          <p:nvPr/>
        </p:nvSpPr>
        <p:spPr>
          <a:xfrm>
            <a:off x="72511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Infra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 SERVING · ORACLE ON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TCO de banco de dados,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recalculado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88 →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otimizada vs. o ambiente x86 atual.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Menor TCO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anos, comparado à arquitetura x86.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Economia de software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Payback entre o ano 1 e 2; ROI máximo no ano 5.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PROVAS EM PRODUÇÃO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roda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grandes instituições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teoria de laboratório. Bancos, governos e instituições financeiras já consolidaram cargas críticas em LinuxONE — com ganhos medidos de custo, espaço e energia.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CITI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MongoDB-as-a-Service 33:1 · 50% menos espaço, energia e cooling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Oracle de 92 para 16 licenças · 6 appliances consolidados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em OpenShift + EDB · 40% menos TCO em 5 anos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GRANDE BANCO NA AMÉRICA DO SUL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Pagamentos instantâneos,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containerizados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ms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Latência por mensagem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Atendendo ao requisito do banco central para pagamentos P2P.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600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Mensagens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Kafka em containers Red Hat OpenShift, com alta flexibilidade.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Hardware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16 IFLs — e menos licenças de software.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PIX · CONSOLIDAÇÃO DE KAFKA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IFLs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52 cores x86</a:t>
            </a:r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· Kafka + Zookeeper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0" y="2331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IFLs</a:t>
            </a:r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· Kafka + Zookeeper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1337056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7056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851152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51152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2365248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65248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879344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79344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3393440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93440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3907536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07536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21632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21632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935728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5728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822960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337056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37056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851152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51152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2365248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65248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879344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79344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393440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93440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907536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07536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421632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21632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935728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5728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22960" y="3803904"/>
            <a:ext cx="4572000" cy="45720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2960" y="38039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VMware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22960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2960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337056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37056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851152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51152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365248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365248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879344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79344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393440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93440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907536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907536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421632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21632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935728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35728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6400800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00800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7024878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024878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648956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648956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8273034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273034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8897112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9521190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521190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10145268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145268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10769346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769346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6400800" y="3273552"/>
            <a:ext cx="4937760" cy="457200"/>
          </a:xfrm>
          <a:prstGeom prst="roundRect">
            <a:avLst>
              <a:gd name="adj" fmla="val 6000"/>
            </a:avLst>
          </a:prstGeom>
          <a:solidFill>
            <a:srgbClr val="EE0000"/>
          </a:solidFill>
          <a:ln/>
        </p:spPr>
      </p:sp>
      <p:sp>
        <p:nvSpPr>
          <p:cNvPr id="80" name="Text 78"/>
          <p:cNvSpPr/>
          <p:nvPr/>
        </p:nvSpPr>
        <p:spPr>
          <a:xfrm>
            <a:off x="6400800" y="32735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6400800" y="3803904"/>
            <a:ext cx="2441448" cy="4572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9525">
            <a:solidFill>
              <a:srgbClr val="8AB0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400800" y="3803904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KVM / LPAR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897112" y="3803904"/>
            <a:ext cx="2441448" cy="4572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9525">
            <a:solidFill>
              <a:srgbClr val="8AB0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3803904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KVM / LPAR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400800" y="4334256"/>
            <a:ext cx="4937760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7FA8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400800" y="433425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534924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−66%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5440680" y="3794760"/>
            <a:ext cx="91440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89" name="Text 87"/>
          <p:cNvSpPr/>
          <p:nvPr/>
        </p:nvSpPr>
        <p:spPr>
          <a:xfrm>
            <a:off x="5349240" y="38770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hardware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Mesma carga (~10 ms · 600 mil mensagens) · 1/3 do hardware · menos licenças de software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PIX · REDUÇÃO DE CORES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 cores x86 viram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IFLs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834640" y="2240280"/>
            <a:ext cx="3968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D8D8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2834640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7" name="Shape 5"/>
          <p:cNvSpPr/>
          <p:nvPr/>
        </p:nvSpPr>
        <p:spPr>
          <a:xfrm>
            <a:off x="3145536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8" name="Shape 6"/>
          <p:cNvSpPr/>
          <p:nvPr/>
        </p:nvSpPr>
        <p:spPr>
          <a:xfrm>
            <a:off x="3456432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9" name="Shape 7"/>
          <p:cNvSpPr/>
          <p:nvPr/>
        </p:nvSpPr>
        <p:spPr>
          <a:xfrm>
            <a:off x="3767328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0" name="Shape 8"/>
          <p:cNvSpPr/>
          <p:nvPr/>
        </p:nvSpPr>
        <p:spPr>
          <a:xfrm>
            <a:off x="4078224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2" name="Shape 10"/>
          <p:cNvSpPr/>
          <p:nvPr/>
        </p:nvSpPr>
        <p:spPr>
          <a:xfrm>
            <a:off x="4700016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3" name="Shape 11"/>
          <p:cNvSpPr/>
          <p:nvPr/>
        </p:nvSpPr>
        <p:spPr>
          <a:xfrm>
            <a:off x="5010912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4" name="Shape 12"/>
          <p:cNvSpPr/>
          <p:nvPr/>
        </p:nvSpPr>
        <p:spPr>
          <a:xfrm>
            <a:off x="5321808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5" name="Shape 13"/>
          <p:cNvSpPr/>
          <p:nvPr/>
        </p:nvSpPr>
        <p:spPr>
          <a:xfrm>
            <a:off x="5632704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0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7" name="Shape 15"/>
          <p:cNvSpPr/>
          <p:nvPr/>
        </p:nvSpPr>
        <p:spPr>
          <a:xfrm>
            <a:off x="6254496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65392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9" name="Shape 17"/>
          <p:cNvSpPr/>
          <p:nvPr/>
        </p:nvSpPr>
        <p:spPr>
          <a:xfrm>
            <a:off x="2834640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36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1" name="Shape 19"/>
          <p:cNvSpPr/>
          <p:nvPr/>
        </p:nvSpPr>
        <p:spPr>
          <a:xfrm>
            <a:off x="3456432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7328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78224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89120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5" name="Shape 23"/>
          <p:cNvSpPr/>
          <p:nvPr/>
        </p:nvSpPr>
        <p:spPr>
          <a:xfrm>
            <a:off x="4700016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6" name="Shape 24"/>
          <p:cNvSpPr/>
          <p:nvPr/>
        </p:nvSpPr>
        <p:spPr>
          <a:xfrm>
            <a:off x="5010912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7" name="Shape 25"/>
          <p:cNvSpPr/>
          <p:nvPr/>
        </p:nvSpPr>
        <p:spPr>
          <a:xfrm>
            <a:off x="5321808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8" name="Shape 26"/>
          <p:cNvSpPr/>
          <p:nvPr/>
        </p:nvSpPr>
        <p:spPr>
          <a:xfrm>
            <a:off x="5632704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9" name="Shape 27"/>
          <p:cNvSpPr/>
          <p:nvPr/>
        </p:nvSpPr>
        <p:spPr>
          <a:xfrm>
            <a:off x="5943600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0" name="Shape 28"/>
          <p:cNvSpPr/>
          <p:nvPr/>
        </p:nvSpPr>
        <p:spPr>
          <a:xfrm>
            <a:off x="6254496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1" name="Shape 29"/>
          <p:cNvSpPr/>
          <p:nvPr/>
        </p:nvSpPr>
        <p:spPr>
          <a:xfrm>
            <a:off x="6565392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2" name="Shape 30"/>
          <p:cNvSpPr/>
          <p:nvPr/>
        </p:nvSpPr>
        <p:spPr>
          <a:xfrm>
            <a:off x="2834640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3" name="Shape 31"/>
          <p:cNvSpPr/>
          <p:nvPr/>
        </p:nvSpPr>
        <p:spPr>
          <a:xfrm>
            <a:off x="3145536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56432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67328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6" name="Shape 34"/>
          <p:cNvSpPr/>
          <p:nvPr/>
        </p:nvSpPr>
        <p:spPr>
          <a:xfrm>
            <a:off x="4078224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7" name="Shape 35"/>
          <p:cNvSpPr/>
          <p:nvPr/>
        </p:nvSpPr>
        <p:spPr>
          <a:xfrm>
            <a:off x="4389120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00016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9" name="Shape 37"/>
          <p:cNvSpPr/>
          <p:nvPr/>
        </p:nvSpPr>
        <p:spPr>
          <a:xfrm>
            <a:off x="5010912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0" name="Shape 38"/>
          <p:cNvSpPr/>
          <p:nvPr/>
        </p:nvSpPr>
        <p:spPr>
          <a:xfrm>
            <a:off x="5321808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1" name="Shape 39"/>
          <p:cNvSpPr/>
          <p:nvPr/>
        </p:nvSpPr>
        <p:spPr>
          <a:xfrm>
            <a:off x="5632704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2" name="Shape 40"/>
          <p:cNvSpPr/>
          <p:nvPr/>
        </p:nvSpPr>
        <p:spPr>
          <a:xfrm>
            <a:off x="5943600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3" name="Shape 41"/>
          <p:cNvSpPr/>
          <p:nvPr/>
        </p:nvSpPr>
        <p:spPr>
          <a:xfrm>
            <a:off x="6254496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4" name="Shape 42"/>
          <p:cNvSpPr/>
          <p:nvPr/>
        </p:nvSpPr>
        <p:spPr>
          <a:xfrm>
            <a:off x="6565392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5" name="Shape 43"/>
          <p:cNvSpPr/>
          <p:nvPr/>
        </p:nvSpPr>
        <p:spPr>
          <a:xfrm>
            <a:off x="2834640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6" name="Shape 44"/>
          <p:cNvSpPr/>
          <p:nvPr/>
        </p:nvSpPr>
        <p:spPr>
          <a:xfrm>
            <a:off x="3145536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7" name="Shape 45"/>
          <p:cNvSpPr/>
          <p:nvPr/>
        </p:nvSpPr>
        <p:spPr>
          <a:xfrm>
            <a:off x="3456432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8" name="Shape 46"/>
          <p:cNvSpPr/>
          <p:nvPr/>
        </p:nvSpPr>
        <p:spPr>
          <a:xfrm>
            <a:off x="3767328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9" name="Shape 47"/>
          <p:cNvSpPr/>
          <p:nvPr/>
        </p:nvSpPr>
        <p:spPr>
          <a:xfrm>
            <a:off x="4078224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89120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1" name="Shape 49"/>
          <p:cNvSpPr/>
          <p:nvPr/>
        </p:nvSpPr>
        <p:spPr>
          <a:xfrm>
            <a:off x="4700016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10912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3" name="Shape 51"/>
          <p:cNvSpPr/>
          <p:nvPr/>
        </p:nvSpPr>
        <p:spPr>
          <a:xfrm>
            <a:off x="5321808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4" name="Shape 52"/>
          <p:cNvSpPr/>
          <p:nvPr/>
        </p:nvSpPr>
        <p:spPr>
          <a:xfrm>
            <a:off x="5632704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43600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6" name="Shape 54"/>
          <p:cNvSpPr/>
          <p:nvPr/>
        </p:nvSpPr>
        <p:spPr>
          <a:xfrm>
            <a:off x="6254496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7" name="Shape 55"/>
          <p:cNvSpPr/>
          <p:nvPr/>
        </p:nvSpPr>
        <p:spPr>
          <a:xfrm>
            <a:off x="6565392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8" name="Text 56"/>
          <p:cNvSpPr/>
          <p:nvPr/>
        </p:nvSpPr>
        <p:spPr>
          <a:xfrm>
            <a:off x="2834640" y="4416552"/>
            <a:ext cx="396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CORES X86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955280" y="2240280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FF83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</a:t>
            </a:r>
            <a:endParaRPr lang="en-US" sz="4600" dirty="0"/>
          </a:p>
        </p:txBody>
      </p:sp>
      <p:sp>
        <p:nvSpPr>
          <p:cNvPr id="60" name="Shape 58"/>
          <p:cNvSpPr/>
          <p:nvPr/>
        </p:nvSpPr>
        <p:spPr>
          <a:xfrm>
            <a:off x="7955280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1" name="Shape 59"/>
          <p:cNvSpPr/>
          <p:nvPr/>
        </p:nvSpPr>
        <p:spPr>
          <a:xfrm>
            <a:off x="8266176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2" name="Shape 60"/>
          <p:cNvSpPr/>
          <p:nvPr/>
        </p:nvSpPr>
        <p:spPr>
          <a:xfrm>
            <a:off x="8577072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3" name="Shape 61"/>
          <p:cNvSpPr/>
          <p:nvPr/>
        </p:nvSpPr>
        <p:spPr>
          <a:xfrm>
            <a:off x="8887968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4" name="Shape 62"/>
          <p:cNvSpPr/>
          <p:nvPr/>
        </p:nvSpPr>
        <p:spPr>
          <a:xfrm>
            <a:off x="7955280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5" name="Shape 63"/>
          <p:cNvSpPr/>
          <p:nvPr/>
        </p:nvSpPr>
        <p:spPr>
          <a:xfrm>
            <a:off x="8266176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6" name="Shape 64"/>
          <p:cNvSpPr/>
          <p:nvPr/>
        </p:nvSpPr>
        <p:spPr>
          <a:xfrm>
            <a:off x="8577072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7" name="Shape 65"/>
          <p:cNvSpPr/>
          <p:nvPr/>
        </p:nvSpPr>
        <p:spPr>
          <a:xfrm>
            <a:off x="8887968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8" name="Shape 66"/>
          <p:cNvSpPr/>
          <p:nvPr/>
        </p:nvSpPr>
        <p:spPr>
          <a:xfrm>
            <a:off x="7955280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9" name="Shape 67"/>
          <p:cNvSpPr/>
          <p:nvPr/>
        </p:nvSpPr>
        <p:spPr>
          <a:xfrm>
            <a:off x="8266176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0" name="Shape 68"/>
          <p:cNvSpPr/>
          <p:nvPr/>
        </p:nvSpPr>
        <p:spPr>
          <a:xfrm>
            <a:off x="8577072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1" name="Shape 69"/>
          <p:cNvSpPr/>
          <p:nvPr/>
        </p:nvSpPr>
        <p:spPr>
          <a:xfrm>
            <a:off x="8887968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2" name="Shape 70"/>
          <p:cNvSpPr/>
          <p:nvPr/>
        </p:nvSpPr>
        <p:spPr>
          <a:xfrm>
            <a:off x="7955280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3" name="Shape 71"/>
          <p:cNvSpPr/>
          <p:nvPr/>
        </p:nvSpPr>
        <p:spPr>
          <a:xfrm>
            <a:off x="8266176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4" name="Shape 72"/>
          <p:cNvSpPr/>
          <p:nvPr/>
        </p:nvSpPr>
        <p:spPr>
          <a:xfrm>
            <a:off x="8577072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5" name="Shape 73"/>
          <p:cNvSpPr/>
          <p:nvPr/>
        </p:nvSpPr>
        <p:spPr>
          <a:xfrm>
            <a:off x="8887968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6" name="Text 74"/>
          <p:cNvSpPr/>
          <p:nvPr/>
        </p:nvSpPr>
        <p:spPr>
          <a:xfrm>
            <a:off x="7406640" y="4416552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IFLs · LINUXONE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6986016" y="3566160"/>
            <a:ext cx="786384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78" name="Text 76"/>
          <p:cNvSpPr/>
          <p:nvPr/>
        </p:nvSpPr>
        <p:spPr>
          <a:xfrm>
            <a:off x="6803136" y="372160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menos de 1/3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Mesma carga de </a:t>
            </a:r>
            <a:pPr algn="ctr"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Kafka + Zookeeper</a:t>
            </a:r>
            <a:pPr algn="ct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(~10 ms · 600 mil mensagens) com menos de um terço dos cores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CONSOLIDAÇÃO · CUSTOS OCULTOS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Cortar hardware corta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muito mais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−66% de hardware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é só a ponta do iceberg. Cada core a menos derruba uma cascata de custos que costuma ficar fora da conta: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992" y="306324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737360" y="30449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Licenças de software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737360" y="337413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Cobradas por core — Oracle, middleware, S&amp;S. Menos cores, menos licenças.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278892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306324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m²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67528" y="30449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Espaço no data center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367528" y="337413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Racks e U liberados — até 75% menos espaço físico.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83296" y="278892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306324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18" name="Text 16"/>
          <p:cNvSpPr/>
          <p:nvPr/>
        </p:nvSpPr>
        <p:spPr>
          <a:xfrm>
            <a:off x="8339328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kW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997696" y="30449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Energia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997696" y="337413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consumo elétrico — até 50% de redução.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2960" y="448056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78992" y="475488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78992" y="4754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BTU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737360" y="473659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Dissipação de calor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737360" y="506577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calor gerado = menos carga de refrigeração (CRAC/cooling).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448056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09160" y="475488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4754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67528" y="473659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367528" y="506577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portas de switch, menos cabos e menos licenças de porta.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83296" y="448056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475488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33" name="Text 31"/>
          <p:cNvSpPr/>
          <p:nvPr/>
        </p:nvSpPr>
        <p:spPr>
          <a:xfrm>
            <a:off x="8339328" y="4754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997696" y="473659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Operação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997696" y="506577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servidores para provisionar, atualizar, fazer patch e monitorar.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QUE AGORA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servidores. Menos energia.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confiança.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60% menor TCO, 75% menos espaço de data center, 50% menos energia e até 450 bilhões de inferências de IA por dia com 1 ms de resposta — enquanto o x86 fica mais caro.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SEÇÃO TÉCNICA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 o capô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engenharia por trás dos números: o processador Telum II, a hierarquia de cache, a arquitetura de I/O e os mecanismos de resiliência que o x86 não tem.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SISTEMA · IBM LINUXONE EMPEROR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único frame,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208 cores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dedicados à lógica de negócio, em até 4 drawers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384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portas/canais de I/O (96 slots PCIe + 12 DPUs)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Capacity on Demand — ative cores e pague só pelo tempo ligado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manutenção e crescimento (up ou out) sem interrupção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EXPLORE EM 3D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Gire, aproxime e explore a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máquina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703320" y="2240280"/>
            <a:ext cx="4754880" cy="32004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
            <a:hlinkClick r:id="rId2" tooltip="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886200" y="2423160"/>
            <a:ext cx="4389120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931920" y="24688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5"/>
          <p:cNvSpPr/>
          <p:nvPr/>
        </p:nvSpPr>
        <p:spPr>
          <a:xfrm>
            <a:off x="3931920" y="24688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INTERATIVO 3D</a:t>
            </a:r>
            <a:endParaRPr lang="en-US" sz="900" dirty="0"/>
          </a:p>
        </p:txBody>
      </p:sp>
      <p:sp>
        <p:nvSpPr>
          <p:cNvPr id="9" name="Shape 6">
            <a:hlinkClick r:id="rId3" tooltip=""/>
          </p:cNvPr>
          <p:cNvSpPr/>
          <p:nvPr/>
        </p:nvSpPr>
        <p:spPr>
          <a:xfrm>
            <a:off x="3611880" y="5715000"/>
            <a:ext cx="4937760" cy="502920"/>
          </a:xfrm>
          <a:prstGeom prst="roundRect">
            <a:avLst>
              <a:gd name="adj" fmla="val 49091"/>
            </a:avLst>
          </a:prstGeom>
          <a:solidFill>
            <a:srgbClr val="0F62FE"/>
          </a:solidFill>
          <a:ln/>
        </p:spPr>
      </p:sp>
      <p:sp>
        <p:nvSpPr>
          <p:cNvPr id="10" name="Text 7">
            <a:hlinkClick r:id="rId4" tooltip=""/>
          </p:cNvPr>
          <p:cNvSpPr/>
          <p:nvPr/>
        </p:nvSpPr>
        <p:spPr>
          <a:xfrm>
            <a:off x="3611880" y="5715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Abrir visualizador 3D interativo da IBM  ↗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VISUALIZADOR IBM (KAON) · REQUER INTERNET · TAMBÉM DISPONÍVEL ANIMADO NO DECK HTML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·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nm, 5,5 GHz,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43 bilhões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transistores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7665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di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311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78308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por chip, 40% mais cache por core que a geração z16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78308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no chip — reduz a energia de I/O em mais de 90%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78308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acelerador de IA de 2ª geração — 24 TOPS/chip, 768 TOPS/sistema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24mi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78308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milhas de fios condutores integrados em um único chip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ESTRUTURA DO CHIP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Cores, cache e aceleradores no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silício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chip-stru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× 36 MB de cache L2 (2,7 ns) — um por core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360 MB de cache virtual L3 (11,5 ns), formado a partir dos L2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vL4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2,88 GB de cache virtual L4 (48,5 ns), entre drawers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32 cores de I/O + acelerador de IA, ao lado dos cores de negócio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· LINUXONE VS INTEL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são só cores. São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coprocessadores.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508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LinuxONE · </a:t>
            </a:r>
            <a:pPr indent="0" marL="0">
              <a:buNone/>
            </a:pPr>
            <a:r>
              <a:rPr lang="en-US" sz="1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266 processadores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SISTEMA · CONFIGURAÇÃO MÁXIMA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43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" name="Shape 9"/>
          <p:cNvSpPr/>
          <p:nvPr/>
        </p:nvSpPr>
        <p:spPr>
          <a:xfrm>
            <a:off x="1417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1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28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65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2103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2240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2377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" name="Shape 17"/>
          <p:cNvSpPr/>
          <p:nvPr/>
        </p:nvSpPr>
        <p:spPr>
          <a:xfrm>
            <a:off x="2514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" name="Shape 18"/>
          <p:cNvSpPr/>
          <p:nvPr/>
        </p:nvSpPr>
        <p:spPr>
          <a:xfrm>
            <a:off x="2651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" name="Shape 19"/>
          <p:cNvSpPr/>
          <p:nvPr/>
        </p:nvSpPr>
        <p:spPr>
          <a:xfrm>
            <a:off x="2788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2" name="Shape 20"/>
          <p:cNvSpPr/>
          <p:nvPr/>
        </p:nvSpPr>
        <p:spPr>
          <a:xfrm>
            <a:off x="2926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3" name="Shape 21"/>
          <p:cNvSpPr/>
          <p:nvPr/>
        </p:nvSpPr>
        <p:spPr>
          <a:xfrm>
            <a:off x="3063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5" name="Shape 23"/>
          <p:cNvSpPr/>
          <p:nvPr/>
        </p:nvSpPr>
        <p:spPr>
          <a:xfrm>
            <a:off x="3337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6" name="Shape 24"/>
          <p:cNvSpPr/>
          <p:nvPr/>
        </p:nvSpPr>
        <p:spPr>
          <a:xfrm>
            <a:off x="3474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7" name="Shape 25"/>
          <p:cNvSpPr/>
          <p:nvPr/>
        </p:nvSpPr>
        <p:spPr>
          <a:xfrm>
            <a:off x="3611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8" name="Shape 26"/>
          <p:cNvSpPr/>
          <p:nvPr/>
        </p:nvSpPr>
        <p:spPr>
          <a:xfrm>
            <a:off x="3749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" name="Shape 27"/>
          <p:cNvSpPr/>
          <p:nvPr/>
        </p:nvSpPr>
        <p:spPr>
          <a:xfrm>
            <a:off x="3886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" name="Shape 28"/>
          <p:cNvSpPr/>
          <p:nvPr/>
        </p:nvSpPr>
        <p:spPr>
          <a:xfrm>
            <a:off x="4023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4160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4297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4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6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7" name="Shape 35"/>
          <p:cNvSpPr/>
          <p:nvPr/>
        </p:nvSpPr>
        <p:spPr>
          <a:xfrm>
            <a:off x="4983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0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5257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1143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0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1417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54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4" name="Shape 42"/>
          <p:cNvSpPr/>
          <p:nvPr/>
        </p:nvSpPr>
        <p:spPr>
          <a:xfrm>
            <a:off x="1691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5" name="Shape 43"/>
          <p:cNvSpPr/>
          <p:nvPr/>
        </p:nvSpPr>
        <p:spPr>
          <a:xfrm>
            <a:off x="1828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6" name="Shape 44"/>
          <p:cNvSpPr/>
          <p:nvPr/>
        </p:nvSpPr>
        <p:spPr>
          <a:xfrm>
            <a:off x="19659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7" name="Shape 45"/>
          <p:cNvSpPr/>
          <p:nvPr/>
        </p:nvSpPr>
        <p:spPr>
          <a:xfrm>
            <a:off x="2103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8" name="Shape 46"/>
          <p:cNvSpPr/>
          <p:nvPr/>
        </p:nvSpPr>
        <p:spPr>
          <a:xfrm>
            <a:off x="2240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9" name="Shape 47"/>
          <p:cNvSpPr/>
          <p:nvPr/>
        </p:nvSpPr>
        <p:spPr>
          <a:xfrm>
            <a:off x="2377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0" name="Shape 48"/>
          <p:cNvSpPr/>
          <p:nvPr/>
        </p:nvSpPr>
        <p:spPr>
          <a:xfrm>
            <a:off x="2514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1" name="Shape 49"/>
          <p:cNvSpPr/>
          <p:nvPr/>
        </p:nvSpPr>
        <p:spPr>
          <a:xfrm>
            <a:off x="2651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2" name="Shape 50"/>
          <p:cNvSpPr/>
          <p:nvPr/>
        </p:nvSpPr>
        <p:spPr>
          <a:xfrm>
            <a:off x="2788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3" name="Shape 51"/>
          <p:cNvSpPr/>
          <p:nvPr/>
        </p:nvSpPr>
        <p:spPr>
          <a:xfrm>
            <a:off x="2926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4" name="Shape 52"/>
          <p:cNvSpPr/>
          <p:nvPr/>
        </p:nvSpPr>
        <p:spPr>
          <a:xfrm>
            <a:off x="3063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6" name="Shape 54"/>
          <p:cNvSpPr/>
          <p:nvPr/>
        </p:nvSpPr>
        <p:spPr>
          <a:xfrm>
            <a:off x="3337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4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8" name="Shape 56"/>
          <p:cNvSpPr/>
          <p:nvPr/>
        </p:nvSpPr>
        <p:spPr>
          <a:xfrm>
            <a:off x="3611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9" name="Shape 57"/>
          <p:cNvSpPr/>
          <p:nvPr/>
        </p:nvSpPr>
        <p:spPr>
          <a:xfrm>
            <a:off x="3749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0" name="Shape 58"/>
          <p:cNvSpPr/>
          <p:nvPr/>
        </p:nvSpPr>
        <p:spPr>
          <a:xfrm>
            <a:off x="3886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1" name="Shape 59"/>
          <p:cNvSpPr/>
          <p:nvPr/>
        </p:nvSpPr>
        <p:spPr>
          <a:xfrm>
            <a:off x="4023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2" name="Shape 60"/>
          <p:cNvSpPr/>
          <p:nvPr/>
        </p:nvSpPr>
        <p:spPr>
          <a:xfrm>
            <a:off x="4160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3" name="Shape 61"/>
          <p:cNvSpPr/>
          <p:nvPr/>
        </p:nvSpPr>
        <p:spPr>
          <a:xfrm>
            <a:off x="4297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4" name="Shape 62"/>
          <p:cNvSpPr/>
          <p:nvPr/>
        </p:nvSpPr>
        <p:spPr>
          <a:xfrm>
            <a:off x="4434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5" name="Shape 63"/>
          <p:cNvSpPr/>
          <p:nvPr/>
        </p:nvSpPr>
        <p:spPr>
          <a:xfrm>
            <a:off x="4572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6" name="Shape 64"/>
          <p:cNvSpPr/>
          <p:nvPr/>
        </p:nvSpPr>
        <p:spPr>
          <a:xfrm>
            <a:off x="4709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7" name="Shape 65"/>
          <p:cNvSpPr/>
          <p:nvPr/>
        </p:nvSpPr>
        <p:spPr>
          <a:xfrm>
            <a:off x="4846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8" name="Shape 66"/>
          <p:cNvSpPr/>
          <p:nvPr/>
        </p:nvSpPr>
        <p:spPr>
          <a:xfrm>
            <a:off x="4983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0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0" name="Shape 68"/>
          <p:cNvSpPr/>
          <p:nvPr/>
        </p:nvSpPr>
        <p:spPr>
          <a:xfrm>
            <a:off x="5257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1" name="Shape 69"/>
          <p:cNvSpPr/>
          <p:nvPr/>
        </p:nvSpPr>
        <p:spPr>
          <a:xfrm>
            <a:off x="1143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2" name="Shape 70"/>
          <p:cNvSpPr/>
          <p:nvPr/>
        </p:nvSpPr>
        <p:spPr>
          <a:xfrm>
            <a:off x="1280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3" name="Shape 71"/>
          <p:cNvSpPr/>
          <p:nvPr/>
        </p:nvSpPr>
        <p:spPr>
          <a:xfrm>
            <a:off x="1417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4" name="Shape 72"/>
          <p:cNvSpPr/>
          <p:nvPr/>
        </p:nvSpPr>
        <p:spPr>
          <a:xfrm>
            <a:off x="1554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5" name="Shape 73"/>
          <p:cNvSpPr/>
          <p:nvPr/>
        </p:nvSpPr>
        <p:spPr>
          <a:xfrm>
            <a:off x="1691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6" name="Shape 74"/>
          <p:cNvSpPr/>
          <p:nvPr/>
        </p:nvSpPr>
        <p:spPr>
          <a:xfrm>
            <a:off x="1828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7" name="Shape 75"/>
          <p:cNvSpPr/>
          <p:nvPr/>
        </p:nvSpPr>
        <p:spPr>
          <a:xfrm>
            <a:off x="19659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8" name="Shape 76"/>
          <p:cNvSpPr/>
          <p:nvPr/>
        </p:nvSpPr>
        <p:spPr>
          <a:xfrm>
            <a:off x="21031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9" name="Shape 77"/>
          <p:cNvSpPr/>
          <p:nvPr/>
        </p:nvSpPr>
        <p:spPr>
          <a:xfrm>
            <a:off x="22402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0" name="Shape 78"/>
          <p:cNvSpPr/>
          <p:nvPr/>
        </p:nvSpPr>
        <p:spPr>
          <a:xfrm>
            <a:off x="23774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1" name="Shape 79"/>
          <p:cNvSpPr/>
          <p:nvPr/>
        </p:nvSpPr>
        <p:spPr>
          <a:xfrm>
            <a:off x="25146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2" name="Shape 80"/>
          <p:cNvSpPr/>
          <p:nvPr/>
        </p:nvSpPr>
        <p:spPr>
          <a:xfrm>
            <a:off x="26517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3" name="Shape 81"/>
          <p:cNvSpPr/>
          <p:nvPr/>
        </p:nvSpPr>
        <p:spPr>
          <a:xfrm>
            <a:off x="27889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4" name="Shape 82"/>
          <p:cNvSpPr/>
          <p:nvPr/>
        </p:nvSpPr>
        <p:spPr>
          <a:xfrm>
            <a:off x="29260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5" name="Shape 83"/>
          <p:cNvSpPr/>
          <p:nvPr/>
        </p:nvSpPr>
        <p:spPr>
          <a:xfrm>
            <a:off x="30632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6" name="Shape 84"/>
          <p:cNvSpPr/>
          <p:nvPr/>
        </p:nvSpPr>
        <p:spPr>
          <a:xfrm>
            <a:off x="32004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7" name="Shape 85"/>
          <p:cNvSpPr/>
          <p:nvPr/>
        </p:nvSpPr>
        <p:spPr>
          <a:xfrm>
            <a:off x="33375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8" name="Shape 86"/>
          <p:cNvSpPr/>
          <p:nvPr/>
        </p:nvSpPr>
        <p:spPr>
          <a:xfrm>
            <a:off x="34747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9" name="Shape 87"/>
          <p:cNvSpPr/>
          <p:nvPr/>
        </p:nvSpPr>
        <p:spPr>
          <a:xfrm>
            <a:off x="36118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0" name="Shape 88"/>
          <p:cNvSpPr/>
          <p:nvPr/>
        </p:nvSpPr>
        <p:spPr>
          <a:xfrm>
            <a:off x="37490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1" name="Shape 89"/>
          <p:cNvSpPr/>
          <p:nvPr/>
        </p:nvSpPr>
        <p:spPr>
          <a:xfrm>
            <a:off x="38862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2" name="Shape 90"/>
          <p:cNvSpPr/>
          <p:nvPr/>
        </p:nvSpPr>
        <p:spPr>
          <a:xfrm>
            <a:off x="40233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3" name="Shape 91"/>
          <p:cNvSpPr/>
          <p:nvPr/>
        </p:nvSpPr>
        <p:spPr>
          <a:xfrm>
            <a:off x="41605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4" name="Shape 92"/>
          <p:cNvSpPr/>
          <p:nvPr/>
        </p:nvSpPr>
        <p:spPr>
          <a:xfrm>
            <a:off x="42976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5" name="Shape 93"/>
          <p:cNvSpPr/>
          <p:nvPr/>
        </p:nvSpPr>
        <p:spPr>
          <a:xfrm>
            <a:off x="44348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6" name="Shape 94"/>
          <p:cNvSpPr/>
          <p:nvPr/>
        </p:nvSpPr>
        <p:spPr>
          <a:xfrm>
            <a:off x="4572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7" name="Shape 95"/>
          <p:cNvSpPr/>
          <p:nvPr/>
        </p:nvSpPr>
        <p:spPr>
          <a:xfrm>
            <a:off x="4709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8" name="Shape 96"/>
          <p:cNvSpPr/>
          <p:nvPr/>
        </p:nvSpPr>
        <p:spPr>
          <a:xfrm>
            <a:off x="4846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9" name="Shape 97"/>
          <p:cNvSpPr/>
          <p:nvPr/>
        </p:nvSpPr>
        <p:spPr>
          <a:xfrm>
            <a:off x="4983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0" name="Shape 98"/>
          <p:cNvSpPr/>
          <p:nvPr/>
        </p:nvSpPr>
        <p:spPr>
          <a:xfrm>
            <a:off x="5120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1" name="Shape 99"/>
          <p:cNvSpPr/>
          <p:nvPr/>
        </p:nvSpPr>
        <p:spPr>
          <a:xfrm>
            <a:off x="5257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143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280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417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554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691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828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659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1031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2402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3774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5146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517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889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9260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0632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2004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75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4747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118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7490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8862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0233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1605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2976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348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572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709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846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983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20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257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143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280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417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554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691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828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9659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1031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2402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3774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5146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6517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7889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29260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30632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2004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33375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34747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36118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37490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38862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0233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1605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2976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48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572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709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846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983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120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257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43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280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417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554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691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828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9659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21031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22402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23774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25146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26517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7889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29260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0632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32004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3375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34747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6118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7490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38862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0233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605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42976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44348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4572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4709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4846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983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120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257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143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280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417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1554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1691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1828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19659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21031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22402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23774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25146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26517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27889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29260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0632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2004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3375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747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6118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7490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8862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40233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41605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8" name="Shape 216"/>
          <p:cNvSpPr/>
          <p:nvPr/>
        </p:nvSpPr>
        <p:spPr>
          <a:xfrm>
            <a:off x="42976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9" name="Shape 217"/>
          <p:cNvSpPr/>
          <p:nvPr/>
        </p:nvSpPr>
        <p:spPr>
          <a:xfrm>
            <a:off x="44348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0" name="Shape 218"/>
          <p:cNvSpPr/>
          <p:nvPr/>
        </p:nvSpPr>
        <p:spPr>
          <a:xfrm>
            <a:off x="4572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4709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2" name="Shape 220"/>
          <p:cNvSpPr/>
          <p:nvPr/>
        </p:nvSpPr>
        <p:spPr>
          <a:xfrm>
            <a:off x="4846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3" name="Shape 221"/>
          <p:cNvSpPr/>
          <p:nvPr/>
        </p:nvSpPr>
        <p:spPr>
          <a:xfrm>
            <a:off x="4983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4" name="Shape 222"/>
          <p:cNvSpPr/>
          <p:nvPr/>
        </p:nvSpPr>
        <p:spPr>
          <a:xfrm>
            <a:off x="5120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5" name="Shape 223"/>
          <p:cNvSpPr/>
          <p:nvPr/>
        </p:nvSpPr>
        <p:spPr>
          <a:xfrm>
            <a:off x="5257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6" name="Shape 224"/>
          <p:cNvSpPr/>
          <p:nvPr/>
        </p:nvSpPr>
        <p:spPr>
          <a:xfrm>
            <a:off x="1143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7" name="Shape 225"/>
          <p:cNvSpPr/>
          <p:nvPr/>
        </p:nvSpPr>
        <p:spPr>
          <a:xfrm>
            <a:off x="1280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8" name="Shape 226"/>
          <p:cNvSpPr/>
          <p:nvPr/>
        </p:nvSpPr>
        <p:spPr>
          <a:xfrm>
            <a:off x="1417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1554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0" name="Shape 228"/>
          <p:cNvSpPr/>
          <p:nvPr/>
        </p:nvSpPr>
        <p:spPr>
          <a:xfrm>
            <a:off x="1691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1" name="Shape 229"/>
          <p:cNvSpPr/>
          <p:nvPr/>
        </p:nvSpPr>
        <p:spPr>
          <a:xfrm>
            <a:off x="1828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2" name="Shape 230"/>
          <p:cNvSpPr/>
          <p:nvPr/>
        </p:nvSpPr>
        <p:spPr>
          <a:xfrm>
            <a:off x="19659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3" name="Shape 231"/>
          <p:cNvSpPr/>
          <p:nvPr/>
        </p:nvSpPr>
        <p:spPr>
          <a:xfrm>
            <a:off x="21031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4" name="Shape 232"/>
          <p:cNvSpPr/>
          <p:nvPr/>
        </p:nvSpPr>
        <p:spPr>
          <a:xfrm>
            <a:off x="22402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5" name="Shape 233"/>
          <p:cNvSpPr/>
          <p:nvPr/>
        </p:nvSpPr>
        <p:spPr>
          <a:xfrm>
            <a:off x="23774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25146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7" name="Shape 235"/>
          <p:cNvSpPr/>
          <p:nvPr/>
        </p:nvSpPr>
        <p:spPr>
          <a:xfrm>
            <a:off x="26517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8" name="Shape 236"/>
          <p:cNvSpPr/>
          <p:nvPr/>
        </p:nvSpPr>
        <p:spPr>
          <a:xfrm>
            <a:off x="27889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9" name="Shape 237"/>
          <p:cNvSpPr/>
          <p:nvPr/>
        </p:nvSpPr>
        <p:spPr>
          <a:xfrm>
            <a:off x="29260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0" name="Shape 238"/>
          <p:cNvSpPr/>
          <p:nvPr/>
        </p:nvSpPr>
        <p:spPr>
          <a:xfrm>
            <a:off x="30632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1" name="Shape 239"/>
          <p:cNvSpPr/>
          <p:nvPr/>
        </p:nvSpPr>
        <p:spPr>
          <a:xfrm>
            <a:off x="32004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2" name="Shape 240"/>
          <p:cNvSpPr/>
          <p:nvPr/>
        </p:nvSpPr>
        <p:spPr>
          <a:xfrm>
            <a:off x="33375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3" name="Shape 241"/>
          <p:cNvSpPr/>
          <p:nvPr/>
        </p:nvSpPr>
        <p:spPr>
          <a:xfrm>
            <a:off x="34747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4" name="Shape 242"/>
          <p:cNvSpPr/>
          <p:nvPr/>
        </p:nvSpPr>
        <p:spPr>
          <a:xfrm>
            <a:off x="36118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7490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38862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7" name="Shape 245"/>
          <p:cNvSpPr/>
          <p:nvPr/>
        </p:nvSpPr>
        <p:spPr>
          <a:xfrm>
            <a:off x="40233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8" name="Shape 246"/>
          <p:cNvSpPr/>
          <p:nvPr/>
        </p:nvSpPr>
        <p:spPr>
          <a:xfrm>
            <a:off x="41605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9" name="Shape 247"/>
          <p:cNvSpPr/>
          <p:nvPr/>
        </p:nvSpPr>
        <p:spPr>
          <a:xfrm>
            <a:off x="42976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0" name="Shape 248"/>
          <p:cNvSpPr/>
          <p:nvPr/>
        </p:nvSpPr>
        <p:spPr>
          <a:xfrm>
            <a:off x="44348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1" name="Shape 249"/>
          <p:cNvSpPr/>
          <p:nvPr/>
        </p:nvSpPr>
        <p:spPr>
          <a:xfrm>
            <a:off x="4572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2" name="Shape 250"/>
          <p:cNvSpPr/>
          <p:nvPr/>
        </p:nvSpPr>
        <p:spPr>
          <a:xfrm>
            <a:off x="4709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3" name="Shape 251"/>
          <p:cNvSpPr/>
          <p:nvPr/>
        </p:nvSpPr>
        <p:spPr>
          <a:xfrm>
            <a:off x="4846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4983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120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257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1430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2801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4173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5544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1" name="Shape 259"/>
          <p:cNvSpPr/>
          <p:nvPr/>
        </p:nvSpPr>
        <p:spPr>
          <a:xfrm>
            <a:off x="16916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8288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9659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4" name="Shape 262"/>
          <p:cNvSpPr/>
          <p:nvPr/>
        </p:nvSpPr>
        <p:spPr>
          <a:xfrm>
            <a:off x="21031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5" name="Shape 263"/>
          <p:cNvSpPr/>
          <p:nvPr/>
        </p:nvSpPr>
        <p:spPr>
          <a:xfrm>
            <a:off x="22402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6" name="Shape 264"/>
          <p:cNvSpPr/>
          <p:nvPr/>
        </p:nvSpPr>
        <p:spPr>
          <a:xfrm>
            <a:off x="23774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25146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26517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27889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29260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30632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32004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33375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4" name="Shape 272"/>
          <p:cNvSpPr/>
          <p:nvPr/>
        </p:nvSpPr>
        <p:spPr>
          <a:xfrm>
            <a:off x="34747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114300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276" name="Text 274"/>
          <p:cNvSpPr/>
          <p:nvPr/>
        </p:nvSpPr>
        <p:spPr>
          <a:xfrm>
            <a:off x="141732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 negócio</a:t>
            </a:r>
            <a:endParaRPr lang="en-US" sz="1250" dirty="0"/>
          </a:p>
        </p:txBody>
      </p:sp>
      <p:sp>
        <p:nvSpPr>
          <p:cNvPr id="277" name="Text 275"/>
          <p:cNvSpPr/>
          <p:nvPr/>
        </p:nvSpPr>
        <p:spPr>
          <a:xfrm>
            <a:off x="493776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250" dirty="0"/>
          </a:p>
        </p:txBody>
      </p:sp>
      <p:sp>
        <p:nvSpPr>
          <p:cNvPr id="278" name="Shape 276"/>
          <p:cNvSpPr/>
          <p:nvPr/>
        </p:nvSpPr>
        <p:spPr>
          <a:xfrm>
            <a:off x="114300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07D79"/>
          </a:solidFill>
          <a:ln/>
        </p:spPr>
      </p:sp>
      <p:sp>
        <p:nvSpPr>
          <p:cNvPr id="279" name="Text 277"/>
          <p:cNvSpPr/>
          <p:nvPr/>
        </p:nvSpPr>
        <p:spPr>
          <a:xfrm>
            <a:off x="141732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Processadores de I/O (SAP)</a:t>
            </a:r>
            <a:endParaRPr lang="en-US" sz="1250" dirty="0"/>
          </a:p>
        </p:txBody>
      </p:sp>
      <p:sp>
        <p:nvSpPr>
          <p:cNvPr id="280" name="Text 278"/>
          <p:cNvSpPr/>
          <p:nvPr/>
        </p:nvSpPr>
        <p:spPr>
          <a:xfrm>
            <a:off x="493776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</a:t>
            </a:r>
            <a:endParaRPr lang="en-US" sz="1250" dirty="0"/>
          </a:p>
        </p:txBody>
      </p:sp>
      <p:sp>
        <p:nvSpPr>
          <p:cNvPr id="281" name="Shape 279"/>
          <p:cNvSpPr/>
          <p:nvPr/>
        </p:nvSpPr>
        <p:spPr>
          <a:xfrm>
            <a:off x="1143000" y="478231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8A3FFC"/>
          </a:solidFill>
          <a:ln/>
        </p:spPr>
      </p:sp>
      <p:sp>
        <p:nvSpPr>
          <p:cNvPr id="282" name="Text 280"/>
          <p:cNvSpPr/>
          <p:nvPr/>
        </p:nvSpPr>
        <p:spPr>
          <a:xfrm>
            <a:off x="1417320" y="4718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DPU — I/O no chip</a:t>
            </a:r>
            <a:endParaRPr lang="en-US" sz="1250" dirty="0"/>
          </a:p>
        </p:txBody>
      </p:sp>
      <p:sp>
        <p:nvSpPr>
          <p:cNvPr id="283" name="Text 281"/>
          <p:cNvSpPr/>
          <p:nvPr/>
        </p:nvSpPr>
        <p:spPr>
          <a:xfrm>
            <a:off x="4937760" y="47183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</a:t>
            </a:r>
            <a:endParaRPr lang="en-US" sz="1250" dirty="0"/>
          </a:p>
        </p:txBody>
      </p:sp>
      <p:sp>
        <p:nvSpPr>
          <p:cNvPr id="284" name="Shape 282"/>
          <p:cNvSpPr/>
          <p:nvPr/>
        </p:nvSpPr>
        <p:spPr>
          <a:xfrm>
            <a:off x="1143000" y="505663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285" name="Text 283"/>
          <p:cNvSpPr/>
          <p:nvPr/>
        </p:nvSpPr>
        <p:spPr>
          <a:xfrm>
            <a:off x="1417320" y="49926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spare</a:t>
            </a:r>
            <a:endParaRPr lang="en-US" sz="1250" dirty="0"/>
          </a:p>
        </p:txBody>
      </p:sp>
      <p:sp>
        <p:nvSpPr>
          <p:cNvPr id="286" name="Text 284"/>
          <p:cNvSpPr/>
          <p:nvPr/>
        </p:nvSpPr>
        <p:spPr>
          <a:xfrm>
            <a:off x="4937760" y="499262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250" dirty="0"/>
          </a:p>
        </p:txBody>
      </p:sp>
      <p:sp>
        <p:nvSpPr>
          <p:cNvPr id="287" name="Text 285"/>
          <p:cNvSpPr/>
          <p:nvPr/>
        </p:nvSpPr>
        <p:spPr>
          <a:xfrm>
            <a:off x="114300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acelerador de IA, crypto e compressão integrados em cada chip Telum II</a:t>
            </a:r>
            <a:endParaRPr lang="en-US" sz="1200" dirty="0"/>
          </a:p>
        </p:txBody>
      </p:sp>
      <p:sp>
        <p:nvSpPr>
          <p:cNvPr id="288" name="Text 286"/>
          <p:cNvSpPr/>
          <p:nvPr/>
        </p:nvSpPr>
        <p:spPr>
          <a:xfrm>
            <a:off x="667512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Servidor x86 típico · </a:t>
            </a:r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1800" dirty="0"/>
          </a:p>
        </p:txBody>
      </p:sp>
      <p:sp>
        <p:nvSpPr>
          <p:cNvPr id="289" name="Text 287"/>
          <p:cNvSpPr/>
          <p:nvPr/>
        </p:nvSpPr>
        <p:spPr>
          <a:xfrm>
            <a:off x="667512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CORES GENÉRICOS PARA TUDO</a:t>
            </a:r>
            <a:endParaRPr lang="en-US" sz="1000" dirty="0"/>
          </a:p>
        </p:txBody>
      </p:sp>
      <p:sp>
        <p:nvSpPr>
          <p:cNvPr id="290" name="Shape 288"/>
          <p:cNvSpPr/>
          <p:nvPr/>
        </p:nvSpPr>
        <p:spPr>
          <a:xfrm>
            <a:off x="6675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812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949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086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223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360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498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635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772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909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8046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8183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8321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8458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8595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8732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869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006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9144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9281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9418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9555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9692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9829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9966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10104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10241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10378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10515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652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789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675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812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949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7086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7223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7360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7498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7635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7772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7909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8046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8183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321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8458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8595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8732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8869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9006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39" name="Shape 337"/>
          <p:cNvSpPr/>
          <p:nvPr/>
        </p:nvSpPr>
        <p:spPr>
          <a:xfrm>
            <a:off x="9144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0" name="Shape 338"/>
          <p:cNvSpPr/>
          <p:nvPr/>
        </p:nvSpPr>
        <p:spPr>
          <a:xfrm>
            <a:off x="9281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1" name="Shape 339"/>
          <p:cNvSpPr/>
          <p:nvPr/>
        </p:nvSpPr>
        <p:spPr>
          <a:xfrm>
            <a:off x="9418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67512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343" name="Text 341"/>
          <p:cNvSpPr/>
          <p:nvPr/>
        </p:nvSpPr>
        <p:spPr>
          <a:xfrm>
            <a:off x="694944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genéricos (negócio + I/O)</a:t>
            </a:r>
            <a:endParaRPr lang="en-US" sz="1250" dirty="0"/>
          </a:p>
        </p:txBody>
      </p:sp>
      <p:sp>
        <p:nvSpPr>
          <p:cNvPr id="344" name="Text 342"/>
          <p:cNvSpPr/>
          <p:nvPr/>
        </p:nvSpPr>
        <p:spPr>
          <a:xfrm>
            <a:off x="1046988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</a:t>
            </a:r>
            <a:endParaRPr lang="en-US" sz="1250" dirty="0"/>
          </a:p>
        </p:txBody>
      </p:sp>
      <p:sp>
        <p:nvSpPr>
          <p:cNvPr id="345" name="Shape 343"/>
          <p:cNvSpPr/>
          <p:nvPr/>
        </p:nvSpPr>
        <p:spPr>
          <a:xfrm>
            <a:off x="667512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346" name="Text 344"/>
          <p:cNvSpPr/>
          <p:nvPr/>
        </p:nvSpPr>
        <p:spPr>
          <a:xfrm>
            <a:off x="694944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channel processors</a:t>
            </a:r>
            <a:endParaRPr lang="en-US" sz="1250" dirty="0"/>
          </a:p>
        </p:txBody>
      </p:sp>
      <p:sp>
        <p:nvSpPr>
          <p:cNvPr id="347" name="Text 345"/>
          <p:cNvSpPr/>
          <p:nvPr/>
        </p:nvSpPr>
        <p:spPr>
          <a:xfrm>
            <a:off x="1046988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250" dirty="0"/>
          </a:p>
        </p:txBody>
      </p:sp>
      <p:sp>
        <p:nvSpPr>
          <p:cNvPr id="348" name="Text 346"/>
          <p:cNvSpPr/>
          <p:nvPr/>
        </p:nvSpPr>
        <p:spPr>
          <a:xfrm>
            <a:off x="667512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cores dedicados a I/O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IA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crypto/compressão on-chip</a:t>
            </a:r>
            <a:endParaRPr lang="en-US" sz="1200" dirty="0"/>
          </a:p>
        </p:txBody>
      </p:sp>
      <p:sp>
        <p:nvSpPr>
          <p:cNvPr id="349" name="Text 347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UM SISTEMA LINUXONE CONSOLIDA O EQUIVALENTE A ~40 SERVIDORES X86 DE 48 CORES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HIERARQUIA DE CACHE VS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Cache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perto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core muda tudo</a:t>
            </a:r>
            <a:endParaRPr lang="en-US" sz="3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31720"/>
          <a:ext cx="10515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566160"/>
                <a:gridCol w="3566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Métrica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62F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IBM LinuxONE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AMD EPYC 9J25 (Exadata 11M)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Clock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5,5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2,95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Cores por chip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  (208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96  (192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L1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128 + 128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 + 32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L2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36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L3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324 MB (no chip)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384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L4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2,52 GB (entre drawers)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—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2× MAIS CACHE L1/L2 E 5× MAIS CACHE MID-LEVEL QUE O X86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RESILIÊNCIA DO CORE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core falha. Outro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assume.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parar.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377440" y="2743200"/>
            <a:ext cx="740664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377440" y="2331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 migra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8308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BE9EA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8308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8308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1E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✕ FALHA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4408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45736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27064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27064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08392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08392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8972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DF4FF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SPARE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8972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ATIVO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core spare assume automaticamente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failover transparente, zero interrupção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O spare não precisa estar no mesmo chip ou drawer.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MEMÓRIA · RAIM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canal de memória falha. O dado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sobrevive.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140964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59836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7" name="Shape 5"/>
          <p:cNvSpPr/>
          <p:nvPr/>
        </p:nvSpPr>
        <p:spPr>
          <a:xfrm>
            <a:off x="3259836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8" name="Shape 6"/>
          <p:cNvSpPr/>
          <p:nvPr/>
        </p:nvSpPr>
        <p:spPr>
          <a:xfrm>
            <a:off x="3259836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9" name="Shape 7"/>
          <p:cNvSpPr/>
          <p:nvPr/>
        </p:nvSpPr>
        <p:spPr>
          <a:xfrm>
            <a:off x="3259836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3259836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1" name="Text 9"/>
          <p:cNvSpPr/>
          <p:nvPr/>
        </p:nvSpPr>
        <p:spPr>
          <a:xfrm>
            <a:off x="3140964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049524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93692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2564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4512564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12564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4512564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4512564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393692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302252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46420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65292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3" name="Shape 21"/>
          <p:cNvSpPr/>
          <p:nvPr/>
        </p:nvSpPr>
        <p:spPr>
          <a:xfrm>
            <a:off x="5765292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5292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5" name="Shape 23"/>
          <p:cNvSpPr/>
          <p:nvPr/>
        </p:nvSpPr>
        <p:spPr>
          <a:xfrm>
            <a:off x="5765292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5292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7" name="Text 25"/>
          <p:cNvSpPr/>
          <p:nvPr/>
        </p:nvSpPr>
        <p:spPr>
          <a:xfrm>
            <a:off x="5646420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✕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554980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99148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18020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7018020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7018020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7018020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018020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5" name="Text 33"/>
          <p:cNvSpPr/>
          <p:nvPr/>
        </p:nvSpPr>
        <p:spPr>
          <a:xfrm>
            <a:off x="6899148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6807708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4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151876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70748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8270748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8270748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8270748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8270748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8151876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4" name="Text 42"/>
          <p:cNvSpPr/>
          <p:nvPr/>
        </p:nvSpPr>
        <p:spPr>
          <a:xfrm>
            <a:off x="8060436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PARIDADE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Canal perdido é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reconstruído pela redundância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4A14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zero perda de dado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sem penalidade de performance.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Execution: dado protegido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uso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ambiente de execução confiável (TEE) baseado em hardware. O firmware Ultravisor isola cada guest KVM do hypervisor e dos demais — a memória e o workload da VM ficam protegidos até da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Ultravisor: proteção de memória e estado dos guests seguros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Image attestation: integridade verificada antes da execução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Boot: só inicializa imagens confiáveis e verificadas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PRÓXIMOS PASSOS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Vamos dimensionar o caso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Banrisul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avaliação de IT Economics (TCO) sobre as cargas reais do banco — Oracle, Kafka/Pix, containers — comparando o cenário atual com o LinuxONE em 5 anos.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F62FE">
              <a:alpha val="16000"/>
            </a:srgbClr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0060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Agendar workshop de TCO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 · © 2026 IBM CORPORATION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LinuxONE - Banrisul 2026</dc:title>
  <dc:subject>PptxGenJS Presentation</dc:subject>
  <dc:creator>Hulk - Marcos Gois</dc:creator>
  <cp:lastModifiedBy>Hulk - Marcos Gois</cp:lastModifiedBy>
  <cp:revision>1</cp:revision>
  <dcterms:created xsi:type="dcterms:W3CDTF">2026-06-21T23:23:28Z</dcterms:created>
  <dcterms:modified xsi:type="dcterms:W3CDTF">2026-06-21T23:23:28Z</dcterms:modified>
</cp:coreProperties>
</file>