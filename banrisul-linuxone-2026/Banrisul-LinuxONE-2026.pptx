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ibm.com/demos/it-infrastructure/ux/product.html#19/1993;C1165" TargetMode="External"/><Relationship Id="rId3" Type="http://schemas.openxmlformats.org/officeDocument/2006/relationships/hyperlink" Target="https://www.ibm.com/demos/it-infrastructure/ux/product.html#19/1993;C1165" TargetMode="External"/><Relationship Id="rId4" Type="http://schemas.openxmlformats.org/officeDocument/2006/relationships/hyperlink" Target="https://www.ibm.com/demos/it-infrastructure/ux/product.html#19/1993;C1165" TargetMode="External"/><Relationship Id="rId1" Type="http://schemas.openxmlformats.org/officeDocument/2006/relationships/image" Target="../media/image-27-1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IBM LINUXONE · BANRISUL · 2026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554480"/>
            <a:ext cx="9601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infraestrutura mais </a:t>
            </a:r>
            <a:pPr indent="0" marL="0">
              <a:lnSpc>
                <a:spcPct val="102000"/>
              </a:lnSpc>
              <a:buNone/>
            </a:pPr>
            <a:r>
              <a:rPr lang="en-US" sz="46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resiliente </a:t>
            </a:r>
            <a:pPr indent="0" marL="0">
              <a:lnSpc>
                <a:spcPct val="102000"/>
              </a:lnSpc>
              <a:buNone/>
            </a:pPr>
            <a:r>
              <a:rPr lang="en-US" sz="4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para o banco de hoje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822960" y="411480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Consolidação extrema, segurança quantum-safe e disponibilidade de oito noves — em uma única plataforma Linux.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62179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HULK — MARCOS GOIS · HULK@IBM.COM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AGENDA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23444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Quatro temas, </a:t>
            </a:r>
            <a:pPr indent="0" marL="0">
              <a:buNone/>
            </a:pPr>
            <a:r>
              <a:rPr lang="en-US" sz="38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uma plataforma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822960" y="2606040"/>
            <a:ext cx="105156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71576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554480" y="2715768"/>
            <a:ext cx="9784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LinuxONE — a base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822960" y="3447288"/>
            <a:ext cx="105156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355701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554480" y="3557016"/>
            <a:ext cx="9784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Core Workloads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22960" y="4288536"/>
            <a:ext cx="105156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398264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54480" y="4398264"/>
            <a:ext cx="9784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Cloud Foundation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822960" y="5129784"/>
            <a:ext cx="105156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239512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554480" y="5239512"/>
            <a:ext cx="9784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Data Serving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822960" y="5971032"/>
            <a:ext cx="105156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 CONTEXTO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10241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4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 mercado </a:t>
            </a:r>
            <a:pPr indent="0" marL="0">
              <a:lnSpc>
                <a:spcPct val="104000"/>
              </a:lnSpc>
              <a:buNone/>
            </a:pPr>
            <a:r>
              <a:rPr lang="en-US" sz="4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inverteu.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22960" y="4480560"/>
            <a:ext cx="8412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demanda por memória disparou e a oferta não acompanha. Pela primeira vez em anos, comprar mais hardware ficou caro — e incerto.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REALIDADE DA CRISE DE FORNECIMENTO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 custo do x86 está </a:t>
            </a:r>
            <a:pPr indent="0" marL="0">
              <a:buNone/>
            </a:pPr>
            <a:r>
              <a:rPr lang="en-US" sz="3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subindo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+298%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8229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Preço da DRAM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Aumento entre set/25 e dez/25.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805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805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+95%</a:t>
            </a:r>
            <a:endParaRPr lang="en-US" sz="5000" dirty="0"/>
          </a:p>
        </p:txBody>
      </p:sp>
      <p:sp>
        <p:nvSpPr>
          <p:cNvPr id="11" name="Text 9"/>
          <p:cNvSpPr/>
          <p:nvPr/>
        </p:nvSpPr>
        <p:spPr>
          <a:xfrm>
            <a:off x="44805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DDR5 de servidor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4805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Crescimento trimestre a trimestre nos DIMMs.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381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381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16%</a:t>
            </a:r>
            <a:endParaRPr lang="en-US" sz="5000" dirty="0"/>
          </a:p>
        </p:txBody>
      </p:sp>
      <p:sp>
        <p:nvSpPr>
          <p:cNvPr id="15" name="Text 13"/>
          <p:cNvSpPr/>
          <p:nvPr/>
        </p:nvSpPr>
        <p:spPr>
          <a:xfrm>
            <a:off x="81381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Oferta de DRAM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1381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Crescimento esperado — mínimo histórico.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22960" y="62179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FONTES: TRENDFORCE · IDC · THE NEXT PLATFORM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VOZ DO MERCADO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100584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4000" i="1" dirty="0">
                <a:solidFill>
                  <a:srgbClr val="161616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“O custo base está subindo em todos os produtos. A demanda está muito à frente da oferta.”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JEFF CLARKE · COO, DELL TECHNOLOGIES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CONSENSO DOS ANALISTAS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Uma restrição </a:t>
            </a:r>
            <a:pPr indent="0" marL="0">
              <a:buNone/>
            </a:pPr>
            <a:r>
              <a:rPr lang="en-US" sz="3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estrutural </a:t>
            </a:r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 plurianual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269748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6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Novas fábricas levam de 3 a 5 anos para entrar em operação. O alívio não é esperado antes de 2027/2028 — e a escassez se intensifica ao longo de 2026.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6400800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2025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178040" y="269748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Início da escassez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0" y="37490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2026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178040" y="374904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Pico da restrição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0" y="4800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2028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78040" y="480060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Normalização do mercado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RESPOSTA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10241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4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Não é comprar mais. É </a:t>
            </a:r>
            <a:pPr indent="0" marL="0">
              <a:lnSpc>
                <a:spcPct val="104000"/>
              </a:lnSpc>
              <a:buNone/>
            </a:pPr>
            <a:r>
              <a:rPr lang="en-US" sz="4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consolidar.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22960" y="4480560"/>
            <a:ext cx="8412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Quanto mais workloads consolidados em uma plataforma de recursos compartilhados, maior a utilização sustentada e menor a margem ociosa exigida para os picos.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 QUE É O LINUXONE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máquina especialista em </a:t>
            </a:r>
            <a:pPr indent="0" marL="0">
              <a:buNone/>
            </a:pPr>
            <a:r>
              <a:rPr lang="en-US" sz="3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transações </a:t>
            </a:r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 Linux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5,5 </a:t>
            </a:r>
            <a:pPr indent="0" marL="0">
              <a:buNone/>
            </a:pPr>
            <a:r>
              <a:rPr lang="en-US" sz="5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GHz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8229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Performance por thread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Os cores mais rápidos do mercado, com cache enorme por thread.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805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805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 </a:t>
            </a:r>
            <a:pPr indent="0" marL="0">
              <a:buNone/>
            </a:pPr>
            <a:r>
              <a:rPr lang="en-US" sz="5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tri</a:t>
            </a:r>
            <a:endParaRPr lang="en-US" sz="5000" dirty="0"/>
          </a:p>
        </p:txBody>
      </p:sp>
      <p:sp>
        <p:nvSpPr>
          <p:cNvPr id="11" name="Text 9"/>
          <p:cNvSpPr/>
          <p:nvPr/>
        </p:nvSpPr>
        <p:spPr>
          <a:xfrm>
            <a:off x="44805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Transações web / dia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4805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Em um único sistema, com escala horizontal e vertical.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381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381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 </a:t>
            </a:r>
            <a:pPr indent="0" marL="0">
              <a:buNone/>
            </a:pPr>
            <a:r>
              <a:rPr lang="en-US" sz="5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</a:t>
            </a:r>
            <a:endParaRPr lang="en-US" sz="5000" dirty="0"/>
          </a:p>
        </p:txBody>
      </p:sp>
      <p:sp>
        <p:nvSpPr>
          <p:cNvPr id="15" name="Text 13"/>
          <p:cNvSpPr/>
          <p:nvPr/>
        </p:nvSpPr>
        <p:spPr>
          <a:xfrm>
            <a:off x="81381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Containers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1381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Milhares de workloads Linux em paralelo, por sistema.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PROCESSADOR IBM TELUM II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IA </a:t>
            </a:r>
            <a:pPr indent="0" marL="0">
              <a:buNone/>
            </a:pPr>
            <a:r>
              <a:rPr lang="en-US" sz="3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nativa, </a:t>
            </a:r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direto no chip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269748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6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Tecnologia de 5 nm a 5,5 GHz, com acelerador de IA de segunda geração para inferência de baixíssima latência — sem precisar mover o dado para fora do sistema.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6400800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43B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178040" y="269748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transistores e 24 milhas de fios por chip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0" y="37490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DPU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178040" y="374904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unidade de I/O no chip — 90% menos energia em I/O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0" y="4800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8×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78040" y="480060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processamento de IA dedicado por core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ARQUITETURA VS. X86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Projetado para </a:t>
            </a:r>
            <a:pPr indent="0" marL="0">
              <a:buNone/>
            </a:pPr>
            <a:r>
              <a:rPr lang="en-US" sz="3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dados </a:t>
            </a:r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 I/O intensivos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2×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8229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Mais cache L1/L2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Comparado a servidores x86 de scale-out.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805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805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5×</a:t>
            </a:r>
            <a:endParaRPr lang="en-US" sz="5000" dirty="0"/>
          </a:p>
        </p:txBody>
      </p:sp>
      <p:sp>
        <p:nvSpPr>
          <p:cNvPr id="11" name="Text 9"/>
          <p:cNvSpPr/>
          <p:nvPr/>
        </p:nvSpPr>
        <p:spPr>
          <a:xfrm>
            <a:off x="44805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Mais cache L3/L4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4805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Bancos de dados rodam mais rápido, perto da CPU.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381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381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80×</a:t>
            </a:r>
            <a:endParaRPr lang="en-US" sz="5000" dirty="0"/>
          </a:p>
        </p:txBody>
      </p:sp>
      <p:sp>
        <p:nvSpPr>
          <p:cNvPr id="15" name="Text 13"/>
          <p:cNvSpPr/>
          <p:nvPr/>
        </p:nvSpPr>
        <p:spPr>
          <a:xfrm>
            <a:off x="81381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Mais I/O dedicado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1381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Cores especializados só para processamento de I/O.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CONFIDENTIAL COMPUTING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Segurança líder de indústria, </a:t>
            </a:r>
            <a:pPr indent="0" marL="0">
              <a:buNone/>
            </a:pPr>
            <a:r>
              <a:rPr lang="en-US" sz="3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design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269748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6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Dados 100% criptografados e quantum-safe — em repouso, em trânsito e em uso. Cada VM, dado e container isolado dos demais e da própria camada de firmware.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6400800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178040" y="269748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IBM Secure Execution — execução confiável em hardware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0" y="37490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178040" y="374904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Criptografia quantum-safe contra ameaças futuras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0" y="4800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HSM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78040" y="480060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 Boot e firmware à prova de adulteração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DISPONIBILIDADE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10241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4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Falhas medidas em </a:t>
            </a:r>
            <a:pPr indent="0" marL="0">
              <a:lnSpc>
                <a:spcPct val="104000"/>
              </a:lnSpc>
              <a:buNone/>
            </a:pPr>
            <a:r>
              <a:rPr lang="en-US" sz="4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décadas, </a:t>
            </a:r>
            <a:pPr indent="0" marL="0">
              <a:lnSpc>
                <a:spcPct val="104000"/>
              </a:lnSpc>
              <a:buNone/>
            </a:pPr>
            <a:r>
              <a:rPr lang="en-US" sz="4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não em meses.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22960" y="4480560"/>
            <a:ext cx="8412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Tolerância real a falhas, sem ponto único de falha. Memória RAIM redundante e core sobressalente que assume sem interromper aplicação nem sistema.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 CUSTO DE FICAR FORA DO AR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Oito noves de </a:t>
            </a:r>
            <a:pPr indent="0" marL="0">
              <a:buNone/>
            </a:pPr>
            <a:r>
              <a:rPr lang="en-US" sz="3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disponibilidade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99,9999</a:t>
            </a:r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99%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8229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Disponibilidade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Contra, no melhor caso, 99,9988% do x86.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805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805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R$ </a:t>
            </a:r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1,3M</a:t>
            </a:r>
            <a:endParaRPr lang="en-US" sz="5000" dirty="0"/>
          </a:p>
        </p:txBody>
      </p:sp>
      <p:sp>
        <p:nvSpPr>
          <p:cNvPr id="11" name="Text 9"/>
          <p:cNvSpPr/>
          <p:nvPr/>
        </p:nvSpPr>
        <p:spPr>
          <a:xfrm>
            <a:off x="44805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Evitados por ano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4805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R$ 25 mil/min, são 52,56 min/ano de parada evitados.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381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381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R$ </a:t>
            </a:r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6,5M</a:t>
            </a:r>
            <a:endParaRPr lang="en-US" sz="5000" dirty="0"/>
          </a:p>
        </p:txBody>
      </p:sp>
      <p:sp>
        <p:nvSpPr>
          <p:cNvPr id="15" name="Text 13"/>
          <p:cNvSpPr/>
          <p:nvPr/>
        </p:nvSpPr>
        <p:spPr>
          <a:xfrm>
            <a:off x="81381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Em 5 anos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1381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Cost avoidance acumulado frente ao x86.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CLOUD FOUNDATION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VMs e containers, </a:t>
            </a:r>
            <a:pPr indent="0" marL="0">
              <a:buNone/>
            </a:pPr>
            <a:r>
              <a:rPr lang="en-US" sz="3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 só </a:t>
            </a:r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ambiente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269748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6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 Red Hat OpenShift Virtualization, máquinas virtuais e containers rodam lado a lado — mesmas ferramentas, mesma interface. Sem manter tecnologias, skills e times separados.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6400800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178040" y="269748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Workloads modernos e legados gerenciados juntos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0" y="37490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178040" y="374904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Orquestração de comunicação entre VMs e containers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0" y="4800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78040" y="480060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Nuvem on-prem com o stack ONEStack + IBM Fusion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CLUSTER HÍBRIDO OPENSHIFT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10241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4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Mesmo código, mesmo pipeline, </a:t>
            </a:r>
            <a:pPr indent="0" marL="0">
              <a:lnSpc>
                <a:spcPct val="104000"/>
              </a:lnSpc>
              <a:buNone/>
            </a:pPr>
            <a:r>
              <a:rPr lang="en-US" sz="4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duas arquiteturas.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4480560"/>
            <a:ext cx="8412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 cluster único com worker nodes em LinuxONE (s390x) e x86, imagens multi-arch e CI/CD unificado. O time desenvolve uma vez e implanta onde fizer mais sentido.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CLOUD FOUNDATION · CLUSTER HÍBRIDO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00584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 workload. </a:t>
            </a:r>
            <a:pPr indent="0" marL="0">
              <a:buNone/>
            </a:pPr>
            <a:r>
              <a:rPr lang="en-US" sz="3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Duas arquiteturas. </a:t>
            </a:r>
            <a:pPr indent="0" marL="0">
              <a:buNone/>
            </a:pPr>
            <a:r>
              <a:rPr lang="en-US" sz="3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 cluster.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2011680"/>
            <a:ext cx="10515600" cy="457200"/>
          </a:xfrm>
          <a:prstGeom prst="roundRect">
            <a:avLst>
              <a:gd name="adj" fmla="val 16000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011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Red Hat OpenShift · Control Plane único + pipeline CI/CD multi-arch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446020" y="2788920"/>
            <a:ext cx="1737360" cy="402336"/>
          </a:xfrm>
          <a:prstGeom prst="roundRect">
            <a:avLst>
              <a:gd name="adj" fmla="val 50000"/>
            </a:avLst>
          </a:prstGeom>
          <a:solidFill>
            <a:srgbClr val="0F62FE"/>
          </a:solidFill>
          <a:ln/>
        </p:spPr>
      </p:sp>
      <p:sp>
        <p:nvSpPr>
          <p:cNvPr id="8" name="Text 6"/>
          <p:cNvSpPr/>
          <p:nvPr/>
        </p:nvSpPr>
        <p:spPr>
          <a:xfrm>
            <a:off x="2446020" y="2788920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POD · multi-arch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978140" y="2788920"/>
            <a:ext cx="173736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0F62F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78140" y="2788920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POD · multi-arch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83380" y="2990088"/>
            <a:ext cx="3794760" cy="0"/>
          </a:xfrm>
          <a:prstGeom prst="line">
            <a:avLst/>
          </a:prstGeom>
          <a:noFill/>
          <a:ln w="25400">
            <a:solidFill>
              <a:srgbClr val="0F62FE"/>
            </a:solidFill>
            <a:prstDash val="solid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4183380" y="2487168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migra sem rebuild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22960" y="3429000"/>
            <a:ext cx="4983480" cy="1783080"/>
          </a:xfrm>
          <a:prstGeom prst="roundRect">
            <a:avLst>
              <a:gd name="adj" fmla="val 4103"/>
            </a:avLst>
          </a:prstGeom>
          <a:solidFill>
            <a:srgbClr val="F4F4F4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97280" y="3584448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IBM LinuxONE · s390x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165860" y="4114800"/>
            <a:ext cx="1280160" cy="7772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1165860" y="411480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worker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674620" y="4114800"/>
            <a:ext cx="1280160" cy="7772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2674620" y="411480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worker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83380" y="4114800"/>
            <a:ext cx="1280160" cy="7772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4183380" y="411480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worker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55080" y="3429000"/>
            <a:ext cx="4983480" cy="1783080"/>
          </a:xfrm>
          <a:prstGeom prst="roundRect">
            <a:avLst>
              <a:gd name="adj" fmla="val 4103"/>
            </a:avLst>
          </a:prstGeom>
          <a:solidFill>
            <a:srgbClr val="F4F4F4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29400" y="3584448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16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Intel / AMD · x86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697980" y="4114800"/>
            <a:ext cx="1280160" cy="7772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6697980" y="411480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worker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206740" y="4114800"/>
            <a:ext cx="1280160" cy="7772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8206740" y="411480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worker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715500" y="4114800"/>
            <a:ext cx="1280160" cy="7772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9715500" y="411480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worker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22960" y="54406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mesma imagem multi-arch </a:t>
            </a:r>
            <a:pPr algn="ctr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migra de LinuxONE (s390x) para x86</a:t>
            </a:r>
            <a:pPr algn="ct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— mesmo código, mesmo pipeline, sem rebuild.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CLOUD FOUNDATION · DEPLOYMENT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00584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Três formas de </a:t>
            </a:r>
            <a:pPr indent="0" marL="0">
              <a:buNone/>
            </a:pPr>
            <a:r>
              <a:rPr lang="en-US" sz="3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fundação </a:t>
            </a:r>
            <a:pPr indent="0" marL="0">
              <a:buNone/>
            </a:pPr>
            <a:r>
              <a:rPr lang="en-US" sz="3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do OpenShift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2240280"/>
            <a:ext cx="3200400" cy="3886200"/>
          </a:xfrm>
          <a:prstGeom prst="roundRect">
            <a:avLst>
              <a:gd name="adj" fmla="val 2286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480560" y="2240280"/>
            <a:ext cx="3200400" cy="3886200"/>
          </a:xfrm>
          <a:prstGeom prst="roundRect">
            <a:avLst>
              <a:gd name="adj" fmla="val 2286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138160" y="2240280"/>
            <a:ext cx="3200400" cy="3886200"/>
          </a:xfrm>
          <a:prstGeom prst="roundRect">
            <a:avLst>
              <a:gd name="adj" fmla="val 2286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43000" y="24688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Direto na LPAR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143000" y="284378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BARE METAL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143000" y="3154680"/>
            <a:ext cx="2331720" cy="292608"/>
          </a:xfrm>
          <a:prstGeom prst="roundRect">
            <a:avLst>
              <a:gd name="adj" fmla="val 50000"/>
            </a:avLst>
          </a:prstGeom>
          <a:solidFill>
            <a:srgbClr val="EDF4FF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43000" y="315468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habilita Virtualization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143000" y="3611880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0F62FE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43000" y="361188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OpenShift (bare metal)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1143000" y="4078224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43000" y="407822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616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LPAR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143000" y="4544568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43000" y="454456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IBM LinuxONE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143000" y="525780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Pré-requisito do Virtualization — até </a:t>
            </a:r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 nó em LPAR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já habilita VMs + containers.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800600" y="24688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KVM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4800600" y="284378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VIRTUALIZADO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800600" y="3246120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0F62FE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00600" y="324612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OpenShift (VMs)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800600" y="3712464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00600" y="37124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616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Red Hat KVM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800600" y="4178808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00600" y="417880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616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LPAR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800600" y="4645152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00600" y="4645152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IBM LinuxONE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800600" y="534924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Nós do OpenShift em VMs Red Hat KVM. Máxima densidade e flexibilidade.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8458200" y="24688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KVM + LPAR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8458200" y="284378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HÍBRIDO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8458200" y="3200400"/>
            <a:ext cx="2560320" cy="384048"/>
          </a:xfrm>
          <a:prstGeom prst="roundRect">
            <a:avLst>
              <a:gd name="adj" fmla="val 14286"/>
            </a:avLst>
          </a:prstGeom>
          <a:solidFill>
            <a:srgbClr val="0F62FE"/>
          </a:solidFill>
          <a:ln/>
        </p:spPr>
      </p:sp>
      <p:sp>
        <p:nvSpPr>
          <p:cNvPr id="33" name="Text 31"/>
          <p:cNvSpPr/>
          <p:nvPr/>
        </p:nvSpPr>
        <p:spPr>
          <a:xfrm>
            <a:off x="8458200" y="320040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 cluster OpenShift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458200" y="3776472"/>
            <a:ext cx="1197864" cy="1298448"/>
          </a:xfrm>
          <a:prstGeom prst="roundRect">
            <a:avLst>
              <a:gd name="adj" fmla="val 4580"/>
            </a:avLst>
          </a:prstGeom>
          <a:solidFill>
            <a:srgbClr val="FFFFFF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67928" y="3904488"/>
            <a:ext cx="9784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67928" y="3904488"/>
            <a:ext cx="978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bare metal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8604504" y="4251960"/>
            <a:ext cx="905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Nó em LPAR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8604504" y="4544568"/>
            <a:ext cx="905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habilita o Virtualization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9820656" y="3776472"/>
            <a:ext cx="1197864" cy="1298448"/>
          </a:xfrm>
          <a:prstGeom prst="roundRect">
            <a:avLst>
              <a:gd name="adj" fmla="val 4580"/>
            </a:avLst>
          </a:prstGeom>
          <a:solidFill>
            <a:srgbClr val="FFFFFF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930384" y="3904488"/>
            <a:ext cx="9784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930384" y="3904488"/>
            <a:ext cx="978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virtualizado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9966960" y="4251960"/>
            <a:ext cx="905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Nós em KVM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9966960" y="4544568"/>
            <a:ext cx="905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densidade e flexibilidade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8458200" y="5239512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Combina nós bare metal (p/ Virtualization) com nós KVM no mesmo cluster.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CLOUD FOUNDATION · TOPOLOGIAS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00584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Do </a:t>
            </a:r>
            <a:pPr indent="0" marL="0">
              <a:buNone/>
            </a:pPr>
            <a:r>
              <a:rPr lang="en-US" sz="3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single node </a:t>
            </a:r>
            <a:pPr indent="0" marL="0">
              <a:buNone/>
            </a:pPr>
            <a:r>
              <a:rPr lang="en-US" sz="3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ao cluster completo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2331720"/>
            <a:ext cx="2377440" cy="320040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25328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Single Node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97280" y="28986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SNO · 1 nó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1097280" y="3291840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F62FE"/>
          </a:solidFill>
          <a:ln/>
        </p:spPr>
      </p:sp>
      <p:sp>
        <p:nvSpPr>
          <p:cNvPr id="9" name="Text 7"/>
          <p:cNvSpPr/>
          <p:nvPr/>
        </p:nvSpPr>
        <p:spPr>
          <a:xfrm>
            <a:off x="1097280" y="3291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C+W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97280" y="50292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 nó faz tudo. Edge, PoC e dev.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538728" y="2331720"/>
            <a:ext cx="2377440" cy="320040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13048" y="25328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Three Node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813048" y="28986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compacto · 3 nós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813048" y="3291840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F62FE"/>
          </a:solidFill>
          <a:ln/>
        </p:spPr>
      </p:sp>
      <p:sp>
        <p:nvSpPr>
          <p:cNvPr id="15" name="Text 13"/>
          <p:cNvSpPr/>
          <p:nvPr/>
        </p:nvSpPr>
        <p:spPr>
          <a:xfrm>
            <a:off x="3813048" y="3291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C+W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325112" y="3291840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F62FE"/>
          </a:solidFill>
          <a:ln/>
        </p:spPr>
      </p:sp>
      <p:sp>
        <p:nvSpPr>
          <p:cNvPr id="17" name="Text 15"/>
          <p:cNvSpPr/>
          <p:nvPr/>
        </p:nvSpPr>
        <p:spPr>
          <a:xfrm>
            <a:off x="4325112" y="3291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C+W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837176" y="3291840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F62FE"/>
          </a:solidFill>
          <a:ln/>
        </p:spPr>
      </p:sp>
      <p:sp>
        <p:nvSpPr>
          <p:cNvPr id="19" name="Text 17"/>
          <p:cNvSpPr/>
          <p:nvPr/>
        </p:nvSpPr>
        <p:spPr>
          <a:xfrm>
            <a:off x="4837176" y="3291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C+W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3813048" y="50292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Control + worker combinados. HA mínima.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254496" y="2331720"/>
            <a:ext cx="2377440" cy="320040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22225">
            <a:solidFill>
              <a:srgbClr val="0F62F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168896" y="218541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F62FE"/>
          </a:solidFill>
          <a:ln/>
        </p:spPr>
      </p:sp>
      <p:sp>
        <p:nvSpPr>
          <p:cNvPr id="23" name="Text 21"/>
          <p:cNvSpPr/>
          <p:nvPr/>
        </p:nvSpPr>
        <p:spPr>
          <a:xfrm>
            <a:off x="7168896" y="218541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Recomendado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528816" y="25328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6 nós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528816" y="28986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produção HA · 3 + 3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528816" y="3291840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F62FE"/>
          </a:solidFill>
          <a:ln/>
        </p:spPr>
      </p:sp>
      <p:sp>
        <p:nvSpPr>
          <p:cNvPr id="27" name="Text 25"/>
          <p:cNvSpPr/>
          <p:nvPr/>
        </p:nvSpPr>
        <p:spPr>
          <a:xfrm>
            <a:off x="6528816" y="3291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040880" y="3291840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F62FE"/>
          </a:solidFill>
          <a:ln/>
        </p:spPr>
      </p:sp>
      <p:sp>
        <p:nvSpPr>
          <p:cNvPr id="29" name="Text 27"/>
          <p:cNvSpPr/>
          <p:nvPr/>
        </p:nvSpPr>
        <p:spPr>
          <a:xfrm>
            <a:off x="7040880" y="3291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552944" y="3291840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F62FE"/>
          </a:solidFill>
          <a:ln/>
        </p:spPr>
      </p:sp>
      <p:sp>
        <p:nvSpPr>
          <p:cNvPr id="31" name="Text 29"/>
          <p:cNvSpPr/>
          <p:nvPr/>
        </p:nvSpPr>
        <p:spPr>
          <a:xfrm>
            <a:off x="7552944" y="3291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528816" y="3803904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07D79"/>
          </a:solidFill>
          <a:ln/>
        </p:spPr>
      </p:sp>
      <p:sp>
        <p:nvSpPr>
          <p:cNvPr id="33" name="Text 31"/>
          <p:cNvSpPr/>
          <p:nvPr/>
        </p:nvSpPr>
        <p:spPr>
          <a:xfrm>
            <a:off x="6528816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7040880" y="3803904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07D79"/>
          </a:solidFill>
          <a:ln/>
        </p:spPr>
      </p:sp>
      <p:sp>
        <p:nvSpPr>
          <p:cNvPr id="35" name="Text 33"/>
          <p:cNvSpPr/>
          <p:nvPr/>
        </p:nvSpPr>
        <p:spPr>
          <a:xfrm>
            <a:off x="7040880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7552944" y="3803904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07D79"/>
          </a:solidFill>
          <a:ln/>
        </p:spPr>
      </p:sp>
      <p:sp>
        <p:nvSpPr>
          <p:cNvPr id="37" name="Text 35"/>
          <p:cNvSpPr/>
          <p:nvPr/>
        </p:nvSpPr>
        <p:spPr>
          <a:xfrm>
            <a:off x="7552944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6528816" y="50292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 control + 3 worker dedicados. Padrão de produção.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8970264" y="2331720"/>
            <a:ext cx="2377440" cy="320040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244584" y="25328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 nós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244584" y="28986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+ infra · 3 + 3 + 3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9244584" y="3291840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F62FE"/>
          </a:solidFill>
          <a:ln/>
        </p:spPr>
      </p:sp>
      <p:sp>
        <p:nvSpPr>
          <p:cNvPr id="43" name="Text 41"/>
          <p:cNvSpPr/>
          <p:nvPr/>
        </p:nvSpPr>
        <p:spPr>
          <a:xfrm>
            <a:off x="9244584" y="3291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9756648" y="3291840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F62FE"/>
          </a:solidFill>
          <a:ln/>
        </p:spPr>
      </p:sp>
      <p:sp>
        <p:nvSpPr>
          <p:cNvPr id="45" name="Text 43"/>
          <p:cNvSpPr/>
          <p:nvPr/>
        </p:nvSpPr>
        <p:spPr>
          <a:xfrm>
            <a:off x="9756648" y="3291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10268712" y="3291840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F62FE"/>
          </a:solidFill>
          <a:ln/>
        </p:spPr>
      </p:sp>
      <p:sp>
        <p:nvSpPr>
          <p:cNvPr id="47" name="Text 45"/>
          <p:cNvSpPr/>
          <p:nvPr/>
        </p:nvSpPr>
        <p:spPr>
          <a:xfrm>
            <a:off x="10268712" y="3291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9244584" y="3803904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07D79"/>
          </a:solidFill>
          <a:ln/>
        </p:spPr>
      </p:sp>
      <p:sp>
        <p:nvSpPr>
          <p:cNvPr id="49" name="Text 47"/>
          <p:cNvSpPr/>
          <p:nvPr/>
        </p:nvSpPr>
        <p:spPr>
          <a:xfrm>
            <a:off x="9244584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9756648" y="3803904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07D79"/>
          </a:solidFill>
          <a:ln/>
        </p:spPr>
      </p:sp>
      <p:sp>
        <p:nvSpPr>
          <p:cNvPr id="51" name="Text 49"/>
          <p:cNvSpPr/>
          <p:nvPr/>
        </p:nvSpPr>
        <p:spPr>
          <a:xfrm>
            <a:off x="9756648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10268712" y="3803904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07D79"/>
          </a:solidFill>
          <a:ln/>
        </p:spPr>
      </p:sp>
      <p:sp>
        <p:nvSpPr>
          <p:cNvPr id="53" name="Text 51"/>
          <p:cNvSpPr/>
          <p:nvPr/>
        </p:nvSpPr>
        <p:spPr>
          <a:xfrm>
            <a:off x="10268712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9244584" y="4315968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8A3FFC"/>
          </a:solidFill>
          <a:ln/>
        </p:spPr>
      </p:sp>
      <p:sp>
        <p:nvSpPr>
          <p:cNvPr id="55" name="Text 53"/>
          <p:cNvSpPr/>
          <p:nvPr/>
        </p:nvSpPr>
        <p:spPr>
          <a:xfrm>
            <a:off x="9244584" y="43159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9756648" y="4315968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8A3FFC"/>
          </a:solidFill>
          <a:ln/>
        </p:spPr>
      </p:sp>
      <p:sp>
        <p:nvSpPr>
          <p:cNvPr id="57" name="Text 55"/>
          <p:cNvSpPr/>
          <p:nvPr/>
        </p:nvSpPr>
        <p:spPr>
          <a:xfrm>
            <a:off x="9756648" y="43159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10268712" y="4315968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8A3FFC"/>
          </a:solidFill>
          <a:ln/>
        </p:spPr>
      </p:sp>
      <p:sp>
        <p:nvSpPr>
          <p:cNvPr id="59" name="Text 57"/>
          <p:cNvSpPr/>
          <p:nvPr/>
        </p:nvSpPr>
        <p:spPr>
          <a:xfrm>
            <a:off x="10268712" y="43159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9244584" y="50292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 nós de infra (router, monitoring, logging) isolados.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3337560" y="5806440"/>
            <a:ext cx="164592" cy="164592"/>
          </a:xfrm>
          <a:prstGeom prst="roundRect">
            <a:avLst>
              <a:gd name="adj" fmla="val 16667"/>
            </a:avLst>
          </a:prstGeom>
          <a:solidFill>
            <a:srgbClr val="0F62FE"/>
          </a:solidFill>
          <a:ln/>
        </p:spPr>
      </p:sp>
      <p:sp>
        <p:nvSpPr>
          <p:cNvPr id="62" name="Text 60"/>
          <p:cNvSpPr/>
          <p:nvPr/>
        </p:nvSpPr>
        <p:spPr>
          <a:xfrm>
            <a:off x="3593592" y="574243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Control plane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5166360" y="5806440"/>
            <a:ext cx="164592" cy="164592"/>
          </a:xfrm>
          <a:prstGeom prst="roundRect">
            <a:avLst>
              <a:gd name="adj" fmla="val 16667"/>
            </a:avLst>
          </a:prstGeom>
          <a:solidFill>
            <a:srgbClr val="007D79"/>
          </a:solidFill>
          <a:ln/>
        </p:spPr>
      </p:sp>
      <p:sp>
        <p:nvSpPr>
          <p:cNvPr id="64" name="Text 62"/>
          <p:cNvSpPr/>
          <p:nvPr/>
        </p:nvSpPr>
        <p:spPr>
          <a:xfrm>
            <a:off x="5422392" y="574243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Worker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6995160" y="5806440"/>
            <a:ext cx="164592" cy="164592"/>
          </a:xfrm>
          <a:prstGeom prst="roundRect">
            <a:avLst>
              <a:gd name="adj" fmla="val 16667"/>
            </a:avLst>
          </a:prstGeom>
          <a:solidFill>
            <a:srgbClr val="8A3FFC"/>
          </a:solidFill>
          <a:ln/>
        </p:spPr>
      </p:sp>
      <p:sp>
        <p:nvSpPr>
          <p:cNvPr id="66" name="Text 64"/>
          <p:cNvSpPr/>
          <p:nvPr/>
        </p:nvSpPr>
        <p:spPr>
          <a:xfrm>
            <a:off x="7251192" y="574243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Infra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DATA SERVING · ORACLE ON LINUXONE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TCO de banco de dados, </a:t>
            </a:r>
            <a:pPr indent="0" marL="0">
              <a:buNone/>
            </a:pPr>
            <a:r>
              <a:rPr lang="en-US" sz="3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recalculado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88 → </a:t>
            </a:r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6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8229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Cores ativos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Consolidação otimizada vs. o ambiente x86 atual.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805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805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35%</a:t>
            </a:r>
            <a:endParaRPr lang="en-US" sz="5000" dirty="0"/>
          </a:p>
        </p:txBody>
      </p:sp>
      <p:sp>
        <p:nvSpPr>
          <p:cNvPr id="11" name="Text 9"/>
          <p:cNvSpPr/>
          <p:nvPr/>
        </p:nvSpPr>
        <p:spPr>
          <a:xfrm>
            <a:off x="44805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Menor TCO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4805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Em 5 anos, comparado à arquitetura x86.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381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381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R$ </a:t>
            </a:r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3,5M</a:t>
            </a:r>
            <a:endParaRPr lang="en-US" sz="5000" dirty="0"/>
          </a:p>
        </p:txBody>
      </p:sp>
      <p:sp>
        <p:nvSpPr>
          <p:cNvPr id="15" name="Text 13"/>
          <p:cNvSpPr/>
          <p:nvPr/>
        </p:nvSpPr>
        <p:spPr>
          <a:xfrm>
            <a:off x="81381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Economia de software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1381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Payback entre o ano 1 e 2; ROI máximo no ano 5.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PROVAS EM PRODUÇÃO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Já </a:t>
            </a:r>
            <a:pPr indent="0" marL="0">
              <a:buNone/>
            </a:pPr>
            <a:r>
              <a:rPr lang="en-US" sz="3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roda </a:t>
            </a:r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em grandes instituições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269748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6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Não é teoria de laboratório. Bancos, governos e instituições financeiras já consolidaram cargas críticas em LinuxONE — com ganhos medidos de custo, espaço e energia.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6400800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CITI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178040" y="269748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MongoDB-as-a-Service 33:1 · 50% menos espaço, energia e cooling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0" y="37490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Gov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178040" y="374904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Oracle de 92 para 16 licenças · 6 appliances consolidados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0" y="4800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78040" y="480060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App em OpenShift + EDB · 40% menos TCO em 5 anos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CASO · GRANDE BANCO NA AMÉRICA DO SUL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Pagamentos instantâneos, </a:t>
            </a:r>
            <a:pPr indent="0" marL="0">
              <a:buNone/>
            </a:pPr>
            <a:r>
              <a:rPr lang="en-US" sz="3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containerizados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~</a:t>
            </a:r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</a:t>
            </a:r>
            <a:pPr indent="0" marL="0">
              <a:buNone/>
            </a:pPr>
            <a:r>
              <a:rPr lang="en-US" sz="5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ms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8229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Latência por mensagem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Atendendo ao requisito do banco central para pagamentos P2P.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805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805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600 </a:t>
            </a:r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mil</a:t>
            </a:r>
            <a:endParaRPr lang="en-US" sz="5000" dirty="0"/>
          </a:p>
        </p:txBody>
      </p:sp>
      <p:sp>
        <p:nvSpPr>
          <p:cNvPr id="11" name="Text 9"/>
          <p:cNvSpPr/>
          <p:nvPr/>
        </p:nvSpPr>
        <p:spPr>
          <a:xfrm>
            <a:off x="44805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Mensagens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4805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Kafka em containers Red Hat OpenShift, com alta flexibilidade.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381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381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−</a:t>
            </a:r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66%</a:t>
            </a:r>
            <a:endParaRPr lang="en-US" sz="5000" dirty="0"/>
          </a:p>
        </p:txBody>
      </p:sp>
      <p:sp>
        <p:nvSpPr>
          <p:cNvPr id="15" name="Text 13"/>
          <p:cNvSpPr/>
          <p:nvPr/>
        </p:nvSpPr>
        <p:spPr>
          <a:xfrm>
            <a:off x="81381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Hardware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1381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 52 cores x86 para 16 IFLs — e menos licenças de software.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CASO · PIX · CONSOLIDAÇÃO DE KAFKA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0972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 52 cores x86 para </a:t>
            </a:r>
            <a:pPr indent="0" marL="0">
              <a:buNone/>
            </a:pPr>
            <a:r>
              <a:rPr lang="en-US" sz="32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16 IFLs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822960" y="23317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8A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52 cores x86</a:t>
            </a:r>
            <a:pPr algn="ctr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· Kafka + Zookeeper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0" y="23317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16 IFLs</a:t>
            </a:r>
            <a:pPr algn="ctr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· Kafka + Zookeeper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822960" y="2743200"/>
            <a:ext cx="459232" cy="457200"/>
          </a:xfrm>
          <a:prstGeom prst="roundRect">
            <a:avLst>
              <a:gd name="adj" fmla="val 6000"/>
            </a:avLst>
          </a:prstGeom>
          <a:solidFill>
            <a:srgbClr val="EDF4FF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743200"/>
            <a:ext cx="459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KAFKA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1337056" y="2743200"/>
            <a:ext cx="459232" cy="457200"/>
          </a:xfrm>
          <a:prstGeom prst="roundRect">
            <a:avLst>
              <a:gd name="adj" fmla="val 6000"/>
            </a:avLst>
          </a:prstGeom>
          <a:solidFill>
            <a:srgbClr val="EDF4FF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37056" y="2743200"/>
            <a:ext cx="459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KAFKA</a:t>
            </a:r>
            <a:endParaRPr lang="en-US" sz="650" dirty="0"/>
          </a:p>
        </p:txBody>
      </p:sp>
      <p:sp>
        <p:nvSpPr>
          <p:cNvPr id="11" name="Shape 9"/>
          <p:cNvSpPr/>
          <p:nvPr/>
        </p:nvSpPr>
        <p:spPr>
          <a:xfrm>
            <a:off x="1851152" y="2743200"/>
            <a:ext cx="459232" cy="457200"/>
          </a:xfrm>
          <a:prstGeom prst="roundRect">
            <a:avLst>
              <a:gd name="adj" fmla="val 6000"/>
            </a:avLst>
          </a:prstGeom>
          <a:solidFill>
            <a:srgbClr val="EDF4FF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851152" y="2743200"/>
            <a:ext cx="459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KAFKA</a:t>
            </a:r>
            <a:endParaRPr lang="en-US" sz="650" dirty="0"/>
          </a:p>
        </p:txBody>
      </p:sp>
      <p:sp>
        <p:nvSpPr>
          <p:cNvPr id="13" name="Shape 11"/>
          <p:cNvSpPr/>
          <p:nvPr/>
        </p:nvSpPr>
        <p:spPr>
          <a:xfrm>
            <a:off x="2365248" y="2743200"/>
            <a:ext cx="459232" cy="457200"/>
          </a:xfrm>
          <a:prstGeom prst="roundRect">
            <a:avLst>
              <a:gd name="adj" fmla="val 6000"/>
            </a:avLst>
          </a:prstGeom>
          <a:solidFill>
            <a:srgbClr val="EDF4FF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365248" y="2743200"/>
            <a:ext cx="459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KAFKA</a:t>
            </a:r>
            <a:endParaRPr lang="en-US" sz="650" dirty="0"/>
          </a:p>
        </p:txBody>
      </p:sp>
      <p:sp>
        <p:nvSpPr>
          <p:cNvPr id="15" name="Shape 13"/>
          <p:cNvSpPr/>
          <p:nvPr/>
        </p:nvSpPr>
        <p:spPr>
          <a:xfrm>
            <a:off x="2879344" y="2743200"/>
            <a:ext cx="459232" cy="457200"/>
          </a:xfrm>
          <a:prstGeom prst="roundRect">
            <a:avLst>
              <a:gd name="adj" fmla="val 6000"/>
            </a:avLst>
          </a:prstGeom>
          <a:solidFill>
            <a:srgbClr val="EDF4FF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879344" y="2743200"/>
            <a:ext cx="459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KAFKA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3393440" y="2743200"/>
            <a:ext cx="459232" cy="457200"/>
          </a:xfrm>
          <a:prstGeom prst="roundRect">
            <a:avLst>
              <a:gd name="adj" fmla="val 6000"/>
            </a:avLst>
          </a:prstGeom>
          <a:solidFill>
            <a:srgbClr val="EDF4FF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93440" y="2743200"/>
            <a:ext cx="459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KAFKA</a:t>
            </a:r>
            <a:endParaRPr lang="en-US" sz="650" dirty="0"/>
          </a:p>
        </p:txBody>
      </p:sp>
      <p:sp>
        <p:nvSpPr>
          <p:cNvPr id="19" name="Shape 17"/>
          <p:cNvSpPr/>
          <p:nvPr/>
        </p:nvSpPr>
        <p:spPr>
          <a:xfrm>
            <a:off x="3907536" y="2743200"/>
            <a:ext cx="459232" cy="457200"/>
          </a:xfrm>
          <a:prstGeom prst="roundRect">
            <a:avLst>
              <a:gd name="adj" fmla="val 6000"/>
            </a:avLst>
          </a:prstGeom>
          <a:solidFill>
            <a:srgbClr val="FFF3D6"/>
          </a:solidFill>
          <a:ln w="9525">
            <a:solidFill>
              <a:srgbClr val="E0A8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907536" y="2743200"/>
            <a:ext cx="459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9A6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ZK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421632" y="2743200"/>
            <a:ext cx="459232" cy="457200"/>
          </a:xfrm>
          <a:prstGeom prst="roundRect">
            <a:avLst>
              <a:gd name="adj" fmla="val 6000"/>
            </a:avLst>
          </a:prstGeom>
          <a:solidFill>
            <a:srgbClr val="FFF3D6"/>
          </a:solidFill>
          <a:ln w="9525">
            <a:solidFill>
              <a:srgbClr val="E0A8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421632" y="2743200"/>
            <a:ext cx="459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9A6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ZK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4935728" y="2743200"/>
            <a:ext cx="459232" cy="457200"/>
          </a:xfrm>
          <a:prstGeom prst="roundRect">
            <a:avLst>
              <a:gd name="adj" fmla="val 6000"/>
            </a:avLst>
          </a:prstGeom>
          <a:solidFill>
            <a:srgbClr val="FFF3D6"/>
          </a:solidFill>
          <a:ln w="9525">
            <a:solidFill>
              <a:srgbClr val="E0A8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35728" y="2743200"/>
            <a:ext cx="459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9A6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ZK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822960" y="3273552"/>
            <a:ext cx="459232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2960" y="3273552"/>
            <a:ext cx="459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RHEL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1337056" y="3273552"/>
            <a:ext cx="459232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337056" y="3273552"/>
            <a:ext cx="459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RHEL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1851152" y="3273552"/>
            <a:ext cx="459232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851152" y="3273552"/>
            <a:ext cx="459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RHEL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2365248" y="3273552"/>
            <a:ext cx="459232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65248" y="3273552"/>
            <a:ext cx="459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RHEL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2879344" y="3273552"/>
            <a:ext cx="459232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879344" y="3273552"/>
            <a:ext cx="459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RHEL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3393440" y="3273552"/>
            <a:ext cx="459232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393440" y="3273552"/>
            <a:ext cx="459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RHEL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3907536" y="3273552"/>
            <a:ext cx="459232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07536" y="3273552"/>
            <a:ext cx="459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RHEL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4421632" y="3273552"/>
            <a:ext cx="459232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21632" y="3273552"/>
            <a:ext cx="459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RHEL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935728" y="3273552"/>
            <a:ext cx="459232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935728" y="3273552"/>
            <a:ext cx="459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RHEL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822960" y="3803904"/>
            <a:ext cx="4572000" cy="45720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22960" y="380390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VMware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822960" y="4334256"/>
            <a:ext cx="459232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22960" y="4334256"/>
            <a:ext cx="459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x86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1337056" y="4334256"/>
            <a:ext cx="459232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337056" y="4334256"/>
            <a:ext cx="459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x86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1851152" y="4334256"/>
            <a:ext cx="459232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851152" y="4334256"/>
            <a:ext cx="459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x86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2365248" y="4334256"/>
            <a:ext cx="459232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365248" y="4334256"/>
            <a:ext cx="459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x86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2879344" y="4334256"/>
            <a:ext cx="459232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879344" y="4334256"/>
            <a:ext cx="459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x86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3393440" y="4334256"/>
            <a:ext cx="459232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393440" y="4334256"/>
            <a:ext cx="459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x86</a:t>
            </a:r>
            <a:endParaRPr lang="en-US" sz="750" dirty="0"/>
          </a:p>
        </p:txBody>
      </p:sp>
      <p:sp>
        <p:nvSpPr>
          <p:cNvPr id="57" name="Shape 55"/>
          <p:cNvSpPr/>
          <p:nvPr/>
        </p:nvSpPr>
        <p:spPr>
          <a:xfrm>
            <a:off x="3907536" y="4334256"/>
            <a:ext cx="459232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907536" y="4334256"/>
            <a:ext cx="459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x86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4421632" y="4334256"/>
            <a:ext cx="459232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421632" y="4334256"/>
            <a:ext cx="459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x86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4935728" y="4334256"/>
            <a:ext cx="459232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935728" y="4334256"/>
            <a:ext cx="459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x86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6400800" y="2743200"/>
            <a:ext cx="569214" cy="457200"/>
          </a:xfrm>
          <a:prstGeom prst="roundRect">
            <a:avLst>
              <a:gd name="adj" fmla="val 6000"/>
            </a:avLst>
          </a:prstGeom>
          <a:solidFill>
            <a:srgbClr val="EDF4FF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400800" y="2743200"/>
            <a:ext cx="5692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KAFKA</a:t>
            </a:r>
            <a:endParaRPr lang="en-US" sz="650" dirty="0"/>
          </a:p>
        </p:txBody>
      </p:sp>
      <p:sp>
        <p:nvSpPr>
          <p:cNvPr id="65" name="Shape 63"/>
          <p:cNvSpPr/>
          <p:nvPr/>
        </p:nvSpPr>
        <p:spPr>
          <a:xfrm>
            <a:off x="7024878" y="2743200"/>
            <a:ext cx="569214" cy="457200"/>
          </a:xfrm>
          <a:prstGeom prst="roundRect">
            <a:avLst>
              <a:gd name="adj" fmla="val 6000"/>
            </a:avLst>
          </a:prstGeom>
          <a:solidFill>
            <a:srgbClr val="EDF4FF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024878" y="2743200"/>
            <a:ext cx="5692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KAFKA</a:t>
            </a:r>
            <a:endParaRPr lang="en-US" sz="650" dirty="0"/>
          </a:p>
        </p:txBody>
      </p:sp>
      <p:sp>
        <p:nvSpPr>
          <p:cNvPr id="67" name="Shape 65"/>
          <p:cNvSpPr/>
          <p:nvPr/>
        </p:nvSpPr>
        <p:spPr>
          <a:xfrm>
            <a:off x="7648956" y="2743200"/>
            <a:ext cx="569214" cy="457200"/>
          </a:xfrm>
          <a:prstGeom prst="roundRect">
            <a:avLst>
              <a:gd name="adj" fmla="val 6000"/>
            </a:avLst>
          </a:prstGeom>
          <a:solidFill>
            <a:srgbClr val="EDF4FF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648956" y="2743200"/>
            <a:ext cx="5692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KAFKA</a:t>
            </a:r>
            <a:endParaRPr lang="en-US" sz="650" dirty="0"/>
          </a:p>
        </p:txBody>
      </p:sp>
      <p:sp>
        <p:nvSpPr>
          <p:cNvPr id="69" name="Shape 67"/>
          <p:cNvSpPr/>
          <p:nvPr/>
        </p:nvSpPr>
        <p:spPr>
          <a:xfrm>
            <a:off x="8273034" y="2743200"/>
            <a:ext cx="569214" cy="457200"/>
          </a:xfrm>
          <a:prstGeom prst="roundRect">
            <a:avLst>
              <a:gd name="adj" fmla="val 6000"/>
            </a:avLst>
          </a:prstGeom>
          <a:solidFill>
            <a:srgbClr val="FFF3D6"/>
          </a:solidFill>
          <a:ln w="9525">
            <a:solidFill>
              <a:srgbClr val="E0A80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273034" y="2743200"/>
            <a:ext cx="5692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9A6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ZK</a:t>
            </a:r>
            <a:endParaRPr lang="en-US" sz="750" dirty="0"/>
          </a:p>
        </p:txBody>
      </p:sp>
      <p:sp>
        <p:nvSpPr>
          <p:cNvPr id="71" name="Shape 69"/>
          <p:cNvSpPr/>
          <p:nvPr/>
        </p:nvSpPr>
        <p:spPr>
          <a:xfrm>
            <a:off x="8897112" y="2743200"/>
            <a:ext cx="569214" cy="457200"/>
          </a:xfrm>
          <a:prstGeom prst="roundRect">
            <a:avLst>
              <a:gd name="adj" fmla="val 6000"/>
            </a:avLst>
          </a:prstGeom>
          <a:solidFill>
            <a:srgbClr val="EDF4FF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8897112" y="2743200"/>
            <a:ext cx="5692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KAFKA</a:t>
            </a:r>
            <a:endParaRPr lang="en-US" sz="650" dirty="0"/>
          </a:p>
        </p:txBody>
      </p:sp>
      <p:sp>
        <p:nvSpPr>
          <p:cNvPr id="73" name="Shape 71"/>
          <p:cNvSpPr/>
          <p:nvPr/>
        </p:nvSpPr>
        <p:spPr>
          <a:xfrm>
            <a:off x="9521190" y="2743200"/>
            <a:ext cx="569214" cy="457200"/>
          </a:xfrm>
          <a:prstGeom prst="roundRect">
            <a:avLst>
              <a:gd name="adj" fmla="val 6000"/>
            </a:avLst>
          </a:prstGeom>
          <a:solidFill>
            <a:srgbClr val="EDF4FF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9521190" y="2743200"/>
            <a:ext cx="5692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KAFKA</a:t>
            </a:r>
            <a:endParaRPr lang="en-US" sz="650" dirty="0"/>
          </a:p>
        </p:txBody>
      </p:sp>
      <p:sp>
        <p:nvSpPr>
          <p:cNvPr id="75" name="Shape 73"/>
          <p:cNvSpPr/>
          <p:nvPr/>
        </p:nvSpPr>
        <p:spPr>
          <a:xfrm>
            <a:off x="10145268" y="2743200"/>
            <a:ext cx="569214" cy="457200"/>
          </a:xfrm>
          <a:prstGeom prst="roundRect">
            <a:avLst>
              <a:gd name="adj" fmla="val 6000"/>
            </a:avLst>
          </a:prstGeom>
          <a:solidFill>
            <a:srgbClr val="EDF4FF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0145268" y="2743200"/>
            <a:ext cx="5692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KAFKA</a:t>
            </a:r>
            <a:endParaRPr lang="en-US" sz="650" dirty="0"/>
          </a:p>
        </p:txBody>
      </p:sp>
      <p:sp>
        <p:nvSpPr>
          <p:cNvPr id="77" name="Shape 75"/>
          <p:cNvSpPr/>
          <p:nvPr/>
        </p:nvSpPr>
        <p:spPr>
          <a:xfrm>
            <a:off x="10769346" y="2743200"/>
            <a:ext cx="569214" cy="457200"/>
          </a:xfrm>
          <a:prstGeom prst="roundRect">
            <a:avLst>
              <a:gd name="adj" fmla="val 6000"/>
            </a:avLst>
          </a:prstGeom>
          <a:solidFill>
            <a:srgbClr val="FFF3D6"/>
          </a:solidFill>
          <a:ln w="9525">
            <a:solidFill>
              <a:srgbClr val="E0A800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10769346" y="2743200"/>
            <a:ext cx="5692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9A6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ZK</a:t>
            </a:r>
            <a:endParaRPr lang="en-US" sz="750" dirty="0"/>
          </a:p>
        </p:txBody>
      </p:sp>
      <p:sp>
        <p:nvSpPr>
          <p:cNvPr id="79" name="Shape 77"/>
          <p:cNvSpPr/>
          <p:nvPr/>
        </p:nvSpPr>
        <p:spPr>
          <a:xfrm>
            <a:off x="6400800" y="3273552"/>
            <a:ext cx="4937760" cy="457200"/>
          </a:xfrm>
          <a:prstGeom prst="roundRect">
            <a:avLst>
              <a:gd name="adj" fmla="val 6000"/>
            </a:avLst>
          </a:prstGeom>
          <a:solidFill>
            <a:srgbClr val="EE0000"/>
          </a:solidFill>
          <a:ln/>
        </p:spPr>
      </p:sp>
      <p:sp>
        <p:nvSpPr>
          <p:cNvPr id="80" name="Text 78"/>
          <p:cNvSpPr/>
          <p:nvPr/>
        </p:nvSpPr>
        <p:spPr>
          <a:xfrm>
            <a:off x="6400800" y="327355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Red Hat OpenShift</a:t>
            </a:r>
            <a:endParaRPr lang="en-US" sz="1100" dirty="0"/>
          </a:p>
        </p:txBody>
      </p:sp>
      <p:sp>
        <p:nvSpPr>
          <p:cNvPr id="81" name="Shape 79"/>
          <p:cNvSpPr/>
          <p:nvPr/>
        </p:nvSpPr>
        <p:spPr>
          <a:xfrm>
            <a:off x="6400800" y="3803904"/>
            <a:ext cx="2441448" cy="457200"/>
          </a:xfrm>
          <a:prstGeom prst="roundRect">
            <a:avLst>
              <a:gd name="adj" fmla="val 6000"/>
            </a:avLst>
          </a:prstGeom>
          <a:solidFill>
            <a:srgbClr val="EAF1FF"/>
          </a:solidFill>
          <a:ln w="9525">
            <a:solidFill>
              <a:srgbClr val="8AB0FF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400800" y="3803904"/>
            <a:ext cx="2441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KVM / LPAR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8897112" y="3803904"/>
            <a:ext cx="2441448" cy="457200"/>
          </a:xfrm>
          <a:prstGeom prst="roundRect">
            <a:avLst>
              <a:gd name="adj" fmla="val 6000"/>
            </a:avLst>
          </a:prstGeom>
          <a:solidFill>
            <a:srgbClr val="EAF1FF"/>
          </a:solidFill>
          <a:ln w="9525">
            <a:solidFill>
              <a:srgbClr val="8AB0FF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8897112" y="3803904"/>
            <a:ext cx="2441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KVM / LPAR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6400800" y="4334256"/>
            <a:ext cx="4937760" cy="457200"/>
          </a:xfrm>
          <a:prstGeom prst="roundRect">
            <a:avLst>
              <a:gd name="adj" fmla="val 6000"/>
            </a:avLst>
          </a:prstGeom>
          <a:solidFill>
            <a:srgbClr val="EDF4FF"/>
          </a:solidFill>
          <a:ln w="9525">
            <a:solidFill>
              <a:srgbClr val="7FA8FF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400800" y="4334256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IBM LinuxONE</a:t>
            </a:r>
            <a:endParaRPr lang="en-US" sz="1100" dirty="0"/>
          </a:p>
        </p:txBody>
      </p:sp>
      <p:sp>
        <p:nvSpPr>
          <p:cNvPr id="87" name="Text 85"/>
          <p:cNvSpPr/>
          <p:nvPr/>
        </p:nvSpPr>
        <p:spPr>
          <a:xfrm>
            <a:off x="5349240" y="33832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−66%</a:t>
            </a:r>
            <a:endParaRPr lang="en-US" sz="1400" dirty="0"/>
          </a:p>
        </p:txBody>
      </p:sp>
      <p:sp>
        <p:nvSpPr>
          <p:cNvPr id="88" name="Shape 86"/>
          <p:cNvSpPr/>
          <p:nvPr/>
        </p:nvSpPr>
        <p:spPr>
          <a:xfrm>
            <a:off x="5440680" y="3794760"/>
            <a:ext cx="914400" cy="0"/>
          </a:xfrm>
          <a:prstGeom prst="line">
            <a:avLst/>
          </a:prstGeom>
          <a:noFill/>
          <a:ln w="38100">
            <a:solidFill>
              <a:srgbClr val="0F62FE"/>
            </a:solidFill>
            <a:prstDash val="solid"/>
            <a:tailEnd type="triangle"/>
          </a:ln>
        </p:spPr>
      </p:sp>
      <p:sp>
        <p:nvSpPr>
          <p:cNvPr id="89" name="Text 87"/>
          <p:cNvSpPr/>
          <p:nvPr/>
        </p:nvSpPr>
        <p:spPr>
          <a:xfrm>
            <a:off x="5349240" y="387705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hardware</a:t>
            </a:r>
            <a:endParaRPr lang="en-US" sz="900" dirty="0"/>
          </a:p>
        </p:txBody>
      </p:sp>
      <p:sp>
        <p:nvSpPr>
          <p:cNvPr id="90" name="Text 88"/>
          <p:cNvSpPr/>
          <p:nvPr/>
        </p:nvSpPr>
        <p:spPr>
          <a:xfrm>
            <a:off x="822960" y="51663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Mesma carga (~10 ms · 600 mil mensagens) · 1/3 do hardware · menos licenças de software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CASO · PIX · REDUÇÃO DE CORES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0972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52 cores x86 viram </a:t>
            </a:r>
            <a:pPr indent="0" marL="0">
              <a:buNone/>
            </a:pPr>
            <a:r>
              <a:rPr lang="en-US" sz="32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16 IFLs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2834640" y="2240280"/>
            <a:ext cx="39684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dirty="0">
                <a:solidFill>
                  <a:srgbClr val="8D8D8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52</a:t>
            </a:r>
            <a:endParaRPr lang="en-US" sz="4600" dirty="0"/>
          </a:p>
        </p:txBody>
      </p:sp>
      <p:sp>
        <p:nvSpPr>
          <p:cNvPr id="6" name="Shape 4"/>
          <p:cNvSpPr/>
          <p:nvPr/>
        </p:nvSpPr>
        <p:spPr>
          <a:xfrm>
            <a:off x="2834640" y="3063240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7" name="Shape 5"/>
          <p:cNvSpPr/>
          <p:nvPr/>
        </p:nvSpPr>
        <p:spPr>
          <a:xfrm>
            <a:off x="3145536" y="3063240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8" name="Shape 6"/>
          <p:cNvSpPr/>
          <p:nvPr/>
        </p:nvSpPr>
        <p:spPr>
          <a:xfrm>
            <a:off x="3456432" y="3063240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9" name="Shape 7"/>
          <p:cNvSpPr/>
          <p:nvPr/>
        </p:nvSpPr>
        <p:spPr>
          <a:xfrm>
            <a:off x="3767328" y="3063240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10" name="Shape 8"/>
          <p:cNvSpPr/>
          <p:nvPr/>
        </p:nvSpPr>
        <p:spPr>
          <a:xfrm>
            <a:off x="4078224" y="3063240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11" name="Shape 9"/>
          <p:cNvSpPr/>
          <p:nvPr/>
        </p:nvSpPr>
        <p:spPr>
          <a:xfrm>
            <a:off x="4389120" y="3063240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12" name="Shape 10"/>
          <p:cNvSpPr/>
          <p:nvPr/>
        </p:nvSpPr>
        <p:spPr>
          <a:xfrm>
            <a:off x="4700016" y="3063240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13" name="Shape 11"/>
          <p:cNvSpPr/>
          <p:nvPr/>
        </p:nvSpPr>
        <p:spPr>
          <a:xfrm>
            <a:off x="5010912" y="3063240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14" name="Shape 12"/>
          <p:cNvSpPr/>
          <p:nvPr/>
        </p:nvSpPr>
        <p:spPr>
          <a:xfrm>
            <a:off x="5321808" y="3063240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15" name="Shape 13"/>
          <p:cNvSpPr/>
          <p:nvPr/>
        </p:nvSpPr>
        <p:spPr>
          <a:xfrm>
            <a:off x="5632704" y="3063240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16" name="Shape 14"/>
          <p:cNvSpPr/>
          <p:nvPr/>
        </p:nvSpPr>
        <p:spPr>
          <a:xfrm>
            <a:off x="5943600" y="3063240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17" name="Shape 15"/>
          <p:cNvSpPr/>
          <p:nvPr/>
        </p:nvSpPr>
        <p:spPr>
          <a:xfrm>
            <a:off x="6254496" y="3063240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18" name="Shape 16"/>
          <p:cNvSpPr/>
          <p:nvPr/>
        </p:nvSpPr>
        <p:spPr>
          <a:xfrm>
            <a:off x="6565392" y="3063240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19" name="Shape 17"/>
          <p:cNvSpPr/>
          <p:nvPr/>
        </p:nvSpPr>
        <p:spPr>
          <a:xfrm>
            <a:off x="2834640" y="3374136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20" name="Shape 18"/>
          <p:cNvSpPr/>
          <p:nvPr/>
        </p:nvSpPr>
        <p:spPr>
          <a:xfrm>
            <a:off x="3145536" y="3374136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21" name="Shape 19"/>
          <p:cNvSpPr/>
          <p:nvPr/>
        </p:nvSpPr>
        <p:spPr>
          <a:xfrm>
            <a:off x="3456432" y="3374136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22" name="Shape 20"/>
          <p:cNvSpPr/>
          <p:nvPr/>
        </p:nvSpPr>
        <p:spPr>
          <a:xfrm>
            <a:off x="3767328" y="3374136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23" name="Shape 21"/>
          <p:cNvSpPr/>
          <p:nvPr/>
        </p:nvSpPr>
        <p:spPr>
          <a:xfrm>
            <a:off x="4078224" y="3374136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24" name="Shape 22"/>
          <p:cNvSpPr/>
          <p:nvPr/>
        </p:nvSpPr>
        <p:spPr>
          <a:xfrm>
            <a:off x="4389120" y="3374136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25" name="Shape 23"/>
          <p:cNvSpPr/>
          <p:nvPr/>
        </p:nvSpPr>
        <p:spPr>
          <a:xfrm>
            <a:off x="4700016" y="3374136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26" name="Shape 24"/>
          <p:cNvSpPr/>
          <p:nvPr/>
        </p:nvSpPr>
        <p:spPr>
          <a:xfrm>
            <a:off x="5010912" y="3374136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27" name="Shape 25"/>
          <p:cNvSpPr/>
          <p:nvPr/>
        </p:nvSpPr>
        <p:spPr>
          <a:xfrm>
            <a:off x="5321808" y="3374136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28" name="Shape 26"/>
          <p:cNvSpPr/>
          <p:nvPr/>
        </p:nvSpPr>
        <p:spPr>
          <a:xfrm>
            <a:off x="5632704" y="3374136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29" name="Shape 27"/>
          <p:cNvSpPr/>
          <p:nvPr/>
        </p:nvSpPr>
        <p:spPr>
          <a:xfrm>
            <a:off x="5943600" y="3374136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30" name="Shape 28"/>
          <p:cNvSpPr/>
          <p:nvPr/>
        </p:nvSpPr>
        <p:spPr>
          <a:xfrm>
            <a:off x="6254496" y="3374136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31" name="Shape 29"/>
          <p:cNvSpPr/>
          <p:nvPr/>
        </p:nvSpPr>
        <p:spPr>
          <a:xfrm>
            <a:off x="6565392" y="3374136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32" name="Shape 30"/>
          <p:cNvSpPr/>
          <p:nvPr/>
        </p:nvSpPr>
        <p:spPr>
          <a:xfrm>
            <a:off x="2834640" y="3685032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33" name="Shape 31"/>
          <p:cNvSpPr/>
          <p:nvPr/>
        </p:nvSpPr>
        <p:spPr>
          <a:xfrm>
            <a:off x="3145536" y="3685032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56432" y="3685032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67328" y="3685032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36" name="Shape 34"/>
          <p:cNvSpPr/>
          <p:nvPr/>
        </p:nvSpPr>
        <p:spPr>
          <a:xfrm>
            <a:off x="4078224" y="3685032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37" name="Shape 35"/>
          <p:cNvSpPr/>
          <p:nvPr/>
        </p:nvSpPr>
        <p:spPr>
          <a:xfrm>
            <a:off x="4389120" y="3685032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00016" y="3685032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39" name="Shape 37"/>
          <p:cNvSpPr/>
          <p:nvPr/>
        </p:nvSpPr>
        <p:spPr>
          <a:xfrm>
            <a:off x="5010912" y="3685032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40" name="Shape 38"/>
          <p:cNvSpPr/>
          <p:nvPr/>
        </p:nvSpPr>
        <p:spPr>
          <a:xfrm>
            <a:off x="5321808" y="3685032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41" name="Shape 39"/>
          <p:cNvSpPr/>
          <p:nvPr/>
        </p:nvSpPr>
        <p:spPr>
          <a:xfrm>
            <a:off x="5632704" y="3685032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42" name="Shape 40"/>
          <p:cNvSpPr/>
          <p:nvPr/>
        </p:nvSpPr>
        <p:spPr>
          <a:xfrm>
            <a:off x="5943600" y="3685032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43" name="Shape 41"/>
          <p:cNvSpPr/>
          <p:nvPr/>
        </p:nvSpPr>
        <p:spPr>
          <a:xfrm>
            <a:off x="6254496" y="3685032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44" name="Shape 42"/>
          <p:cNvSpPr/>
          <p:nvPr/>
        </p:nvSpPr>
        <p:spPr>
          <a:xfrm>
            <a:off x="6565392" y="3685032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45" name="Shape 43"/>
          <p:cNvSpPr/>
          <p:nvPr/>
        </p:nvSpPr>
        <p:spPr>
          <a:xfrm>
            <a:off x="2834640" y="3995928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46" name="Shape 44"/>
          <p:cNvSpPr/>
          <p:nvPr/>
        </p:nvSpPr>
        <p:spPr>
          <a:xfrm>
            <a:off x="3145536" y="3995928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47" name="Shape 45"/>
          <p:cNvSpPr/>
          <p:nvPr/>
        </p:nvSpPr>
        <p:spPr>
          <a:xfrm>
            <a:off x="3456432" y="3995928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48" name="Shape 46"/>
          <p:cNvSpPr/>
          <p:nvPr/>
        </p:nvSpPr>
        <p:spPr>
          <a:xfrm>
            <a:off x="3767328" y="3995928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49" name="Shape 47"/>
          <p:cNvSpPr/>
          <p:nvPr/>
        </p:nvSpPr>
        <p:spPr>
          <a:xfrm>
            <a:off x="4078224" y="3995928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50" name="Shape 48"/>
          <p:cNvSpPr/>
          <p:nvPr/>
        </p:nvSpPr>
        <p:spPr>
          <a:xfrm>
            <a:off x="4389120" y="3995928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51" name="Shape 49"/>
          <p:cNvSpPr/>
          <p:nvPr/>
        </p:nvSpPr>
        <p:spPr>
          <a:xfrm>
            <a:off x="4700016" y="3995928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52" name="Shape 50"/>
          <p:cNvSpPr/>
          <p:nvPr/>
        </p:nvSpPr>
        <p:spPr>
          <a:xfrm>
            <a:off x="5010912" y="3995928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53" name="Shape 51"/>
          <p:cNvSpPr/>
          <p:nvPr/>
        </p:nvSpPr>
        <p:spPr>
          <a:xfrm>
            <a:off x="5321808" y="3995928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54" name="Shape 52"/>
          <p:cNvSpPr/>
          <p:nvPr/>
        </p:nvSpPr>
        <p:spPr>
          <a:xfrm>
            <a:off x="5632704" y="3995928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55" name="Shape 53"/>
          <p:cNvSpPr/>
          <p:nvPr/>
        </p:nvSpPr>
        <p:spPr>
          <a:xfrm>
            <a:off x="5943600" y="3995928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56" name="Shape 54"/>
          <p:cNvSpPr/>
          <p:nvPr/>
        </p:nvSpPr>
        <p:spPr>
          <a:xfrm>
            <a:off x="6254496" y="3995928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57" name="Shape 55"/>
          <p:cNvSpPr/>
          <p:nvPr/>
        </p:nvSpPr>
        <p:spPr>
          <a:xfrm>
            <a:off x="6565392" y="3995928"/>
            <a:ext cx="237744" cy="237744"/>
          </a:xfrm>
          <a:prstGeom prst="roundRect">
            <a:avLst>
              <a:gd name="adj" fmla="val 9615"/>
            </a:avLst>
          </a:prstGeom>
          <a:solidFill>
            <a:srgbClr val="C6C6C6"/>
          </a:solidFill>
          <a:ln/>
        </p:spPr>
      </p:sp>
      <p:sp>
        <p:nvSpPr>
          <p:cNvPr id="58" name="Text 56"/>
          <p:cNvSpPr/>
          <p:nvPr/>
        </p:nvSpPr>
        <p:spPr>
          <a:xfrm>
            <a:off x="2834640" y="4416552"/>
            <a:ext cx="3968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CORES X86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7955280" y="2240280"/>
            <a:ext cx="1170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dirty="0">
                <a:solidFill>
                  <a:srgbClr val="FF83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16</a:t>
            </a:r>
            <a:endParaRPr lang="en-US" sz="4600" dirty="0"/>
          </a:p>
        </p:txBody>
      </p:sp>
      <p:sp>
        <p:nvSpPr>
          <p:cNvPr id="60" name="Shape 58"/>
          <p:cNvSpPr/>
          <p:nvPr/>
        </p:nvSpPr>
        <p:spPr>
          <a:xfrm>
            <a:off x="7955280" y="3063240"/>
            <a:ext cx="237744" cy="237744"/>
          </a:xfrm>
          <a:prstGeom prst="roundRect">
            <a:avLst>
              <a:gd name="adj" fmla="val 9615"/>
            </a:avLst>
          </a:prstGeom>
          <a:solidFill>
            <a:srgbClr val="FF832B"/>
          </a:solidFill>
          <a:ln/>
        </p:spPr>
      </p:sp>
      <p:sp>
        <p:nvSpPr>
          <p:cNvPr id="61" name="Shape 59"/>
          <p:cNvSpPr/>
          <p:nvPr/>
        </p:nvSpPr>
        <p:spPr>
          <a:xfrm>
            <a:off x="8266176" y="3063240"/>
            <a:ext cx="237744" cy="237744"/>
          </a:xfrm>
          <a:prstGeom prst="roundRect">
            <a:avLst>
              <a:gd name="adj" fmla="val 9615"/>
            </a:avLst>
          </a:prstGeom>
          <a:solidFill>
            <a:srgbClr val="FF832B"/>
          </a:solidFill>
          <a:ln/>
        </p:spPr>
      </p:sp>
      <p:sp>
        <p:nvSpPr>
          <p:cNvPr id="62" name="Shape 60"/>
          <p:cNvSpPr/>
          <p:nvPr/>
        </p:nvSpPr>
        <p:spPr>
          <a:xfrm>
            <a:off x="8577072" y="3063240"/>
            <a:ext cx="237744" cy="237744"/>
          </a:xfrm>
          <a:prstGeom prst="roundRect">
            <a:avLst>
              <a:gd name="adj" fmla="val 9615"/>
            </a:avLst>
          </a:prstGeom>
          <a:solidFill>
            <a:srgbClr val="FF832B"/>
          </a:solidFill>
          <a:ln/>
        </p:spPr>
      </p:sp>
      <p:sp>
        <p:nvSpPr>
          <p:cNvPr id="63" name="Shape 61"/>
          <p:cNvSpPr/>
          <p:nvPr/>
        </p:nvSpPr>
        <p:spPr>
          <a:xfrm>
            <a:off x="8887968" y="3063240"/>
            <a:ext cx="237744" cy="237744"/>
          </a:xfrm>
          <a:prstGeom prst="roundRect">
            <a:avLst>
              <a:gd name="adj" fmla="val 9615"/>
            </a:avLst>
          </a:prstGeom>
          <a:solidFill>
            <a:srgbClr val="FF832B"/>
          </a:solidFill>
          <a:ln/>
        </p:spPr>
      </p:sp>
      <p:sp>
        <p:nvSpPr>
          <p:cNvPr id="64" name="Shape 62"/>
          <p:cNvSpPr/>
          <p:nvPr/>
        </p:nvSpPr>
        <p:spPr>
          <a:xfrm>
            <a:off x="7955280" y="3374136"/>
            <a:ext cx="237744" cy="237744"/>
          </a:xfrm>
          <a:prstGeom prst="roundRect">
            <a:avLst>
              <a:gd name="adj" fmla="val 9615"/>
            </a:avLst>
          </a:prstGeom>
          <a:solidFill>
            <a:srgbClr val="FF832B"/>
          </a:solidFill>
          <a:ln/>
        </p:spPr>
      </p:sp>
      <p:sp>
        <p:nvSpPr>
          <p:cNvPr id="65" name="Shape 63"/>
          <p:cNvSpPr/>
          <p:nvPr/>
        </p:nvSpPr>
        <p:spPr>
          <a:xfrm>
            <a:off x="8266176" y="3374136"/>
            <a:ext cx="237744" cy="237744"/>
          </a:xfrm>
          <a:prstGeom prst="roundRect">
            <a:avLst>
              <a:gd name="adj" fmla="val 9615"/>
            </a:avLst>
          </a:prstGeom>
          <a:solidFill>
            <a:srgbClr val="FF832B"/>
          </a:solidFill>
          <a:ln/>
        </p:spPr>
      </p:sp>
      <p:sp>
        <p:nvSpPr>
          <p:cNvPr id="66" name="Shape 64"/>
          <p:cNvSpPr/>
          <p:nvPr/>
        </p:nvSpPr>
        <p:spPr>
          <a:xfrm>
            <a:off x="8577072" y="3374136"/>
            <a:ext cx="237744" cy="237744"/>
          </a:xfrm>
          <a:prstGeom prst="roundRect">
            <a:avLst>
              <a:gd name="adj" fmla="val 9615"/>
            </a:avLst>
          </a:prstGeom>
          <a:solidFill>
            <a:srgbClr val="FF832B"/>
          </a:solidFill>
          <a:ln/>
        </p:spPr>
      </p:sp>
      <p:sp>
        <p:nvSpPr>
          <p:cNvPr id="67" name="Shape 65"/>
          <p:cNvSpPr/>
          <p:nvPr/>
        </p:nvSpPr>
        <p:spPr>
          <a:xfrm>
            <a:off x="8887968" y="3374136"/>
            <a:ext cx="237744" cy="237744"/>
          </a:xfrm>
          <a:prstGeom prst="roundRect">
            <a:avLst>
              <a:gd name="adj" fmla="val 9615"/>
            </a:avLst>
          </a:prstGeom>
          <a:solidFill>
            <a:srgbClr val="FF832B"/>
          </a:solidFill>
          <a:ln/>
        </p:spPr>
      </p:sp>
      <p:sp>
        <p:nvSpPr>
          <p:cNvPr id="68" name="Shape 66"/>
          <p:cNvSpPr/>
          <p:nvPr/>
        </p:nvSpPr>
        <p:spPr>
          <a:xfrm>
            <a:off x="7955280" y="3685032"/>
            <a:ext cx="237744" cy="237744"/>
          </a:xfrm>
          <a:prstGeom prst="roundRect">
            <a:avLst>
              <a:gd name="adj" fmla="val 9615"/>
            </a:avLst>
          </a:prstGeom>
          <a:solidFill>
            <a:srgbClr val="FF832B"/>
          </a:solidFill>
          <a:ln/>
        </p:spPr>
      </p:sp>
      <p:sp>
        <p:nvSpPr>
          <p:cNvPr id="69" name="Shape 67"/>
          <p:cNvSpPr/>
          <p:nvPr/>
        </p:nvSpPr>
        <p:spPr>
          <a:xfrm>
            <a:off x="8266176" y="3685032"/>
            <a:ext cx="237744" cy="237744"/>
          </a:xfrm>
          <a:prstGeom prst="roundRect">
            <a:avLst>
              <a:gd name="adj" fmla="val 9615"/>
            </a:avLst>
          </a:prstGeom>
          <a:solidFill>
            <a:srgbClr val="FF832B"/>
          </a:solidFill>
          <a:ln/>
        </p:spPr>
      </p:sp>
      <p:sp>
        <p:nvSpPr>
          <p:cNvPr id="70" name="Shape 68"/>
          <p:cNvSpPr/>
          <p:nvPr/>
        </p:nvSpPr>
        <p:spPr>
          <a:xfrm>
            <a:off x="8577072" y="3685032"/>
            <a:ext cx="237744" cy="237744"/>
          </a:xfrm>
          <a:prstGeom prst="roundRect">
            <a:avLst>
              <a:gd name="adj" fmla="val 9615"/>
            </a:avLst>
          </a:prstGeom>
          <a:solidFill>
            <a:srgbClr val="FF832B"/>
          </a:solidFill>
          <a:ln/>
        </p:spPr>
      </p:sp>
      <p:sp>
        <p:nvSpPr>
          <p:cNvPr id="71" name="Shape 69"/>
          <p:cNvSpPr/>
          <p:nvPr/>
        </p:nvSpPr>
        <p:spPr>
          <a:xfrm>
            <a:off x="8887968" y="3685032"/>
            <a:ext cx="237744" cy="237744"/>
          </a:xfrm>
          <a:prstGeom prst="roundRect">
            <a:avLst>
              <a:gd name="adj" fmla="val 9615"/>
            </a:avLst>
          </a:prstGeom>
          <a:solidFill>
            <a:srgbClr val="FF832B"/>
          </a:solidFill>
          <a:ln/>
        </p:spPr>
      </p:sp>
      <p:sp>
        <p:nvSpPr>
          <p:cNvPr id="72" name="Shape 70"/>
          <p:cNvSpPr/>
          <p:nvPr/>
        </p:nvSpPr>
        <p:spPr>
          <a:xfrm>
            <a:off x="7955280" y="3995928"/>
            <a:ext cx="237744" cy="237744"/>
          </a:xfrm>
          <a:prstGeom prst="roundRect">
            <a:avLst>
              <a:gd name="adj" fmla="val 9615"/>
            </a:avLst>
          </a:prstGeom>
          <a:solidFill>
            <a:srgbClr val="FF832B"/>
          </a:solidFill>
          <a:ln/>
        </p:spPr>
      </p:sp>
      <p:sp>
        <p:nvSpPr>
          <p:cNvPr id="73" name="Shape 71"/>
          <p:cNvSpPr/>
          <p:nvPr/>
        </p:nvSpPr>
        <p:spPr>
          <a:xfrm>
            <a:off x="8266176" y="3995928"/>
            <a:ext cx="237744" cy="237744"/>
          </a:xfrm>
          <a:prstGeom prst="roundRect">
            <a:avLst>
              <a:gd name="adj" fmla="val 9615"/>
            </a:avLst>
          </a:prstGeom>
          <a:solidFill>
            <a:srgbClr val="FF832B"/>
          </a:solidFill>
          <a:ln/>
        </p:spPr>
      </p:sp>
      <p:sp>
        <p:nvSpPr>
          <p:cNvPr id="74" name="Shape 72"/>
          <p:cNvSpPr/>
          <p:nvPr/>
        </p:nvSpPr>
        <p:spPr>
          <a:xfrm>
            <a:off x="8577072" y="3995928"/>
            <a:ext cx="237744" cy="237744"/>
          </a:xfrm>
          <a:prstGeom prst="roundRect">
            <a:avLst>
              <a:gd name="adj" fmla="val 9615"/>
            </a:avLst>
          </a:prstGeom>
          <a:solidFill>
            <a:srgbClr val="FF832B"/>
          </a:solidFill>
          <a:ln/>
        </p:spPr>
      </p:sp>
      <p:sp>
        <p:nvSpPr>
          <p:cNvPr id="75" name="Shape 73"/>
          <p:cNvSpPr/>
          <p:nvPr/>
        </p:nvSpPr>
        <p:spPr>
          <a:xfrm>
            <a:off x="8887968" y="3995928"/>
            <a:ext cx="237744" cy="237744"/>
          </a:xfrm>
          <a:prstGeom prst="roundRect">
            <a:avLst>
              <a:gd name="adj" fmla="val 9615"/>
            </a:avLst>
          </a:prstGeom>
          <a:solidFill>
            <a:srgbClr val="FF832B"/>
          </a:solidFill>
          <a:ln/>
        </p:spPr>
      </p:sp>
      <p:sp>
        <p:nvSpPr>
          <p:cNvPr id="76" name="Text 74"/>
          <p:cNvSpPr/>
          <p:nvPr/>
        </p:nvSpPr>
        <p:spPr>
          <a:xfrm>
            <a:off x="7406640" y="4416552"/>
            <a:ext cx="226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IFLs · LINUXONE</a:t>
            </a:r>
            <a:endParaRPr lang="en-US" sz="1100" dirty="0"/>
          </a:p>
        </p:txBody>
      </p:sp>
      <p:sp>
        <p:nvSpPr>
          <p:cNvPr id="77" name="Shape 75"/>
          <p:cNvSpPr/>
          <p:nvPr/>
        </p:nvSpPr>
        <p:spPr>
          <a:xfrm>
            <a:off x="6986016" y="3566160"/>
            <a:ext cx="786384" cy="0"/>
          </a:xfrm>
          <a:prstGeom prst="line">
            <a:avLst/>
          </a:prstGeom>
          <a:noFill/>
          <a:ln w="38100">
            <a:solidFill>
              <a:srgbClr val="0F62FE"/>
            </a:solidFill>
            <a:prstDash val="solid"/>
            <a:tailEnd type="triangle"/>
          </a:ln>
        </p:spPr>
      </p:sp>
      <p:sp>
        <p:nvSpPr>
          <p:cNvPr id="78" name="Text 76"/>
          <p:cNvSpPr/>
          <p:nvPr/>
        </p:nvSpPr>
        <p:spPr>
          <a:xfrm>
            <a:off x="6803136" y="3721608"/>
            <a:ext cx="1152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menos de 1/3</a:t>
            </a:r>
            <a:endParaRPr lang="en-US" sz="1100" dirty="0"/>
          </a:p>
        </p:txBody>
      </p:sp>
      <p:sp>
        <p:nvSpPr>
          <p:cNvPr id="79" name="Text 77"/>
          <p:cNvSpPr/>
          <p:nvPr/>
        </p:nvSpPr>
        <p:spPr>
          <a:xfrm>
            <a:off x="822960" y="52578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Mesma carga de </a:t>
            </a:r>
            <a:pPr algn="ctr" indent="0" marL="0">
              <a:buNone/>
            </a:pPr>
            <a:r>
              <a:rPr lang="en-US" sz="14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Kafka + Zookeeper</a:t>
            </a:r>
            <a:pPr algn="ctr" indent="0" marL="0">
              <a:buNone/>
            </a:pPr>
            <a:r>
              <a:rPr lang="en-US" sz="14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(~10 ms · 600 mil mensagens) com menos de um terço dos cores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POR QUE AGORA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10241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4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Menos servidores. Menos energia. </a:t>
            </a:r>
            <a:pPr indent="0" marL="0">
              <a:lnSpc>
                <a:spcPct val="104000"/>
              </a:lnSpc>
              <a:buNone/>
            </a:pPr>
            <a:r>
              <a:rPr lang="en-US" sz="4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Mais confiança.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4480560"/>
            <a:ext cx="8412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Até 60% menor TCO, 75% menos espaço de data center, 50% menos energia e até 450 bilhões de inferências de IA por dia com 1 ms de resposta — enquanto o x86 fica mais caro.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SEÇÃO TÉCNICA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10241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4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Sob o capô do </a:t>
            </a:r>
            <a:pPr indent="0" marL="0">
              <a:lnSpc>
                <a:spcPct val="104000"/>
              </a:lnSpc>
              <a:buNone/>
            </a:pPr>
            <a:r>
              <a:rPr lang="en-US" sz="4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LinuxONE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22960" y="4480560"/>
            <a:ext cx="8412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engenharia por trás dos números: o processador Telum II, a hierarquia de cache, a arquitetura de I/O e os mecanismos de resiliência que o x86 não tem.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 SISTEMA · IBM LINUXONE EMPEROR 5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430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 único frame, </a:t>
            </a:r>
            <a:pPr indent="0" marL="0">
              <a:buNone/>
            </a:pPr>
            <a:r>
              <a:rPr lang="en-US" sz="32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até 208 cores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22960" y="2514600"/>
            <a:ext cx="4572000" cy="3657600"/>
          </a:xfrm>
          <a:prstGeom prst="roundRect">
            <a:avLst>
              <a:gd name="adj" fmla="val 1500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pic>
        <p:nvPicPr>
          <p:cNvPr id="6" name="Image 0" descr="/tmp/banrisul_pptx/img/machin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87552" y="2679192"/>
            <a:ext cx="4242816" cy="332841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35040" y="258775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208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995160" y="2587752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cores dedicados à lógica de negócio, em até 4 drawers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035040" y="3483864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384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995160" y="3483864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portas/canais de I/O (96 slots PCIe + 12 DPUs)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035040" y="4379976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CoD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995160" y="4379976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Capacity on Demand — ative cores e pague só pelo tempo ligado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6035040" y="527608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HA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995160" y="5276088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manutenção e crescimento (up ou out) sem interrupção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IBM LINUXONE · EXPLORE EM 3D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0972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Gire, aproxime e explore a </a:t>
            </a:r>
            <a:pPr indent="0" marL="0">
              <a:buNone/>
            </a:pPr>
            <a:r>
              <a:rPr lang="en-US" sz="32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máquina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3703320" y="2240280"/>
            <a:ext cx="4754880" cy="3200400"/>
          </a:xfrm>
          <a:prstGeom prst="roundRect">
            <a:avLst>
              <a:gd name="adj" fmla="val 2286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pic>
        <p:nvPicPr>
          <p:cNvPr id="6" name="Image 0" descr="/tmp/banrisul_pptx/img/machine.jpg">
            <a:hlinkClick r:id="rId2" tooltip=""/>
      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886200" y="2423160"/>
            <a:ext cx="4389120" cy="28346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931920" y="2468880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0F62FE"/>
          </a:solidFill>
          <a:ln/>
        </p:spPr>
      </p:sp>
      <p:sp>
        <p:nvSpPr>
          <p:cNvPr id="8" name="Text 5"/>
          <p:cNvSpPr/>
          <p:nvPr/>
        </p:nvSpPr>
        <p:spPr>
          <a:xfrm>
            <a:off x="3931920" y="246888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● INTERATIVO 3D</a:t>
            </a:r>
            <a:endParaRPr lang="en-US" sz="900" dirty="0"/>
          </a:p>
        </p:txBody>
      </p:sp>
      <p:sp>
        <p:nvSpPr>
          <p:cNvPr id="9" name="Shape 6">
            <a:hlinkClick r:id="rId3" tooltip=""/>
          </p:cNvPr>
          <p:cNvSpPr/>
          <p:nvPr/>
        </p:nvSpPr>
        <p:spPr>
          <a:xfrm>
            <a:off x="3611880" y="5715000"/>
            <a:ext cx="4937760" cy="502920"/>
          </a:xfrm>
          <a:prstGeom prst="roundRect">
            <a:avLst>
              <a:gd name="adj" fmla="val 49091"/>
            </a:avLst>
          </a:prstGeom>
          <a:solidFill>
            <a:srgbClr val="0F62FE"/>
          </a:solidFill>
          <a:ln/>
        </p:spPr>
      </p:sp>
      <p:sp>
        <p:nvSpPr>
          <p:cNvPr id="10" name="Text 7">
            <a:hlinkClick r:id="rId4" tooltip=""/>
          </p:cNvPr>
          <p:cNvSpPr/>
          <p:nvPr/>
        </p:nvSpPr>
        <p:spPr>
          <a:xfrm>
            <a:off x="3611880" y="571500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u="sng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 Abrir visualizador 3D interativo da IBM  ↗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2960" y="62179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VISUALIZADOR IBM (KAON) · REQUER INTERNET · TAMBÉM DISPONÍVEL ANIMADO NO DECK HTML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PROCESSADOR · IBM TELUM II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430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 nm, 5,5 GHz, </a:t>
            </a:r>
            <a:pPr indent="0" marL="0">
              <a:buNone/>
            </a:pPr>
            <a:r>
              <a:rPr lang="en-US" sz="32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43 bilhões </a:t>
            </a:r>
            <a:pPr indent="0" marL="0">
              <a:buNone/>
            </a:pPr>
            <a:r>
              <a:rPr lang="en-US" sz="32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 transistores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766560" y="2514600"/>
            <a:ext cx="4572000" cy="3657600"/>
          </a:xfrm>
          <a:prstGeom prst="roundRect">
            <a:avLst>
              <a:gd name="adj" fmla="val 1500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pic>
        <p:nvPicPr>
          <p:cNvPr id="6" name="Image 0" descr="/tmp/banrisul_pptx/img/di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31152" y="2679192"/>
            <a:ext cx="4242816" cy="332841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58775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783080" y="2587752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cores por chip, 40% mais cache por core que a geração z16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22960" y="3483864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DPU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783080" y="3483864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I/O no chip — reduz a energia de I/O em mais de 90%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22960" y="4379976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AI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783080" y="4379976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acelerador de IA de 2ª geração — 24 TOPS/chip, 768 TOPS/sistema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822960" y="527608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24mi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783080" y="5276088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milhas de fios condutores integrados em um único chip</a:t>
            </a:r>
            <a:endParaRPr lang="en-US" sz="1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ESTRUTURA DO CHIP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430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Cores, cache e aceleradores no </a:t>
            </a:r>
            <a:pPr indent="0" marL="0">
              <a:buNone/>
            </a:pPr>
            <a:r>
              <a:rPr lang="en-US" sz="32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mesmo silício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22960" y="2514600"/>
            <a:ext cx="4572000" cy="3657600"/>
          </a:xfrm>
          <a:prstGeom prst="roundRect">
            <a:avLst>
              <a:gd name="adj" fmla="val 1500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pic>
        <p:nvPicPr>
          <p:cNvPr id="6" name="Image 0" descr="/tmp/banrisul_pptx/img/chip-structur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87552" y="2679192"/>
            <a:ext cx="4242816" cy="332841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35040" y="258775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L2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995160" y="2587752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 × 36 MB de cache L2 (2,7 ns) — um por core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035040" y="3483864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vL3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995160" y="3483864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360 MB de cache virtual L3 (11,5 ns), formado a partir dos L2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035040" y="4379976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vL4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995160" y="4379976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2,88 GB de cache virtual L4 (48,5 ns), entre drawers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6035040" y="527608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DPU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995160" y="5276088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32 cores de I/O + acelerador de IA, ao lado dos cores de negócio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ARQUITETURA · LINUXONE VS INTEL X86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05156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Não são só cores. São </a:t>
            </a:r>
            <a:pPr indent="0" marL="0">
              <a:buNone/>
            </a:pPr>
            <a:r>
              <a:rPr lang="en-US" sz="3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coprocessadores.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874520"/>
            <a:ext cx="4983480" cy="4343400"/>
          </a:xfrm>
          <a:prstGeom prst="roundRect">
            <a:avLst>
              <a:gd name="adj" fmla="val 1684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55080" y="1874520"/>
            <a:ext cx="4983480" cy="4343400"/>
          </a:xfrm>
          <a:prstGeom prst="roundRect">
            <a:avLst>
              <a:gd name="adj" fmla="val 1684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3000" y="2075688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IBM LinuxONE · </a:t>
            </a:r>
            <a:pPr indent="0" marL="0">
              <a:buNone/>
            </a:pPr>
            <a:r>
              <a:rPr lang="en-US" sz="18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266 processadores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" y="2459736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 SISTEMA · CONFIGURAÇÃO MÁXIMA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1430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0" name="Shape 8"/>
          <p:cNvSpPr/>
          <p:nvPr/>
        </p:nvSpPr>
        <p:spPr>
          <a:xfrm>
            <a:off x="128016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1" name="Shape 9"/>
          <p:cNvSpPr/>
          <p:nvPr/>
        </p:nvSpPr>
        <p:spPr>
          <a:xfrm>
            <a:off x="14173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2" name="Shape 10"/>
          <p:cNvSpPr/>
          <p:nvPr/>
        </p:nvSpPr>
        <p:spPr>
          <a:xfrm>
            <a:off x="155448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3" name="Shape 11"/>
          <p:cNvSpPr/>
          <p:nvPr/>
        </p:nvSpPr>
        <p:spPr>
          <a:xfrm>
            <a:off x="169164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4" name="Shape 12"/>
          <p:cNvSpPr/>
          <p:nvPr/>
        </p:nvSpPr>
        <p:spPr>
          <a:xfrm>
            <a:off x="18288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5" name="Shape 13"/>
          <p:cNvSpPr/>
          <p:nvPr/>
        </p:nvSpPr>
        <p:spPr>
          <a:xfrm>
            <a:off x="196596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6" name="Shape 14"/>
          <p:cNvSpPr/>
          <p:nvPr/>
        </p:nvSpPr>
        <p:spPr>
          <a:xfrm>
            <a:off x="21031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7" name="Shape 15"/>
          <p:cNvSpPr/>
          <p:nvPr/>
        </p:nvSpPr>
        <p:spPr>
          <a:xfrm>
            <a:off x="224028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8" name="Shape 16"/>
          <p:cNvSpPr/>
          <p:nvPr/>
        </p:nvSpPr>
        <p:spPr>
          <a:xfrm>
            <a:off x="237744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9" name="Shape 17"/>
          <p:cNvSpPr/>
          <p:nvPr/>
        </p:nvSpPr>
        <p:spPr>
          <a:xfrm>
            <a:off x="25146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0" name="Shape 18"/>
          <p:cNvSpPr/>
          <p:nvPr/>
        </p:nvSpPr>
        <p:spPr>
          <a:xfrm>
            <a:off x="265176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1" name="Shape 19"/>
          <p:cNvSpPr/>
          <p:nvPr/>
        </p:nvSpPr>
        <p:spPr>
          <a:xfrm>
            <a:off x="27889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2" name="Shape 20"/>
          <p:cNvSpPr/>
          <p:nvPr/>
        </p:nvSpPr>
        <p:spPr>
          <a:xfrm>
            <a:off x="292608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3" name="Shape 21"/>
          <p:cNvSpPr/>
          <p:nvPr/>
        </p:nvSpPr>
        <p:spPr>
          <a:xfrm>
            <a:off x="306324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4" name="Shape 22"/>
          <p:cNvSpPr/>
          <p:nvPr/>
        </p:nvSpPr>
        <p:spPr>
          <a:xfrm>
            <a:off x="32004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5" name="Shape 23"/>
          <p:cNvSpPr/>
          <p:nvPr/>
        </p:nvSpPr>
        <p:spPr>
          <a:xfrm>
            <a:off x="333756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6" name="Shape 24"/>
          <p:cNvSpPr/>
          <p:nvPr/>
        </p:nvSpPr>
        <p:spPr>
          <a:xfrm>
            <a:off x="34747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7" name="Shape 25"/>
          <p:cNvSpPr/>
          <p:nvPr/>
        </p:nvSpPr>
        <p:spPr>
          <a:xfrm>
            <a:off x="361188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8" name="Shape 26"/>
          <p:cNvSpPr/>
          <p:nvPr/>
        </p:nvSpPr>
        <p:spPr>
          <a:xfrm>
            <a:off x="374904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9" name="Shape 27"/>
          <p:cNvSpPr/>
          <p:nvPr/>
        </p:nvSpPr>
        <p:spPr>
          <a:xfrm>
            <a:off x="38862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0" name="Shape 28"/>
          <p:cNvSpPr/>
          <p:nvPr/>
        </p:nvSpPr>
        <p:spPr>
          <a:xfrm>
            <a:off x="402336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1" name="Shape 29"/>
          <p:cNvSpPr/>
          <p:nvPr/>
        </p:nvSpPr>
        <p:spPr>
          <a:xfrm>
            <a:off x="41605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2" name="Shape 30"/>
          <p:cNvSpPr/>
          <p:nvPr/>
        </p:nvSpPr>
        <p:spPr>
          <a:xfrm>
            <a:off x="429768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3" name="Shape 31"/>
          <p:cNvSpPr/>
          <p:nvPr/>
        </p:nvSpPr>
        <p:spPr>
          <a:xfrm>
            <a:off x="443484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4" name="Shape 32"/>
          <p:cNvSpPr/>
          <p:nvPr/>
        </p:nvSpPr>
        <p:spPr>
          <a:xfrm>
            <a:off x="45720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5" name="Shape 33"/>
          <p:cNvSpPr/>
          <p:nvPr/>
        </p:nvSpPr>
        <p:spPr>
          <a:xfrm>
            <a:off x="470916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6" name="Shape 34"/>
          <p:cNvSpPr/>
          <p:nvPr/>
        </p:nvSpPr>
        <p:spPr>
          <a:xfrm>
            <a:off x="48463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7" name="Shape 35"/>
          <p:cNvSpPr/>
          <p:nvPr/>
        </p:nvSpPr>
        <p:spPr>
          <a:xfrm>
            <a:off x="498348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8" name="Shape 36"/>
          <p:cNvSpPr/>
          <p:nvPr/>
        </p:nvSpPr>
        <p:spPr>
          <a:xfrm>
            <a:off x="512064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9" name="Shape 37"/>
          <p:cNvSpPr/>
          <p:nvPr/>
        </p:nvSpPr>
        <p:spPr>
          <a:xfrm>
            <a:off x="52578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40" name="Shape 38"/>
          <p:cNvSpPr/>
          <p:nvPr/>
        </p:nvSpPr>
        <p:spPr>
          <a:xfrm>
            <a:off x="114300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41" name="Shape 39"/>
          <p:cNvSpPr/>
          <p:nvPr/>
        </p:nvSpPr>
        <p:spPr>
          <a:xfrm>
            <a:off x="128016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42" name="Shape 40"/>
          <p:cNvSpPr/>
          <p:nvPr/>
        </p:nvSpPr>
        <p:spPr>
          <a:xfrm>
            <a:off x="141732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43" name="Shape 41"/>
          <p:cNvSpPr/>
          <p:nvPr/>
        </p:nvSpPr>
        <p:spPr>
          <a:xfrm>
            <a:off x="155448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44" name="Shape 42"/>
          <p:cNvSpPr/>
          <p:nvPr/>
        </p:nvSpPr>
        <p:spPr>
          <a:xfrm>
            <a:off x="169164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45" name="Shape 43"/>
          <p:cNvSpPr/>
          <p:nvPr/>
        </p:nvSpPr>
        <p:spPr>
          <a:xfrm>
            <a:off x="182880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46" name="Shape 44"/>
          <p:cNvSpPr/>
          <p:nvPr/>
        </p:nvSpPr>
        <p:spPr>
          <a:xfrm>
            <a:off x="196596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47" name="Shape 45"/>
          <p:cNvSpPr/>
          <p:nvPr/>
        </p:nvSpPr>
        <p:spPr>
          <a:xfrm>
            <a:off x="210312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48" name="Shape 46"/>
          <p:cNvSpPr/>
          <p:nvPr/>
        </p:nvSpPr>
        <p:spPr>
          <a:xfrm>
            <a:off x="224028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49" name="Shape 47"/>
          <p:cNvSpPr/>
          <p:nvPr/>
        </p:nvSpPr>
        <p:spPr>
          <a:xfrm>
            <a:off x="237744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50" name="Shape 48"/>
          <p:cNvSpPr/>
          <p:nvPr/>
        </p:nvSpPr>
        <p:spPr>
          <a:xfrm>
            <a:off x="251460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51" name="Shape 49"/>
          <p:cNvSpPr/>
          <p:nvPr/>
        </p:nvSpPr>
        <p:spPr>
          <a:xfrm>
            <a:off x="265176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52" name="Shape 50"/>
          <p:cNvSpPr/>
          <p:nvPr/>
        </p:nvSpPr>
        <p:spPr>
          <a:xfrm>
            <a:off x="278892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53" name="Shape 51"/>
          <p:cNvSpPr/>
          <p:nvPr/>
        </p:nvSpPr>
        <p:spPr>
          <a:xfrm>
            <a:off x="292608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54" name="Shape 52"/>
          <p:cNvSpPr/>
          <p:nvPr/>
        </p:nvSpPr>
        <p:spPr>
          <a:xfrm>
            <a:off x="306324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55" name="Shape 53"/>
          <p:cNvSpPr/>
          <p:nvPr/>
        </p:nvSpPr>
        <p:spPr>
          <a:xfrm>
            <a:off x="320040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56" name="Shape 54"/>
          <p:cNvSpPr/>
          <p:nvPr/>
        </p:nvSpPr>
        <p:spPr>
          <a:xfrm>
            <a:off x="333756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57" name="Shape 55"/>
          <p:cNvSpPr/>
          <p:nvPr/>
        </p:nvSpPr>
        <p:spPr>
          <a:xfrm>
            <a:off x="347472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58" name="Shape 56"/>
          <p:cNvSpPr/>
          <p:nvPr/>
        </p:nvSpPr>
        <p:spPr>
          <a:xfrm>
            <a:off x="361188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59" name="Shape 57"/>
          <p:cNvSpPr/>
          <p:nvPr/>
        </p:nvSpPr>
        <p:spPr>
          <a:xfrm>
            <a:off x="374904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60" name="Shape 58"/>
          <p:cNvSpPr/>
          <p:nvPr/>
        </p:nvSpPr>
        <p:spPr>
          <a:xfrm>
            <a:off x="388620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61" name="Shape 59"/>
          <p:cNvSpPr/>
          <p:nvPr/>
        </p:nvSpPr>
        <p:spPr>
          <a:xfrm>
            <a:off x="402336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62" name="Shape 60"/>
          <p:cNvSpPr/>
          <p:nvPr/>
        </p:nvSpPr>
        <p:spPr>
          <a:xfrm>
            <a:off x="416052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63" name="Shape 61"/>
          <p:cNvSpPr/>
          <p:nvPr/>
        </p:nvSpPr>
        <p:spPr>
          <a:xfrm>
            <a:off x="429768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64" name="Shape 62"/>
          <p:cNvSpPr/>
          <p:nvPr/>
        </p:nvSpPr>
        <p:spPr>
          <a:xfrm>
            <a:off x="443484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65" name="Shape 63"/>
          <p:cNvSpPr/>
          <p:nvPr/>
        </p:nvSpPr>
        <p:spPr>
          <a:xfrm>
            <a:off x="457200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66" name="Shape 64"/>
          <p:cNvSpPr/>
          <p:nvPr/>
        </p:nvSpPr>
        <p:spPr>
          <a:xfrm>
            <a:off x="470916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67" name="Shape 65"/>
          <p:cNvSpPr/>
          <p:nvPr/>
        </p:nvSpPr>
        <p:spPr>
          <a:xfrm>
            <a:off x="484632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68" name="Shape 66"/>
          <p:cNvSpPr/>
          <p:nvPr/>
        </p:nvSpPr>
        <p:spPr>
          <a:xfrm>
            <a:off x="498348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69" name="Shape 67"/>
          <p:cNvSpPr/>
          <p:nvPr/>
        </p:nvSpPr>
        <p:spPr>
          <a:xfrm>
            <a:off x="512064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70" name="Shape 68"/>
          <p:cNvSpPr/>
          <p:nvPr/>
        </p:nvSpPr>
        <p:spPr>
          <a:xfrm>
            <a:off x="525780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71" name="Shape 69"/>
          <p:cNvSpPr/>
          <p:nvPr/>
        </p:nvSpPr>
        <p:spPr>
          <a:xfrm>
            <a:off x="114300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72" name="Shape 70"/>
          <p:cNvSpPr/>
          <p:nvPr/>
        </p:nvSpPr>
        <p:spPr>
          <a:xfrm>
            <a:off x="128016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73" name="Shape 71"/>
          <p:cNvSpPr/>
          <p:nvPr/>
        </p:nvSpPr>
        <p:spPr>
          <a:xfrm>
            <a:off x="141732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74" name="Shape 72"/>
          <p:cNvSpPr/>
          <p:nvPr/>
        </p:nvSpPr>
        <p:spPr>
          <a:xfrm>
            <a:off x="155448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75" name="Shape 73"/>
          <p:cNvSpPr/>
          <p:nvPr/>
        </p:nvSpPr>
        <p:spPr>
          <a:xfrm>
            <a:off x="169164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76" name="Shape 74"/>
          <p:cNvSpPr/>
          <p:nvPr/>
        </p:nvSpPr>
        <p:spPr>
          <a:xfrm>
            <a:off x="182880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77" name="Shape 75"/>
          <p:cNvSpPr/>
          <p:nvPr/>
        </p:nvSpPr>
        <p:spPr>
          <a:xfrm>
            <a:off x="196596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78" name="Shape 76"/>
          <p:cNvSpPr/>
          <p:nvPr/>
        </p:nvSpPr>
        <p:spPr>
          <a:xfrm>
            <a:off x="210312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79" name="Shape 77"/>
          <p:cNvSpPr/>
          <p:nvPr/>
        </p:nvSpPr>
        <p:spPr>
          <a:xfrm>
            <a:off x="224028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80" name="Shape 78"/>
          <p:cNvSpPr/>
          <p:nvPr/>
        </p:nvSpPr>
        <p:spPr>
          <a:xfrm>
            <a:off x="237744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81" name="Shape 79"/>
          <p:cNvSpPr/>
          <p:nvPr/>
        </p:nvSpPr>
        <p:spPr>
          <a:xfrm>
            <a:off x="251460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82" name="Shape 80"/>
          <p:cNvSpPr/>
          <p:nvPr/>
        </p:nvSpPr>
        <p:spPr>
          <a:xfrm>
            <a:off x="265176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83" name="Shape 81"/>
          <p:cNvSpPr/>
          <p:nvPr/>
        </p:nvSpPr>
        <p:spPr>
          <a:xfrm>
            <a:off x="278892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84" name="Shape 82"/>
          <p:cNvSpPr/>
          <p:nvPr/>
        </p:nvSpPr>
        <p:spPr>
          <a:xfrm>
            <a:off x="292608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85" name="Shape 83"/>
          <p:cNvSpPr/>
          <p:nvPr/>
        </p:nvSpPr>
        <p:spPr>
          <a:xfrm>
            <a:off x="306324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86" name="Shape 84"/>
          <p:cNvSpPr/>
          <p:nvPr/>
        </p:nvSpPr>
        <p:spPr>
          <a:xfrm>
            <a:off x="320040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87" name="Shape 85"/>
          <p:cNvSpPr/>
          <p:nvPr/>
        </p:nvSpPr>
        <p:spPr>
          <a:xfrm>
            <a:off x="333756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88" name="Shape 86"/>
          <p:cNvSpPr/>
          <p:nvPr/>
        </p:nvSpPr>
        <p:spPr>
          <a:xfrm>
            <a:off x="347472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89" name="Shape 87"/>
          <p:cNvSpPr/>
          <p:nvPr/>
        </p:nvSpPr>
        <p:spPr>
          <a:xfrm>
            <a:off x="361188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90" name="Shape 88"/>
          <p:cNvSpPr/>
          <p:nvPr/>
        </p:nvSpPr>
        <p:spPr>
          <a:xfrm>
            <a:off x="374904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91" name="Shape 89"/>
          <p:cNvSpPr/>
          <p:nvPr/>
        </p:nvSpPr>
        <p:spPr>
          <a:xfrm>
            <a:off x="388620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92" name="Shape 90"/>
          <p:cNvSpPr/>
          <p:nvPr/>
        </p:nvSpPr>
        <p:spPr>
          <a:xfrm>
            <a:off x="402336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93" name="Shape 91"/>
          <p:cNvSpPr/>
          <p:nvPr/>
        </p:nvSpPr>
        <p:spPr>
          <a:xfrm>
            <a:off x="416052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94" name="Shape 92"/>
          <p:cNvSpPr/>
          <p:nvPr/>
        </p:nvSpPr>
        <p:spPr>
          <a:xfrm>
            <a:off x="429768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95" name="Shape 93"/>
          <p:cNvSpPr/>
          <p:nvPr/>
        </p:nvSpPr>
        <p:spPr>
          <a:xfrm>
            <a:off x="443484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96" name="Shape 94"/>
          <p:cNvSpPr/>
          <p:nvPr/>
        </p:nvSpPr>
        <p:spPr>
          <a:xfrm>
            <a:off x="457200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97" name="Shape 95"/>
          <p:cNvSpPr/>
          <p:nvPr/>
        </p:nvSpPr>
        <p:spPr>
          <a:xfrm>
            <a:off x="470916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98" name="Shape 96"/>
          <p:cNvSpPr/>
          <p:nvPr/>
        </p:nvSpPr>
        <p:spPr>
          <a:xfrm>
            <a:off x="484632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99" name="Shape 97"/>
          <p:cNvSpPr/>
          <p:nvPr/>
        </p:nvSpPr>
        <p:spPr>
          <a:xfrm>
            <a:off x="498348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00" name="Shape 98"/>
          <p:cNvSpPr/>
          <p:nvPr/>
        </p:nvSpPr>
        <p:spPr>
          <a:xfrm>
            <a:off x="512064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01" name="Shape 99"/>
          <p:cNvSpPr/>
          <p:nvPr/>
        </p:nvSpPr>
        <p:spPr>
          <a:xfrm>
            <a:off x="525780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02" name="Shape 100"/>
          <p:cNvSpPr/>
          <p:nvPr/>
        </p:nvSpPr>
        <p:spPr>
          <a:xfrm>
            <a:off x="114300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03" name="Shape 101"/>
          <p:cNvSpPr/>
          <p:nvPr/>
        </p:nvSpPr>
        <p:spPr>
          <a:xfrm>
            <a:off x="128016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04" name="Shape 102"/>
          <p:cNvSpPr/>
          <p:nvPr/>
        </p:nvSpPr>
        <p:spPr>
          <a:xfrm>
            <a:off x="141732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05" name="Shape 103"/>
          <p:cNvSpPr/>
          <p:nvPr/>
        </p:nvSpPr>
        <p:spPr>
          <a:xfrm>
            <a:off x="155448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06" name="Shape 104"/>
          <p:cNvSpPr/>
          <p:nvPr/>
        </p:nvSpPr>
        <p:spPr>
          <a:xfrm>
            <a:off x="169164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07" name="Shape 105"/>
          <p:cNvSpPr/>
          <p:nvPr/>
        </p:nvSpPr>
        <p:spPr>
          <a:xfrm>
            <a:off x="182880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08" name="Shape 106"/>
          <p:cNvSpPr/>
          <p:nvPr/>
        </p:nvSpPr>
        <p:spPr>
          <a:xfrm>
            <a:off x="196596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09" name="Shape 107"/>
          <p:cNvSpPr/>
          <p:nvPr/>
        </p:nvSpPr>
        <p:spPr>
          <a:xfrm>
            <a:off x="210312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10" name="Shape 108"/>
          <p:cNvSpPr/>
          <p:nvPr/>
        </p:nvSpPr>
        <p:spPr>
          <a:xfrm>
            <a:off x="224028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11" name="Shape 109"/>
          <p:cNvSpPr/>
          <p:nvPr/>
        </p:nvSpPr>
        <p:spPr>
          <a:xfrm>
            <a:off x="237744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12" name="Shape 110"/>
          <p:cNvSpPr/>
          <p:nvPr/>
        </p:nvSpPr>
        <p:spPr>
          <a:xfrm>
            <a:off x="251460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13" name="Shape 111"/>
          <p:cNvSpPr/>
          <p:nvPr/>
        </p:nvSpPr>
        <p:spPr>
          <a:xfrm>
            <a:off x="265176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14" name="Shape 112"/>
          <p:cNvSpPr/>
          <p:nvPr/>
        </p:nvSpPr>
        <p:spPr>
          <a:xfrm>
            <a:off x="278892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15" name="Shape 113"/>
          <p:cNvSpPr/>
          <p:nvPr/>
        </p:nvSpPr>
        <p:spPr>
          <a:xfrm>
            <a:off x="292608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06324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20040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33756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47472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20" name="Shape 118"/>
          <p:cNvSpPr/>
          <p:nvPr/>
        </p:nvSpPr>
        <p:spPr>
          <a:xfrm>
            <a:off x="361188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74904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22" name="Shape 120"/>
          <p:cNvSpPr/>
          <p:nvPr/>
        </p:nvSpPr>
        <p:spPr>
          <a:xfrm>
            <a:off x="388620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02336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16052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29768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43484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57200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70916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84632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98348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31" name="Shape 129"/>
          <p:cNvSpPr/>
          <p:nvPr/>
        </p:nvSpPr>
        <p:spPr>
          <a:xfrm>
            <a:off x="512064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32" name="Shape 130"/>
          <p:cNvSpPr/>
          <p:nvPr/>
        </p:nvSpPr>
        <p:spPr>
          <a:xfrm>
            <a:off x="525780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33" name="Shape 131"/>
          <p:cNvSpPr/>
          <p:nvPr/>
        </p:nvSpPr>
        <p:spPr>
          <a:xfrm>
            <a:off x="114300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34" name="Shape 132"/>
          <p:cNvSpPr/>
          <p:nvPr/>
        </p:nvSpPr>
        <p:spPr>
          <a:xfrm>
            <a:off x="128016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35" name="Shape 133"/>
          <p:cNvSpPr/>
          <p:nvPr/>
        </p:nvSpPr>
        <p:spPr>
          <a:xfrm>
            <a:off x="141732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36" name="Shape 134"/>
          <p:cNvSpPr/>
          <p:nvPr/>
        </p:nvSpPr>
        <p:spPr>
          <a:xfrm>
            <a:off x="155448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37" name="Shape 135"/>
          <p:cNvSpPr/>
          <p:nvPr/>
        </p:nvSpPr>
        <p:spPr>
          <a:xfrm>
            <a:off x="169164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38" name="Shape 136"/>
          <p:cNvSpPr/>
          <p:nvPr/>
        </p:nvSpPr>
        <p:spPr>
          <a:xfrm>
            <a:off x="182880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39" name="Shape 137"/>
          <p:cNvSpPr/>
          <p:nvPr/>
        </p:nvSpPr>
        <p:spPr>
          <a:xfrm>
            <a:off x="196596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40" name="Shape 138"/>
          <p:cNvSpPr/>
          <p:nvPr/>
        </p:nvSpPr>
        <p:spPr>
          <a:xfrm>
            <a:off x="210312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41" name="Shape 139"/>
          <p:cNvSpPr/>
          <p:nvPr/>
        </p:nvSpPr>
        <p:spPr>
          <a:xfrm>
            <a:off x="224028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42" name="Shape 140"/>
          <p:cNvSpPr/>
          <p:nvPr/>
        </p:nvSpPr>
        <p:spPr>
          <a:xfrm>
            <a:off x="237744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43" name="Shape 141"/>
          <p:cNvSpPr/>
          <p:nvPr/>
        </p:nvSpPr>
        <p:spPr>
          <a:xfrm>
            <a:off x="251460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44" name="Shape 142"/>
          <p:cNvSpPr/>
          <p:nvPr/>
        </p:nvSpPr>
        <p:spPr>
          <a:xfrm>
            <a:off x="265176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45" name="Shape 143"/>
          <p:cNvSpPr/>
          <p:nvPr/>
        </p:nvSpPr>
        <p:spPr>
          <a:xfrm>
            <a:off x="278892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46" name="Shape 144"/>
          <p:cNvSpPr/>
          <p:nvPr/>
        </p:nvSpPr>
        <p:spPr>
          <a:xfrm>
            <a:off x="292608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47" name="Shape 145"/>
          <p:cNvSpPr/>
          <p:nvPr/>
        </p:nvSpPr>
        <p:spPr>
          <a:xfrm>
            <a:off x="306324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48" name="Shape 146"/>
          <p:cNvSpPr/>
          <p:nvPr/>
        </p:nvSpPr>
        <p:spPr>
          <a:xfrm>
            <a:off x="320040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49" name="Shape 147"/>
          <p:cNvSpPr/>
          <p:nvPr/>
        </p:nvSpPr>
        <p:spPr>
          <a:xfrm>
            <a:off x="333756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50" name="Shape 148"/>
          <p:cNvSpPr/>
          <p:nvPr/>
        </p:nvSpPr>
        <p:spPr>
          <a:xfrm>
            <a:off x="347472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51" name="Shape 149"/>
          <p:cNvSpPr/>
          <p:nvPr/>
        </p:nvSpPr>
        <p:spPr>
          <a:xfrm>
            <a:off x="361188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52" name="Shape 150"/>
          <p:cNvSpPr/>
          <p:nvPr/>
        </p:nvSpPr>
        <p:spPr>
          <a:xfrm>
            <a:off x="374904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53" name="Shape 151"/>
          <p:cNvSpPr/>
          <p:nvPr/>
        </p:nvSpPr>
        <p:spPr>
          <a:xfrm>
            <a:off x="388620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54" name="Shape 152"/>
          <p:cNvSpPr/>
          <p:nvPr/>
        </p:nvSpPr>
        <p:spPr>
          <a:xfrm>
            <a:off x="402336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55" name="Shape 153"/>
          <p:cNvSpPr/>
          <p:nvPr/>
        </p:nvSpPr>
        <p:spPr>
          <a:xfrm>
            <a:off x="416052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56" name="Shape 154"/>
          <p:cNvSpPr/>
          <p:nvPr/>
        </p:nvSpPr>
        <p:spPr>
          <a:xfrm>
            <a:off x="429768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57" name="Shape 155"/>
          <p:cNvSpPr/>
          <p:nvPr/>
        </p:nvSpPr>
        <p:spPr>
          <a:xfrm>
            <a:off x="443484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58" name="Shape 156"/>
          <p:cNvSpPr/>
          <p:nvPr/>
        </p:nvSpPr>
        <p:spPr>
          <a:xfrm>
            <a:off x="457200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59" name="Shape 157"/>
          <p:cNvSpPr/>
          <p:nvPr/>
        </p:nvSpPr>
        <p:spPr>
          <a:xfrm>
            <a:off x="470916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60" name="Shape 158"/>
          <p:cNvSpPr/>
          <p:nvPr/>
        </p:nvSpPr>
        <p:spPr>
          <a:xfrm>
            <a:off x="484632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61" name="Shape 159"/>
          <p:cNvSpPr/>
          <p:nvPr/>
        </p:nvSpPr>
        <p:spPr>
          <a:xfrm>
            <a:off x="498348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62" name="Shape 160"/>
          <p:cNvSpPr/>
          <p:nvPr/>
        </p:nvSpPr>
        <p:spPr>
          <a:xfrm>
            <a:off x="512064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63" name="Shape 161"/>
          <p:cNvSpPr/>
          <p:nvPr/>
        </p:nvSpPr>
        <p:spPr>
          <a:xfrm>
            <a:off x="525780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64" name="Shape 162"/>
          <p:cNvSpPr/>
          <p:nvPr/>
        </p:nvSpPr>
        <p:spPr>
          <a:xfrm>
            <a:off x="114300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65" name="Shape 163"/>
          <p:cNvSpPr/>
          <p:nvPr/>
        </p:nvSpPr>
        <p:spPr>
          <a:xfrm>
            <a:off x="128016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66" name="Shape 164"/>
          <p:cNvSpPr/>
          <p:nvPr/>
        </p:nvSpPr>
        <p:spPr>
          <a:xfrm>
            <a:off x="141732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67" name="Shape 165"/>
          <p:cNvSpPr/>
          <p:nvPr/>
        </p:nvSpPr>
        <p:spPr>
          <a:xfrm>
            <a:off x="155448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68" name="Shape 166"/>
          <p:cNvSpPr/>
          <p:nvPr/>
        </p:nvSpPr>
        <p:spPr>
          <a:xfrm>
            <a:off x="169164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69" name="Shape 167"/>
          <p:cNvSpPr/>
          <p:nvPr/>
        </p:nvSpPr>
        <p:spPr>
          <a:xfrm>
            <a:off x="182880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70" name="Shape 168"/>
          <p:cNvSpPr/>
          <p:nvPr/>
        </p:nvSpPr>
        <p:spPr>
          <a:xfrm>
            <a:off x="196596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71" name="Shape 169"/>
          <p:cNvSpPr/>
          <p:nvPr/>
        </p:nvSpPr>
        <p:spPr>
          <a:xfrm>
            <a:off x="210312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72" name="Shape 170"/>
          <p:cNvSpPr/>
          <p:nvPr/>
        </p:nvSpPr>
        <p:spPr>
          <a:xfrm>
            <a:off x="224028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73" name="Shape 171"/>
          <p:cNvSpPr/>
          <p:nvPr/>
        </p:nvSpPr>
        <p:spPr>
          <a:xfrm>
            <a:off x="237744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74" name="Shape 172"/>
          <p:cNvSpPr/>
          <p:nvPr/>
        </p:nvSpPr>
        <p:spPr>
          <a:xfrm>
            <a:off x="251460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75" name="Shape 173"/>
          <p:cNvSpPr/>
          <p:nvPr/>
        </p:nvSpPr>
        <p:spPr>
          <a:xfrm>
            <a:off x="265176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76" name="Shape 174"/>
          <p:cNvSpPr/>
          <p:nvPr/>
        </p:nvSpPr>
        <p:spPr>
          <a:xfrm>
            <a:off x="278892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77" name="Shape 175"/>
          <p:cNvSpPr/>
          <p:nvPr/>
        </p:nvSpPr>
        <p:spPr>
          <a:xfrm>
            <a:off x="292608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78" name="Shape 176"/>
          <p:cNvSpPr/>
          <p:nvPr/>
        </p:nvSpPr>
        <p:spPr>
          <a:xfrm>
            <a:off x="306324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79" name="Shape 177"/>
          <p:cNvSpPr/>
          <p:nvPr/>
        </p:nvSpPr>
        <p:spPr>
          <a:xfrm>
            <a:off x="320040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80" name="Shape 178"/>
          <p:cNvSpPr/>
          <p:nvPr/>
        </p:nvSpPr>
        <p:spPr>
          <a:xfrm>
            <a:off x="333756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81" name="Shape 179"/>
          <p:cNvSpPr/>
          <p:nvPr/>
        </p:nvSpPr>
        <p:spPr>
          <a:xfrm>
            <a:off x="347472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82" name="Shape 180"/>
          <p:cNvSpPr/>
          <p:nvPr/>
        </p:nvSpPr>
        <p:spPr>
          <a:xfrm>
            <a:off x="361188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83" name="Shape 181"/>
          <p:cNvSpPr/>
          <p:nvPr/>
        </p:nvSpPr>
        <p:spPr>
          <a:xfrm>
            <a:off x="374904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84" name="Shape 182"/>
          <p:cNvSpPr/>
          <p:nvPr/>
        </p:nvSpPr>
        <p:spPr>
          <a:xfrm>
            <a:off x="388620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85" name="Shape 183"/>
          <p:cNvSpPr/>
          <p:nvPr/>
        </p:nvSpPr>
        <p:spPr>
          <a:xfrm>
            <a:off x="402336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86" name="Shape 184"/>
          <p:cNvSpPr/>
          <p:nvPr/>
        </p:nvSpPr>
        <p:spPr>
          <a:xfrm>
            <a:off x="416052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87" name="Shape 185"/>
          <p:cNvSpPr/>
          <p:nvPr/>
        </p:nvSpPr>
        <p:spPr>
          <a:xfrm>
            <a:off x="429768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88" name="Shape 186"/>
          <p:cNvSpPr/>
          <p:nvPr/>
        </p:nvSpPr>
        <p:spPr>
          <a:xfrm>
            <a:off x="443484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89" name="Shape 187"/>
          <p:cNvSpPr/>
          <p:nvPr/>
        </p:nvSpPr>
        <p:spPr>
          <a:xfrm>
            <a:off x="457200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90" name="Shape 188"/>
          <p:cNvSpPr/>
          <p:nvPr/>
        </p:nvSpPr>
        <p:spPr>
          <a:xfrm>
            <a:off x="470916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91" name="Shape 189"/>
          <p:cNvSpPr/>
          <p:nvPr/>
        </p:nvSpPr>
        <p:spPr>
          <a:xfrm>
            <a:off x="484632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92" name="Shape 190"/>
          <p:cNvSpPr/>
          <p:nvPr/>
        </p:nvSpPr>
        <p:spPr>
          <a:xfrm>
            <a:off x="498348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93" name="Shape 191"/>
          <p:cNvSpPr/>
          <p:nvPr/>
        </p:nvSpPr>
        <p:spPr>
          <a:xfrm>
            <a:off x="512064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94" name="Shape 192"/>
          <p:cNvSpPr/>
          <p:nvPr/>
        </p:nvSpPr>
        <p:spPr>
          <a:xfrm>
            <a:off x="525780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95" name="Shape 193"/>
          <p:cNvSpPr/>
          <p:nvPr/>
        </p:nvSpPr>
        <p:spPr>
          <a:xfrm>
            <a:off x="114300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96" name="Shape 194"/>
          <p:cNvSpPr/>
          <p:nvPr/>
        </p:nvSpPr>
        <p:spPr>
          <a:xfrm>
            <a:off x="128016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97" name="Shape 195"/>
          <p:cNvSpPr/>
          <p:nvPr/>
        </p:nvSpPr>
        <p:spPr>
          <a:xfrm>
            <a:off x="141732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98" name="Shape 196"/>
          <p:cNvSpPr/>
          <p:nvPr/>
        </p:nvSpPr>
        <p:spPr>
          <a:xfrm>
            <a:off x="155448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99" name="Shape 197"/>
          <p:cNvSpPr/>
          <p:nvPr/>
        </p:nvSpPr>
        <p:spPr>
          <a:xfrm>
            <a:off x="169164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00" name="Shape 198"/>
          <p:cNvSpPr/>
          <p:nvPr/>
        </p:nvSpPr>
        <p:spPr>
          <a:xfrm>
            <a:off x="182880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01" name="Shape 199"/>
          <p:cNvSpPr/>
          <p:nvPr/>
        </p:nvSpPr>
        <p:spPr>
          <a:xfrm>
            <a:off x="196596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02" name="Shape 200"/>
          <p:cNvSpPr/>
          <p:nvPr/>
        </p:nvSpPr>
        <p:spPr>
          <a:xfrm>
            <a:off x="210312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03" name="Shape 201"/>
          <p:cNvSpPr/>
          <p:nvPr/>
        </p:nvSpPr>
        <p:spPr>
          <a:xfrm>
            <a:off x="224028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04" name="Shape 202"/>
          <p:cNvSpPr/>
          <p:nvPr/>
        </p:nvSpPr>
        <p:spPr>
          <a:xfrm>
            <a:off x="237744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05" name="Shape 203"/>
          <p:cNvSpPr/>
          <p:nvPr/>
        </p:nvSpPr>
        <p:spPr>
          <a:xfrm>
            <a:off x="251460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06" name="Shape 204"/>
          <p:cNvSpPr/>
          <p:nvPr/>
        </p:nvSpPr>
        <p:spPr>
          <a:xfrm>
            <a:off x="265176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07" name="Shape 205"/>
          <p:cNvSpPr/>
          <p:nvPr/>
        </p:nvSpPr>
        <p:spPr>
          <a:xfrm>
            <a:off x="278892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08" name="Shape 206"/>
          <p:cNvSpPr/>
          <p:nvPr/>
        </p:nvSpPr>
        <p:spPr>
          <a:xfrm>
            <a:off x="292608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09" name="Shape 207"/>
          <p:cNvSpPr/>
          <p:nvPr/>
        </p:nvSpPr>
        <p:spPr>
          <a:xfrm>
            <a:off x="306324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10" name="Shape 208"/>
          <p:cNvSpPr/>
          <p:nvPr/>
        </p:nvSpPr>
        <p:spPr>
          <a:xfrm>
            <a:off x="320040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11" name="Shape 209"/>
          <p:cNvSpPr/>
          <p:nvPr/>
        </p:nvSpPr>
        <p:spPr>
          <a:xfrm>
            <a:off x="333756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12" name="Shape 210"/>
          <p:cNvSpPr/>
          <p:nvPr/>
        </p:nvSpPr>
        <p:spPr>
          <a:xfrm>
            <a:off x="347472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13" name="Shape 211"/>
          <p:cNvSpPr/>
          <p:nvPr/>
        </p:nvSpPr>
        <p:spPr>
          <a:xfrm>
            <a:off x="361188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14" name="Shape 212"/>
          <p:cNvSpPr/>
          <p:nvPr/>
        </p:nvSpPr>
        <p:spPr>
          <a:xfrm>
            <a:off x="374904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15" name="Shape 213"/>
          <p:cNvSpPr/>
          <p:nvPr/>
        </p:nvSpPr>
        <p:spPr>
          <a:xfrm>
            <a:off x="388620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16" name="Shape 214"/>
          <p:cNvSpPr/>
          <p:nvPr/>
        </p:nvSpPr>
        <p:spPr>
          <a:xfrm>
            <a:off x="402336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17" name="Shape 215"/>
          <p:cNvSpPr/>
          <p:nvPr/>
        </p:nvSpPr>
        <p:spPr>
          <a:xfrm>
            <a:off x="416052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18" name="Shape 216"/>
          <p:cNvSpPr/>
          <p:nvPr/>
        </p:nvSpPr>
        <p:spPr>
          <a:xfrm>
            <a:off x="429768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19" name="Shape 217"/>
          <p:cNvSpPr/>
          <p:nvPr/>
        </p:nvSpPr>
        <p:spPr>
          <a:xfrm>
            <a:off x="443484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20" name="Shape 218"/>
          <p:cNvSpPr/>
          <p:nvPr/>
        </p:nvSpPr>
        <p:spPr>
          <a:xfrm>
            <a:off x="457200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21" name="Shape 219"/>
          <p:cNvSpPr/>
          <p:nvPr/>
        </p:nvSpPr>
        <p:spPr>
          <a:xfrm>
            <a:off x="470916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22" name="Shape 220"/>
          <p:cNvSpPr/>
          <p:nvPr/>
        </p:nvSpPr>
        <p:spPr>
          <a:xfrm>
            <a:off x="484632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23" name="Shape 221"/>
          <p:cNvSpPr/>
          <p:nvPr/>
        </p:nvSpPr>
        <p:spPr>
          <a:xfrm>
            <a:off x="498348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24" name="Shape 222"/>
          <p:cNvSpPr/>
          <p:nvPr/>
        </p:nvSpPr>
        <p:spPr>
          <a:xfrm>
            <a:off x="512064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25" name="Shape 223"/>
          <p:cNvSpPr/>
          <p:nvPr/>
        </p:nvSpPr>
        <p:spPr>
          <a:xfrm>
            <a:off x="525780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26" name="Shape 224"/>
          <p:cNvSpPr/>
          <p:nvPr/>
        </p:nvSpPr>
        <p:spPr>
          <a:xfrm>
            <a:off x="114300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27" name="Shape 225"/>
          <p:cNvSpPr/>
          <p:nvPr/>
        </p:nvSpPr>
        <p:spPr>
          <a:xfrm>
            <a:off x="128016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28" name="Shape 226"/>
          <p:cNvSpPr/>
          <p:nvPr/>
        </p:nvSpPr>
        <p:spPr>
          <a:xfrm>
            <a:off x="141732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29" name="Shape 227"/>
          <p:cNvSpPr/>
          <p:nvPr/>
        </p:nvSpPr>
        <p:spPr>
          <a:xfrm>
            <a:off x="155448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30" name="Shape 228"/>
          <p:cNvSpPr/>
          <p:nvPr/>
        </p:nvSpPr>
        <p:spPr>
          <a:xfrm>
            <a:off x="169164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31" name="Shape 229"/>
          <p:cNvSpPr/>
          <p:nvPr/>
        </p:nvSpPr>
        <p:spPr>
          <a:xfrm>
            <a:off x="182880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32" name="Shape 230"/>
          <p:cNvSpPr/>
          <p:nvPr/>
        </p:nvSpPr>
        <p:spPr>
          <a:xfrm>
            <a:off x="196596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33" name="Shape 231"/>
          <p:cNvSpPr/>
          <p:nvPr/>
        </p:nvSpPr>
        <p:spPr>
          <a:xfrm>
            <a:off x="210312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34" name="Shape 232"/>
          <p:cNvSpPr/>
          <p:nvPr/>
        </p:nvSpPr>
        <p:spPr>
          <a:xfrm>
            <a:off x="224028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35" name="Shape 233"/>
          <p:cNvSpPr/>
          <p:nvPr/>
        </p:nvSpPr>
        <p:spPr>
          <a:xfrm>
            <a:off x="237744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36" name="Shape 234"/>
          <p:cNvSpPr/>
          <p:nvPr/>
        </p:nvSpPr>
        <p:spPr>
          <a:xfrm>
            <a:off x="251460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37" name="Shape 235"/>
          <p:cNvSpPr/>
          <p:nvPr/>
        </p:nvSpPr>
        <p:spPr>
          <a:xfrm>
            <a:off x="265176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38" name="Shape 236"/>
          <p:cNvSpPr/>
          <p:nvPr/>
        </p:nvSpPr>
        <p:spPr>
          <a:xfrm>
            <a:off x="278892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39" name="Shape 237"/>
          <p:cNvSpPr/>
          <p:nvPr/>
        </p:nvSpPr>
        <p:spPr>
          <a:xfrm>
            <a:off x="292608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40" name="Shape 238"/>
          <p:cNvSpPr/>
          <p:nvPr/>
        </p:nvSpPr>
        <p:spPr>
          <a:xfrm>
            <a:off x="306324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41" name="Shape 239"/>
          <p:cNvSpPr/>
          <p:nvPr/>
        </p:nvSpPr>
        <p:spPr>
          <a:xfrm>
            <a:off x="320040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42" name="Shape 240"/>
          <p:cNvSpPr/>
          <p:nvPr/>
        </p:nvSpPr>
        <p:spPr>
          <a:xfrm>
            <a:off x="333756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43" name="Shape 241"/>
          <p:cNvSpPr/>
          <p:nvPr/>
        </p:nvSpPr>
        <p:spPr>
          <a:xfrm>
            <a:off x="347472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44" name="Shape 242"/>
          <p:cNvSpPr/>
          <p:nvPr/>
        </p:nvSpPr>
        <p:spPr>
          <a:xfrm>
            <a:off x="361188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45" name="Shape 243"/>
          <p:cNvSpPr/>
          <p:nvPr/>
        </p:nvSpPr>
        <p:spPr>
          <a:xfrm>
            <a:off x="374904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46" name="Shape 244"/>
          <p:cNvSpPr/>
          <p:nvPr/>
        </p:nvSpPr>
        <p:spPr>
          <a:xfrm>
            <a:off x="388620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47" name="Shape 245"/>
          <p:cNvSpPr/>
          <p:nvPr/>
        </p:nvSpPr>
        <p:spPr>
          <a:xfrm>
            <a:off x="402336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48" name="Shape 246"/>
          <p:cNvSpPr/>
          <p:nvPr/>
        </p:nvSpPr>
        <p:spPr>
          <a:xfrm>
            <a:off x="416052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49" name="Shape 247"/>
          <p:cNvSpPr/>
          <p:nvPr/>
        </p:nvSpPr>
        <p:spPr>
          <a:xfrm>
            <a:off x="429768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50" name="Shape 248"/>
          <p:cNvSpPr/>
          <p:nvPr/>
        </p:nvSpPr>
        <p:spPr>
          <a:xfrm>
            <a:off x="443484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51" name="Shape 249"/>
          <p:cNvSpPr/>
          <p:nvPr/>
        </p:nvSpPr>
        <p:spPr>
          <a:xfrm>
            <a:off x="457200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52" name="Shape 250"/>
          <p:cNvSpPr/>
          <p:nvPr/>
        </p:nvSpPr>
        <p:spPr>
          <a:xfrm>
            <a:off x="470916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53" name="Shape 251"/>
          <p:cNvSpPr/>
          <p:nvPr/>
        </p:nvSpPr>
        <p:spPr>
          <a:xfrm>
            <a:off x="484632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54" name="Shape 252"/>
          <p:cNvSpPr/>
          <p:nvPr/>
        </p:nvSpPr>
        <p:spPr>
          <a:xfrm>
            <a:off x="498348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55" name="Shape 253"/>
          <p:cNvSpPr/>
          <p:nvPr/>
        </p:nvSpPr>
        <p:spPr>
          <a:xfrm>
            <a:off x="512064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56" name="Shape 254"/>
          <p:cNvSpPr/>
          <p:nvPr/>
        </p:nvSpPr>
        <p:spPr>
          <a:xfrm>
            <a:off x="525780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57" name="Shape 255"/>
          <p:cNvSpPr/>
          <p:nvPr/>
        </p:nvSpPr>
        <p:spPr>
          <a:xfrm>
            <a:off x="114300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58" name="Shape 256"/>
          <p:cNvSpPr/>
          <p:nvPr/>
        </p:nvSpPr>
        <p:spPr>
          <a:xfrm>
            <a:off x="128016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59" name="Shape 257"/>
          <p:cNvSpPr/>
          <p:nvPr/>
        </p:nvSpPr>
        <p:spPr>
          <a:xfrm>
            <a:off x="141732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60" name="Shape 258"/>
          <p:cNvSpPr/>
          <p:nvPr/>
        </p:nvSpPr>
        <p:spPr>
          <a:xfrm>
            <a:off x="155448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61" name="Shape 259"/>
          <p:cNvSpPr/>
          <p:nvPr/>
        </p:nvSpPr>
        <p:spPr>
          <a:xfrm>
            <a:off x="169164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62" name="Shape 260"/>
          <p:cNvSpPr/>
          <p:nvPr/>
        </p:nvSpPr>
        <p:spPr>
          <a:xfrm>
            <a:off x="182880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63" name="Shape 261"/>
          <p:cNvSpPr/>
          <p:nvPr/>
        </p:nvSpPr>
        <p:spPr>
          <a:xfrm>
            <a:off x="196596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64" name="Shape 262"/>
          <p:cNvSpPr/>
          <p:nvPr/>
        </p:nvSpPr>
        <p:spPr>
          <a:xfrm>
            <a:off x="210312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65" name="Shape 263"/>
          <p:cNvSpPr/>
          <p:nvPr/>
        </p:nvSpPr>
        <p:spPr>
          <a:xfrm>
            <a:off x="224028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66" name="Shape 264"/>
          <p:cNvSpPr/>
          <p:nvPr/>
        </p:nvSpPr>
        <p:spPr>
          <a:xfrm>
            <a:off x="237744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67" name="Shape 265"/>
          <p:cNvSpPr/>
          <p:nvPr/>
        </p:nvSpPr>
        <p:spPr>
          <a:xfrm>
            <a:off x="251460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68" name="Shape 266"/>
          <p:cNvSpPr/>
          <p:nvPr/>
        </p:nvSpPr>
        <p:spPr>
          <a:xfrm>
            <a:off x="265176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69" name="Shape 267"/>
          <p:cNvSpPr/>
          <p:nvPr/>
        </p:nvSpPr>
        <p:spPr>
          <a:xfrm>
            <a:off x="278892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70" name="Shape 268"/>
          <p:cNvSpPr/>
          <p:nvPr/>
        </p:nvSpPr>
        <p:spPr>
          <a:xfrm>
            <a:off x="292608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71" name="Shape 269"/>
          <p:cNvSpPr/>
          <p:nvPr/>
        </p:nvSpPr>
        <p:spPr>
          <a:xfrm>
            <a:off x="306324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72" name="Shape 270"/>
          <p:cNvSpPr/>
          <p:nvPr/>
        </p:nvSpPr>
        <p:spPr>
          <a:xfrm>
            <a:off x="320040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73" name="Shape 271"/>
          <p:cNvSpPr/>
          <p:nvPr/>
        </p:nvSpPr>
        <p:spPr>
          <a:xfrm>
            <a:off x="333756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A8A8A8"/>
          </a:solidFill>
          <a:ln/>
        </p:spPr>
      </p:sp>
      <p:sp>
        <p:nvSpPr>
          <p:cNvPr id="274" name="Shape 272"/>
          <p:cNvSpPr/>
          <p:nvPr/>
        </p:nvSpPr>
        <p:spPr>
          <a:xfrm>
            <a:off x="347472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A8A8A8"/>
          </a:solidFill>
          <a:ln/>
        </p:spPr>
      </p:sp>
      <p:sp>
        <p:nvSpPr>
          <p:cNvPr id="275" name="Shape 273"/>
          <p:cNvSpPr/>
          <p:nvPr/>
        </p:nvSpPr>
        <p:spPr>
          <a:xfrm>
            <a:off x="1143000" y="4233672"/>
            <a:ext cx="146304" cy="146304"/>
          </a:xfrm>
          <a:prstGeom prst="roundRect">
            <a:avLst>
              <a:gd name="adj" fmla="val 12500"/>
            </a:avLst>
          </a:prstGeom>
          <a:solidFill>
            <a:srgbClr val="0F62FE"/>
          </a:solidFill>
          <a:ln/>
        </p:spPr>
      </p:sp>
      <p:sp>
        <p:nvSpPr>
          <p:cNvPr id="276" name="Text 274"/>
          <p:cNvSpPr/>
          <p:nvPr/>
        </p:nvSpPr>
        <p:spPr>
          <a:xfrm>
            <a:off x="1417320" y="416966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Cores de negócio</a:t>
            </a:r>
            <a:endParaRPr lang="en-US" sz="1250" dirty="0"/>
          </a:p>
        </p:txBody>
      </p:sp>
      <p:sp>
        <p:nvSpPr>
          <p:cNvPr id="277" name="Text 275"/>
          <p:cNvSpPr/>
          <p:nvPr/>
        </p:nvSpPr>
        <p:spPr>
          <a:xfrm>
            <a:off x="4937760" y="416966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616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208</a:t>
            </a:r>
            <a:endParaRPr lang="en-US" sz="1250" dirty="0"/>
          </a:p>
        </p:txBody>
      </p:sp>
      <p:sp>
        <p:nvSpPr>
          <p:cNvPr id="278" name="Shape 276"/>
          <p:cNvSpPr/>
          <p:nvPr/>
        </p:nvSpPr>
        <p:spPr>
          <a:xfrm>
            <a:off x="1143000" y="4507992"/>
            <a:ext cx="146304" cy="146304"/>
          </a:xfrm>
          <a:prstGeom prst="roundRect">
            <a:avLst>
              <a:gd name="adj" fmla="val 12500"/>
            </a:avLst>
          </a:prstGeom>
          <a:solidFill>
            <a:srgbClr val="007D79"/>
          </a:solidFill>
          <a:ln/>
        </p:spPr>
      </p:sp>
      <p:sp>
        <p:nvSpPr>
          <p:cNvPr id="279" name="Text 277"/>
          <p:cNvSpPr/>
          <p:nvPr/>
        </p:nvSpPr>
        <p:spPr>
          <a:xfrm>
            <a:off x="1417320" y="444398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Processadores de I/O (SAP)</a:t>
            </a:r>
            <a:endParaRPr lang="en-US" sz="1250" dirty="0"/>
          </a:p>
        </p:txBody>
      </p:sp>
      <p:sp>
        <p:nvSpPr>
          <p:cNvPr id="280" name="Text 278"/>
          <p:cNvSpPr/>
          <p:nvPr/>
        </p:nvSpPr>
        <p:spPr>
          <a:xfrm>
            <a:off x="4937760" y="444398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616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24</a:t>
            </a:r>
            <a:endParaRPr lang="en-US" sz="1250" dirty="0"/>
          </a:p>
        </p:txBody>
      </p:sp>
      <p:sp>
        <p:nvSpPr>
          <p:cNvPr id="281" name="Shape 279"/>
          <p:cNvSpPr/>
          <p:nvPr/>
        </p:nvSpPr>
        <p:spPr>
          <a:xfrm>
            <a:off x="1143000" y="4782312"/>
            <a:ext cx="146304" cy="146304"/>
          </a:xfrm>
          <a:prstGeom prst="roundRect">
            <a:avLst>
              <a:gd name="adj" fmla="val 12500"/>
            </a:avLst>
          </a:prstGeom>
          <a:solidFill>
            <a:srgbClr val="8A3FFC"/>
          </a:solidFill>
          <a:ln/>
        </p:spPr>
      </p:sp>
      <p:sp>
        <p:nvSpPr>
          <p:cNvPr id="282" name="Text 280"/>
          <p:cNvSpPr/>
          <p:nvPr/>
        </p:nvSpPr>
        <p:spPr>
          <a:xfrm>
            <a:off x="1417320" y="471830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DPU — I/O no chip</a:t>
            </a:r>
            <a:endParaRPr lang="en-US" sz="1250" dirty="0"/>
          </a:p>
        </p:txBody>
      </p:sp>
      <p:sp>
        <p:nvSpPr>
          <p:cNvPr id="283" name="Text 281"/>
          <p:cNvSpPr/>
          <p:nvPr/>
        </p:nvSpPr>
        <p:spPr>
          <a:xfrm>
            <a:off x="4937760" y="471830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616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32</a:t>
            </a:r>
            <a:endParaRPr lang="en-US" sz="1250" dirty="0"/>
          </a:p>
        </p:txBody>
      </p:sp>
      <p:sp>
        <p:nvSpPr>
          <p:cNvPr id="284" name="Shape 282"/>
          <p:cNvSpPr/>
          <p:nvPr/>
        </p:nvSpPr>
        <p:spPr>
          <a:xfrm>
            <a:off x="1143000" y="5056632"/>
            <a:ext cx="146304" cy="146304"/>
          </a:xfrm>
          <a:prstGeom prst="roundRect">
            <a:avLst>
              <a:gd name="adj" fmla="val 12500"/>
            </a:avLst>
          </a:prstGeom>
          <a:solidFill>
            <a:srgbClr val="A8A8A8"/>
          </a:solidFill>
          <a:ln/>
        </p:spPr>
      </p:sp>
      <p:sp>
        <p:nvSpPr>
          <p:cNvPr id="285" name="Text 283"/>
          <p:cNvSpPr/>
          <p:nvPr/>
        </p:nvSpPr>
        <p:spPr>
          <a:xfrm>
            <a:off x="1417320" y="499262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Cores spare</a:t>
            </a:r>
            <a:endParaRPr lang="en-US" sz="1250" dirty="0"/>
          </a:p>
        </p:txBody>
      </p:sp>
      <p:sp>
        <p:nvSpPr>
          <p:cNvPr id="286" name="Text 284"/>
          <p:cNvSpPr/>
          <p:nvPr/>
        </p:nvSpPr>
        <p:spPr>
          <a:xfrm>
            <a:off x="4937760" y="499262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616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1250" dirty="0"/>
          </a:p>
        </p:txBody>
      </p:sp>
      <p:sp>
        <p:nvSpPr>
          <p:cNvPr id="287" name="Text 285"/>
          <p:cNvSpPr/>
          <p:nvPr/>
        </p:nvSpPr>
        <p:spPr>
          <a:xfrm>
            <a:off x="1143000" y="544068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 acelerador de IA, crypto e compressão integrados em cada chip Telum II</a:t>
            </a:r>
            <a:endParaRPr lang="en-US" sz="1200" dirty="0"/>
          </a:p>
        </p:txBody>
      </p:sp>
      <p:sp>
        <p:nvSpPr>
          <p:cNvPr id="288" name="Text 286"/>
          <p:cNvSpPr/>
          <p:nvPr/>
        </p:nvSpPr>
        <p:spPr>
          <a:xfrm>
            <a:off x="6675120" y="2075688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Servidor x86 típico · </a:t>
            </a:r>
            <a:pPr indent="0" marL="0">
              <a:buNone/>
            </a:pPr>
            <a:r>
              <a:rPr lang="en-US" sz="18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52</a:t>
            </a:r>
            <a:endParaRPr lang="en-US" sz="1800" dirty="0"/>
          </a:p>
        </p:txBody>
      </p:sp>
      <p:sp>
        <p:nvSpPr>
          <p:cNvPr id="289" name="Text 287"/>
          <p:cNvSpPr/>
          <p:nvPr/>
        </p:nvSpPr>
        <p:spPr>
          <a:xfrm>
            <a:off x="6675120" y="2459736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CORES GENÉRICOS PARA TUDO</a:t>
            </a:r>
            <a:endParaRPr lang="en-US" sz="1000" dirty="0"/>
          </a:p>
        </p:txBody>
      </p:sp>
      <p:sp>
        <p:nvSpPr>
          <p:cNvPr id="290" name="Shape 288"/>
          <p:cNvSpPr/>
          <p:nvPr/>
        </p:nvSpPr>
        <p:spPr>
          <a:xfrm>
            <a:off x="66751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91" name="Shape 289"/>
          <p:cNvSpPr/>
          <p:nvPr/>
        </p:nvSpPr>
        <p:spPr>
          <a:xfrm>
            <a:off x="681228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92" name="Shape 290"/>
          <p:cNvSpPr/>
          <p:nvPr/>
        </p:nvSpPr>
        <p:spPr>
          <a:xfrm>
            <a:off x="694944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93" name="Shape 291"/>
          <p:cNvSpPr/>
          <p:nvPr/>
        </p:nvSpPr>
        <p:spPr>
          <a:xfrm>
            <a:off x="70866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94" name="Shape 292"/>
          <p:cNvSpPr/>
          <p:nvPr/>
        </p:nvSpPr>
        <p:spPr>
          <a:xfrm>
            <a:off x="722376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95" name="Shape 293"/>
          <p:cNvSpPr/>
          <p:nvPr/>
        </p:nvSpPr>
        <p:spPr>
          <a:xfrm>
            <a:off x="73609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96" name="Shape 294"/>
          <p:cNvSpPr/>
          <p:nvPr/>
        </p:nvSpPr>
        <p:spPr>
          <a:xfrm>
            <a:off x="749808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97" name="Shape 295"/>
          <p:cNvSpPr/>
          <p:nvPr/>
        </p:nvSpPr>
        <p:spPr>
          <a:xfrm>
            <a:off x="763524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98" name="Shape 296"/>
          <p:cNvSpPr/>
          <p:nvPr/>
        </p:nvSpPr>
        <p:spPr>
          <a:xfrm>
            <a:off x="77724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99" name="Shape 297"/>
          <p:cNvSpPr/>
          <p:nvPr/>
        </p:nvSpPr>
        <p:spPr>
          <a:xfrm>
            <a:off x="790956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00" name="Shape 298"/>
          <p:cNvSpPr/>
          <p:nvPr/>
        </p:nvSpPr>
        <p:spPr>
          <a:xfrm>
            <a:off x="80467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01" name="Shape 299"/>
          <p:cNvSpPr/>
          <p:nvPr/>
        </p:nvSpPr>
        <p:spPr>
          <a:xfrm>
            <a:off x="818388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02" name="Shape 300"/>
          <p:cNvSpPr/>
          <p:nvPr/>
        </p:nvSpPr>
        <p:spPr>
          <a:xfrm>
            <a:off x="832104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03" name="Shape 301"/>
          <p:cNvSpPr/>
          <p:nvPr/>
        </p:nvSpPr>
        <p:spPr>
          <a:xfrm>
            <a:off x="84582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04" name="Shape 302"/>
          <p:cNvSpPr/>
          <p:nvPr/>
        </p:nvSpPr>
        <p:spPr>
          <a:xfrm>
            <a:off x="859536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05" name="Shape 303"/>
          <p:cNvSpPr/>
          <p:nvPr/>
        </p:nvSpPr>
        <p:spPr>
          <a:xfrm>
            <a:off x="87325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06" name="Shape 304"/>
          <p:cNvSpPr/>
          <p:nvPr/>
        </p:nvSpPr>
        <p:spPr>
          <a:xfrm>
            <a:off x="886968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07" name="Shape 305"/>
          <p:cNvSpPr/>
          <p:nvPr/>
        </p:nvSpPr>
        <p:spPr>
          <a:xfrm>
            <a:off x="900684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08" name="Shape 306"/>
          <p:cNvSpPr/>
          <p:nvPr/>
        </p:nvSpPr>
        <p:spPr>
          <a:xfrm>
            <a:off x="91440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09" name="Shape 307"/>
          <p:cNvSpPr/>
          <p:nvPr/>
        </p:nvSpPr>
        <p:spPr>
          <a:xfrm>
            <a:off x="928116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10" name="Shape 308"/>
          <p:cNvSpPr/>
          <p:nvPr/>
        </p:nvSpPr>
        <p:spPr>
          <a:xfrm>
            <a:off x="94183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11" name="Shape 309"/>
          <p:cNvSpPr/>
          <p:nvPr/>
        </p:nvSpPr>
        <p:spPr>
          <a:xfrm>
            <a:off x="955548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12" name="Shape 310"/>
          <p:cNvSpPr/>
          <p:nvPr/>
        </p:nvSpPr>
        <p:spPr>
          <a:xfrm>
            <a:off x="969264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13" name="Shape 311"/>
          <p:cNvSpPr/>
          <p:nvPr/>
        </p:nvSpPr>
        <p:spPr>
          <a:xfrm>
            <a:off x="98298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14" name="Shape 312"/>
          <p:cNvSpPr/>
          <p:nvPr/>
        </p:nvSpPr>
        <p:spPr>
          <a:xfrm>
            <a:off x="996696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15" name="Shape 313"/>
          <p:cNvSpPr/>
          <p:nvPr/>
        </p:nvSpPr>
        <p:spPr>
          <a:xfrm>
            <a:off x="101041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16" name="Shape 314"/>
          <p:cNvSpPr/>
          <p:nvPr/>
        </p:nvSpPr>
        <p:spPr>
          <a:xfrm>
            <a:off x="1024128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17" name="Shape 315"/>
          <p:cNvSpPr/>
          <p:nvPr/>
        </p:nvSpPr>
        <p:spPr>
          <a:xfrm>
            <a:off x="1037844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18" name="Shape 316"/>
          <p:cNvSpPr/>
          <p:nvPr/>
        </p:nvSpPr>
        <p:spPr>
          <a:xfrm>
            <a:off x="105156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19" name="Shape 317"/>
          <p:cNvSpPr/>
          <p:nvPr/>
        </p:nvSpPr>
        <p:spPr>
          <a:xfrm>
            <a:off x="1065276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20" name="Shape 318"/>
          <p:cNvSpPr/>
          <p:nvPr/>
        </p:nvSpPr>
        <p:spPr>
          <a:xfrm>
            <a:off x="107899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21" name="Shape 319"/>
          <p:cNvSpPr/>
          <p:nvPr/>
        </p:nvSpPr>
        <p:spPr>
          <a:xfrm>
            <a:off x="667512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22" name="Shape 320"/>
          <p:cNvSpPr/>
          <p:nvPr/>
        </p:nvSpPr>
        <p:spPr>
          <a:xfrm>
            <a:off x="681228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23" name="Shape 321"/>
          <p:cNvSpPr/>
          <p:nvPr/>
        </p:nvSpPr>
        <p:spPr>
          <a:xfrm>
            <a:off x="694944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24" name="Shape 322"/>
          <p:cNvSpPr/>
          <p:nvPr/>
        </p:nvSpPr>
        <p:spPr>
          <a:xfrm>
            <a:off x="708660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25" name="Shape 323"/>
          <p:cNvSpPr/>
          <p:nvPr/>
        </p:nvSpPr>
        <p:spPr>
          <a:xfrm>
            <a:off x="722376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26" name="Shape 324"/>
          <p:cNvSpPr/>
          <p:nvPr/>
        </p:nvSpPr>
        <p:spPr>
          <a:xfrm>
            <a:off x="736092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27" name="Shape 325"/>
          <p:cNvSpPr/>
          <p:nvPr/>
        </p:nvSpPr>
        <p:spPr>
          <a:xfrm>
            <a:off x="749808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28" name="Shape 326"/>
          <p:cNvSpPr/>
          <p:nvPr/>
        </p:nvSpPr>
        <p:spPr>
          <a:xfrm>
            <a:off x="763524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29" name="Shape 327"/>
          <p:cNvSpPr/>
          <p:nvPr/>
        </p:nvSpPr>
        <p:spPr>
          <a:xfrm>
            <a:off x="777240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30" name="Shape 328"/>
          <p:cNvSpPr/>
          <p:nvPr/>
        </p:nvSpPr>
        <p:spPr>
          <a:xfrm>
            <a:off x="790956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31" name="Shape 329"/>
          <p:cNvSpPr/>
          <p:nvPr/>
        </p:nvSpPr>
        <p:spPr>
          <a:xfrm>
            <a:off x="804672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32" name="Shape 330"/>
          <p:cNvSpPr/>
          <p:nvPr/>
        </p:nvSpPr>
        <p:spPr>
          <a:xfrm>
            <a:off x="818388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33" name="Shape 331"/>
          <p:cNvSpPr/>
          <p:nvPr/>
        </p:nvSpPr>
        <p:spPr>
          <a:xfrm>
            <a:off x="832104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34" name="Shape 332"/>
          <p:cNvSpPr/>
          <p:nvPr/>
        </p:nvSpPr>
        <p:spPr>
          <a:xfrm>
            <a:off x="845820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35" name="Shape 333"/>
          <p:cNvSpPr/>
          <p:nvPr/>
        </p:nvSpPr>
        <p:spPr>
          <a:xfrm>
            <a:off x="859536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36" name="Shape 334"/>
          <p:cNvSpPr/>
          <p:nvPr/>
        </p:nvSpPr>
        <p:spPr>
          <a:xfrm>
            <a:off x="873252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37" name="Shape 335"/>
          <p:cNvSpPr/>
          <p:nvPr/>
        </p:nvSpPr>
        <p:spPr>
          <a:xfrm>
            <a:off x="886968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38" name="Shape 336"/>
          <p:cNvSpPr/>
          <p:nvPr/>
        </p:nvSpPr>
        <p:spPr>
          <a:xfrm>
            <a:off x="900684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A8A8A8"/>
          </a:solidFill>
          <a:ln/>
        </p:spPr>
      </p:sp>
      <p:sp>
        <p:nvSpPr>
          <p:cNvPr id="339" name="Shape 337"/>
          <p:cNvSpPr/>
          <p:nvPr/>
        </p:nvSpPr>
        <p:spPr>
          <a:xfrm>
            <a:off x="914400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A8A8A8"/>
          </a:solidFill>
          <a:ln/>
        </p:spPr>
      </p:sp>
      <p:sp>
        <p:nvSpPr>
          <p:cNvPr id="340" name="Shape 338"/>
          <p:cNvSpPr/>
          <p:nvPr/>
        </p:nvSpPr>
        <p:spPr>
          <a:xfrm>
            <a:off x="928116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A8A8A8"/>
          </a:solidFill>
          <a:ln/>
        </p:spPr>
      </p:sp>
      <p:sp>
        <p:nvSpPr>
          <p:cNvPr id="341" name="Shape 339"/>
          <p:cNvSpPr/>
          <p:nvPr/>
        </p:nvSpPr>
        <p:spPr>
          <a:xfrm>
            <a:off x="941832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A8A8A8"/>
          </a:solidFill>
          <a:ln/>
        </p:spPr>
      </p:sp>
      <p:sp>
        <p:nvSpPr>
          <p:cNvPr id="342" name="Shape 340"/>
          <p:cNvSpPr/>
          <p:nvPr/>
        </p:nvSpPr>
        <p:spPr>
          <a:xfrm>
            <a:off x="6675120" y="4233672"/>
            <a:ext cx="146304" cy="146304"/>
          </a:xfrm>
          <a:prstGeom prst="roundRect">
            <a:avLst>
              <a:gd name="adj" fmla="val 12500"/>
            </a:avLst>
          </a:prstGeom>
          <a:solidFill>
            <a:srgbClr val="0F62FE"/>
          </a:solidFill>
          <a:ln/>
        </p:spPr>
      </p:sp>
      <p:sp>
        <p:nvSpPr>
          <p:cNvPr id="343" name="Text 341"/>
          <p:cNvSpPr/>
          <p:nvPr/>
        </p:nvSpPr>
        <p:spPr>
          <a:xfrm>
            <a:off x="6949440" y="416966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Cores genéricos (negócio + I/O)</a:t>
            </a:r>
            <a:endParaRPr lang="en-US" sz="1250" dirty="0"/>
          </a:p>
        </p:txBody>
      </p:sp>
      <p:sp>
        <p:nvSpPr>
          <p:cNvPr id="344" name="Text 342"/>
          <p:cNvSpPr/>
          <p:nvPr/>
        </p:nvSpPr>
        <p:spPr>
          <a:xfrm>
            <a:off x="10469880" y="416966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616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48</a:t>
            </a:r>
            <a:endParaRPr lang="en-US" sz="1250" dirty="0"/>
          </a:p>
        </p:txBody>
      </p:sp>
      <p:sp>
        <p:nvSpPr>
          <p:cNvPr id="345" name="Shape 343"/>
          <p:cNvSpPr/>
          <p:nvPr/>
        </p:nvSpPr>
        <p:spPr>
          <a:xfrm>
            <a:off x="6675120" y="4507992"/>
            <a:ext cx="146304" cy="146304"/>
          </a:xfrm>
          <a:prstGeom prst="roundRect">
            <a:avLst>
              <a:gd name="adj" fmla="val 12500"/>
            </a:avLst>
          </a:prstGeom>
          <a:solidFill>
            <a:srgbClr val="A8A8A8"/>
          </a:solidFill>
          <a:ln/>
        </p:spPr>
      </p:sp>
      <p:sp>
        <p:nvSpPr>
          <p:cNvPr id="346" name="Text 344"/>
          <p:cNvSpPr/>
          <p:nvPr/>
        </p:nvSpPr>
        <p:spPr>
          <a:xfrm>
            <a:off x="6949440" y="444398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I/O channel processors</a:t>
            </a:r>
            <a:endParaRPr lang="en-US" sz="1250" dirty="0"/>
          </a:p>
        </p:txBody>
      </p:sp>
      <p:sp>
        <p:nvSpPr>
          <p:cNvPr id="347" name="Text 345"/>
          <p:cNvSpPr/>
          <p:nvPr/>
        </p:nvSpPr>
        <p:spPr>
          <a:xfrm>
            <a:off x="10469880" y="444398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616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1250" dirty="0"/>
          </a:p>
        </p:txBody>
      </p:sp>
      <p:sp>
        <p:nvSpPr>
          <p:cNvPr id="348" name="Text 346"/>
          <p:cNvSpPr/>
          <p:nvPr/>
        </p:nvSpPr>
        <p:spPr>
          <a:xfrm>
            <a:off x="6675120" y="544068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DA1E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cores dedicados a I/O · </a:t>
            </a:r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DA1E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IA · </a:t>
            </a:r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DA1E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crypto/compressão on-chip</a:t>
            </a:r>
            <a:endParaRPr lang="en-US" sz="1200" dirty="0"/>
          </a:p>
        </p:txBody>
      </p:sp>
      <p:sp>
        <p:nvSpPr>
          <p:cNvPr id="349" name="Text 347"/>
          <p:cNvSpPr/>
          <p:nvPr/>
        </p:nvSpPr>
        <p:spPr>
          <a:xfrm>
            <a:off x="822960" y="62179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UM SISTEMA LINUXONE CONSOLIDA O EQUIVALENTE A ~40 SERVIDORES X86 DE 48 CORES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HIERARQUIA DE CACHE VS X86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430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Cache </a:t>
            </a:r>
            <a:pPr indent="0" marL="0">
              <a:buNone/>
            </a:pPr>
            <a:r>
              <a:rPr lang="en-US" sz="32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perto </a:t>
            </a:r>
            <a:pPr indent="0" marL="0">
              <a:buNone/>
            </a:pPr>
            <a:r>
              <a:rPr lang="en-US" sz="32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do core muda tudo</a:t>
            </a:r>
            <a:endParaRPr lang="en-US" sz="32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31720"/>
          <a:ext cx="1051560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3566160"/>
                <a:gridCol w="356616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25252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Métrica</a:t>
                      </a:r>
                      <a:endParaRPr lang="en-US" sz="12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62FE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IBM LinuxONE 5</a:t>
                      </a:r>
                      <a:endParaRPr lang="en-US" sz="12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25252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AMD EPYC 9J25 (Exadata 11M)</a:t>
                      </a:r>
                      <a:endParaRPr lang="en-US" sz="12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252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Clock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0F62FE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5,5 GHz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252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2,95 GHz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252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Cores por chip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0F62FE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8  (208 máx)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252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96  (192 máx)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252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L1 por core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0F62FE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128 + 128 KB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252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32 + 32 KB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252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L2 por core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0F62FE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36 MB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252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 MB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252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L3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62FE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324 MB (no chip)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252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384 MB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252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L4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0F62FE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2,52 GB (entre drawers)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252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—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22960" y="62179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2× MAIS CACHE L1/L2 E 5× MAIS CACHE MID-LEVEL QUE O X86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RESILIÊNCIA DO CORE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09728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 core falha. Outro </a:t>
            </a:r>
            <a:pPr indent="0" marL="0">
              <a:buNone/>
            </a:pPr>
            <a:r>
              <a:rPr lang="en-US" sz="32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assume. </a:t>
            </a:r>
            <a:pPr indent="0" marL="0">
              <a:buNone/>
            </a:pPr>
            <a:r>
              <a:rPr lang="en-US" sz="32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Sem parar.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2377440" y="2743200"/>
            <a:ext cx="7406640" cy="0"/>
          </a:xfrm>
          <a:prstGeom prst="line">
            <a:avLst/>
          </a:prstGeom>
          <a:noFill/>
          <a:ln w="25400">
            <a:solidFill>
              <a:srgbClr val="0F62FE"/>
            </a:solidFill>
            <a:prstDash val="solid"/>
            <a:tailEnd type="triangle"/>
          </a:ln>
        </p:spPr>
      </p:sp>
      <p:sp>
        <p:nvSpPr>
          <p:cNvPr id="6" name="Text 4"/>
          <p:cNvSpPr/>
          <p:nvPr/>
        </p:nvSpPr>
        <p:spPr>
          <a:xfrm>
            <a:off x="2377440" y="233172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workload migra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783080" y="320040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FBE9EA"/>
          </a:solidFill>
          <a:ln w="25400">
            <a:solidFill>
              <a:srgbClr val="DA1E2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783080" y="336499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CORE 01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783080" y="376732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A1E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✕ FALHA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64408" y="320040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F4F4F4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64408" y="336499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CORE 02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45736" y="320040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F4F4F4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45736" y="336499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CORE 03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27064" y="320040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F4F4F4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27064" y="336499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CORE 04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708392" y="320040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F4F4F4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08392" y="336499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CORE 05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189720" y="320040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EDF4FF"/>
          </a:solidFill>
          <a:ln w="25400">
            <a:solidFill>
              <a:srgbClr val="0F62F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89720" y="336499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SPARE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189720" y="376732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● ATIVO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22960" y="51206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 core spare assume automaticamente — </a:t>
            </a:r>
            <a:pPr algn="ctr"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failover transparente, zero interrupção</a:t>
            </a:r>
            <a:pPr algn="ctr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. O spare não precisa estar no mesmo chip ou drawer.</a:t>
            </a:r>
            <a:endParaRPr lang="en-US" sz="1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MEMÓRIA · RAIM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09728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 canal de memória falha. O dado </a:t>
            </a:r>
            <a:pPr indent="0" marL="0">
              <a:buNone/>
            </a:pPr>
            <a:r>
              <a:rPr lang="en-US" sz="32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sobrevive.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3140964" y="2606040"/>
            <a:ext cx="868680" cy="2194560"/>
          </a:xfrm>
          <a:prstGeom prst="roundRect">
            <a:avLst>
              <a:gd name="adj" fmla="val 5263"/>
            </a:avLst>
          </a:prstGeom>
          <a:solidFill>
            <a:srgbClr val="F4F4F4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59836" y="4425696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7" name="Shape 5"/>
          <p:cNvSpPr/>
          <p:nvPr/>
        </p:nvSpPr>
        <p:spPr>
          <a:xfrm>
            <a:off x="3259836" y="4078224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8" name="Shape 6"/>
          <p:cNvSpPr/>
          <p:nvPr/>
        </p:nvSpPr>
        <p:spPr>
          <a:xfrm>
            <a:off x="3259836" y="3730752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9" name="Shape 7"/>
          <p:cNvSpPr/>
          <p:nvPr/>
        </p:nvSpPr>
        <p:spPr>
          <a:xfrm>
            <a:off x="3259836" y="3383280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10" name="Shape 8"/>
          <p:cNvSpPr/>
          <p:nvPr/>
        </p:nvSpPr>
        <p:spPr>
          <a:xfrm>
            <a:off x="3259836" y="3035808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11" name="Text 9"/>
          <p:cNvSpPr/>
          <p:nvPr/>
        </p:nvSpPr>
        <p:spPr>
          <a:xfrm>
            <a:off x="3140964" y="3429000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049524" y="491032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CANAL 1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393692" y="2606040"/>
            <a:ext cx="868680" cy="2194560"/>
          </a:xfrm>
          <a:prstGeom prst="roundRect">
            <a:avLst>
              <a:gd name="adj" fmla="val 5263"/>
            </a:avLst>
          </a:prstGeom>
          <a:solidFill>
            <a:srgbClr val="F4F4F4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12564" y="4425696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15" name="Shape 13"/>
          <p:cNvSpPr/>
          <p:nvPr/>
        </p:nvSpPr>
        <p:spPr>
          <a:xfrm>
            <a:off x="4512564" y="4078224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16" name="Shape 14"/>
          <p:cNvSpPr/>
          <p:nvPr/>
        </p:nvSpPr>
        <p:spPr>
          <a:xfrm>
            <a:off x="4512564" y="3730752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17" name="Shape 15"/>
          <p:cNvSpPr/>
          <p:nvPr/>
        </p:nvSpPr>
        <p:spPr>
          <a:xfrm>
            <a:off x="4512564" y="3383280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18" name="Shape 16"/>
          <p:cNvSpPr/>
          <p:nvPr/>
        </p:nvSpPr>
        <p:spPr>
          <a:xfrm>
            <a:off x="4512564" y="3035808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19" name="Text 17"/>
          <p:cNvSpPr/>
          <p:nvPr/>
        </p:nvSpPr>
        <p:spPr>
          <a:xfrm>
            <a:off x="4393692" y="3429000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4302252" y="491032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CANAL 2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46420" y="2606040"/>
            <a:ext cx="868680" cy="2194560"/>
          </a:xfrm>
          <a:prstGeom prst="roundRect">
            <a:avLst>
              <a:gd name="adj" fmla="val 5263"/>
            </a:avLst>
          </a:prstGeom>
          <a:solidFill>
            <a:srgbClr val="F4F4F4"/>
          </a:solidFill>
          <a:ln w="25400">
            <a:solidFill>
              <a:srgbClr val="DA1E2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765292" y="4425696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F1B0B4"/>
          </a:solidFill>
          <a:ln/>
        </p:spPr>
      </p:sp>
      <p:sp>
        <p:nvSpPr>
          <p:cNvPr id="23" name="Shape 21"/>
          <p:cNvSpPr/>
          <p:nvPr/>
        </p:nvSpPr>
        <p:spPr>
          <a:xfrm>
            <a:off x="5765292" y="4078224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F1B0B4"/>
          </a:solidFill>
          <a:ln/>
        </p:spPr>
      </p:sp>
      <p:sp>
        <p:nvSpPr>
          <p:cNvPr id="24" name="Shape 22"/>
          <p:cNvSpPr/>
          <p:nvPr/>
        </p:nvSpPr>
        <p:spPr>
          <a:xfrm>
            <a:off x="5765292" y="3730752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F1B0B4"/>
          </a:solidFill>
          <a:ln/>
        </p:spPr>
      </p:sp>
      <p:sp>
        <p:nvSpPr>
          <p:cNvPr id="25" name="Shape 23"/>
          <p:cNvSpPr/>
          <p:nvPr/>
        </p:nvSpPr>
        <p:spPr>
          <a:xfrm>
            <a:off x="5765292" y="3383280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F1B0B4"/>
          </a:solidFill>
          <a:ln/>
        </p:spPr>
      </p:sp>
      <p:sp>
        <p:nvSpPr>
          <p:cNvPr id="26" name="Shape 24"/>
          <p:cNvSpPr/>
          <p:nvPr/>
        </p:nvSpPr>
        <p:spPr>
          <a:xfrm>
            <a:off x="5765292" y="3035808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F1B0B4"/>
          </a:solidFill>
          <a:ln/>
        </p:spPr>
      </p:sp>
      <p:sp>
        <p:nvSpPr>
          <p:cNvPr id="27" name="Text 25"/>
          <p:cNvSpPr/>
          <p:nvPr/>
        </p:nvSpPr>
        <p:spPr>
          <a:xfrm>
            <a:off x="5646420" y="3429000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A1E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✕</a:t>
            </a:r>
            <a:endParaRPr lang="en-US" sz="3000" dirty="0"/>
          </a:p>
        </p:txBody>
      </p:sp>
      <p:sp>
        <p:nvSpPr>
          <p:cNvPr id="28" name="Text 26"/>
          <p:cNvSpPr/>
          <p:nvPr/>
        </p:nvSpPr>
        <p:spPr>
          <a:xfrm>
            <a:off x="5554980" y="491032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CANAL 3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899148" y="2606040"/>
            <a:ext cx="868680" cy="2194560"/>
          </a:xfrm>
          <a:prstGeom prst="roundRect">
            <a:avLst>
              <a:gd name="adj" fmla="val 5263"/>
            </a:avLst>
          </a:prstGeom>
          <a:solidFill>
            <a:srgbClr val="F4F4F4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018020" y="4425696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31" name="Shape 29"/>
          <p:cNvSpPr/>
          <p:nvPr/>
        </p:nvSpPr>
        <p:spPr>
          <a:xfrm>
            <a:off x="7018020" y="4078224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32" name="Shape 30"/>
          <p:cNvSpPr/>
          <p:nvPr/>
        </p:nvSpPr>
        <p:spPr>
          <a:xfrm>
            <a:off x="7018020" y="3730752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33" name="Shape 31"/>
          <p:cNvSpPr/>
          <p:nvPr/>
        </p:nvSpPr>
        <p:spPr>
          <a:xfrm>
            <a:off x="7018020" y="3383280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34" name="Shape 32"/>
          <p:cNvSpPr/>
          <p:nvPr/>
        </p:nvSpPr>
        <p:spPr>
          <a:xfrm>
            <a:off x="7018020" y="3035808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35" name="Text 33"/>
          <p:cNvSpPr/>
          <p:nvPr/>
        </p:nvSpPr>
        <p:spPr>
          <a:xfrm>
            <a:off x="6899148" y="3429000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36" name="Text 34"/>
          <p:cNvSpPr/>
          <p:nvPr/>
        </p:nvSpPr>
        <p:spPr>
          <a:xfrm>
            <a:off x="6807708" y="491032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CANAL 4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8151876" y="2606040"/>
            <a:ext cx="868680" cy="2194560"/>
          </a:xfrm>
          <a:prstGeom prst="roundRect">
            <a:avLst>
              <a:gd name="adj" fmla="val 5263"/>
            </a:avLst>
          </a:prstGeom>
          <a:solidFill>
            <a:srgbClr val="F4F4F4"/>
          </a:solidFill>
          <a:ln w="25400">
            <a:solidFill>
              <a:srgbClr val="0F62F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270748" y="4425696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39" name="Shape 37"/>
          <p:cNvSpPr/>
          <p:nvPr/>
        </p:nvSpPr>
        <p:spPr>
          <a:xfrm>
            <a:off x="8270748" y="4078224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40" name="Shape 38"/>
          <p:cNvSpPr/>
          <p:nvPr/>
        </p:nvSpPr>
        <p:spPr>
          <a:xfrm>
            <a:off x="8270748" y="3730752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41" name="Shape 39"/>
          <p:cNvSpPr/>
          <p:nvPr/>
        </p:nvSpPr>
        <p:spPr>
          <a:xfrm>
            <a:off x="8270748" y="3383280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42" name="Shape 40"/>
          <p:cNvSpPr/>
          <p:nvPr/>
        </p:nvSpPr>
        <p:spPr>
          <a:xfrm>
            <a:off x="8270748" y="3035808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43" name="Text 41"/>
          <p:cNvSpPr/>
          <p:nvPr/>
        </p:nvSpPr>
        <p:spPr>
          <a:xfrm>
            <a:off x="8151876" y="3429000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44" name="Text 42"/>
          <p:cNvSpPr/>
          <p:nvPr/>
        </p:nvSpPr>
        <p:spPr>
          <a:xfrm>
            <a:off x="8060436" y="491032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PARIDADE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822960" y="56692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Canal perdido é </a:t>
            </a:r>
            <a:pPr algn="ctr"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reconstruído pela redundância</a:t>
            </a:r>
            <a:pPr algn="ctr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— </a:t>
            </a:r>
            <a:pPr algn="ctr"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24A14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zero perda de dado</a:t>
            </a:r>
            <a:pPr algn="ctr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, sem penalidade de performance.</a:t>
            </a:r>
            <a:endParaRPr lang="en-US" sz="1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CONFIDENTIAL COMPUTING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 Execution: dado protegido </a:t>
            </a:r>
            <a:pPr indent="0" marL="0">
              <a:buNone/>
            </a:pPr>
            <a:r>
              <a:rPr lang="en-US" sz="3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em uso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269748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6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 ambiente de execução confiável (TEE) baseado em hardware. O firmware Ultravisor isola cada guest KVM do hypervisor e dos demais — a memória e o workload da VM ficam protegidos até da camada de firmware.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6400800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178040" y="269748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Ultravisor: proteção de memória e estado dos guests seguros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0" y="37490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178040" y="374904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Image attestation: integridade verificada antes da execução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0" y="4800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78040" y="480060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 Boot: só inicializa imagens confiáveis e verificadas</a:t>
            </a:r>
            <a:endParaRPr lang="en-US" sz="16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PRÓXIMOS PASSOS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55448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4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Vamos dimensionar o caso do </a:t>
            </a:r>
            <a:pPr indent="0" marL="0">
              <a:lnSpc>
                <a:spcPct val="104000"/>
              </a:lnSpc>
              <a:buNone/>
            </a:pPr>
            <a:r>
              <a:rPr lang="en-US" sz="4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Banrisul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22960" y="356616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Uma avaliação de IT Economics (TCO) sobre as cargas reais do banco — Oracle, Kafka/Pix, containers — comparando o cenário atual com o LinuxONE em 5 anos.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22960" y="4800600"/>
            <a:ext cx="3291840" cy="566928"/>
          </a:xfrm>
          <a:prstGeom prst="roundRect">
            <a:avLst>
              <a:gd name="adj" fmla="val 50000"/>
            </a:avLst>
          </a:prstGeom>
          <a:solidFill>
            <a:srgbClr val="0F62FE">
              <a:alpha val="16000"/>
            </a:srgbClr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480060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616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● Agendar workshop de TCO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62179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HULK — MARCOS GOIS · HULK@IBM.COM · © 2026 IBM CORPORATION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IBM LinuxONE - Banrisul 2026</dc:title>
  <dc:subject>PptxGenJS Presentation</dc:subject>
  <dc:creator>Hulk - Marcos Gois</dc:creator>
  <cp:lastModifiedBy>Hulk - Marcos Gois</cp:lastModifiedBy>
  <cp:revision>1</cp:revision>
  <dcterms:created xsi:type="dcterms:W3CDTF">2026-06-21T23:16:30Z</dcterms:created>
  <dcterms:modified xsi:type="dcterms:W3CDTF">2026-06-21T23:16:30Z</dcterms:modified>
</cp:coreProperties>
</file>